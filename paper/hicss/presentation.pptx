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A1A1A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A1A1A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5299" y="285748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20"/>
                </a:moveTo>
                <a:lnTo>
                  <a:pt x="33047" y="200020"/>
                </a:lnTo>
                <a:lnTo>
                  <a:pt x="28187" y="199052"/>
                </a:lnTo>
                <a:lnTo>
                  <a:pt x="966" y="171835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7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84"/>
                </a:lnTo>
                <a:lnTo>
                  <a:pt x="600074" y="33044"/>
                </a:lnTo>
                <a:lnTo>
                  <a:pt x="600074" y="166976"/>
                </a:lnTo>
                <a:lnTo>
                  <a:pt x="571887" y="199052"/>
                </a:lnTo>
                <a:lnTo>
                  <a:pt x="567027" y="200020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A1A1A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5299" y="285748"/>
            <a:ext cx="885825" cy="200025"/>
          </a:xfrm>
          <a:custGeom>
            <a:avLst/>
            <a:gdLst/>
            <a:ahLst/>
            <a:cxnLst/>
            <a:rect l="l" t="t" r="r" b="b"/>
            <a:pathLst>
              <a:path w="885825" h="200025">
                <a:moveTo>
                  <a:pt x="852777" y="200020"/>
                </a:moveTo>
                <a:lnTo>
                  <a:pt x="33047" y="200020"/>
                </a:lnTo>
                <a:lnTo>
                  <a:pt x="28187" y="199052"/>
                </a:lnTo>
                <a:lnTo>
                  <a:pt x="966" y="171835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7"/>
                </a:lnTo>
                <a:lnTo>
                  <a:pt x="33047" y="0"/>
                </a:lnTo>
                <a:lnTo>
                  <a:pt x="852777" y="0"/>
                </a:lnTo>
                <a:lnTo>
                  <a:pt x="884858" y="28184"/>
                </a:lnTo>
                <a:lnTo>
                  <a:pt x="885824" y="33044"/>
                </a:lnTo>
                <a:lnTo>
                  <a:pt x="885824" y="166976"/>
                </a:lnTo>
                <a:lnTo>
                  <a:pt x="857637" y="199052"/>
                </a:lnTo>
                <a:lnTo>
                  <a:pt x="852777" y="200020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A1A1A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2600" y="534263"/>
            <a:ext cx="4736465" cy="340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A1A1A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86566" y="6591172"/>
            <a:ext cx="389890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77777"/>
                </a:solidFill>
                <a:latin typeface="Eras Medium ITC"/>
                <a:cs typeface="Eras Medium ITC"/>
              </a:defRPr>
            </a:lvl1pPr>
          </a:lstStyle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#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61999" y="3895724"/>
            <a:ext cx="304800" cy="28575"/>
          </a:xfrm>
          <a:custGeom>
            <a:avLst/>
            <a:gdLst/>
            <a:ahLst/>
            <a:cxnLst/>
            <a:rect l="l" t="t" r="r" b="b"/>
            <a:pathLst>
              <a:path w="304800" h="28575">
                <a:moveTo>
                  <a:pt x="292407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1"/>
                </a:lnTo>
                <a:lnTo>
                  <a:pt x="0" y="14287"/>
                </a:lnTo>
                <a:lnTo>
                  <a:pt x="0" y="12392"/>
                </a:lnTo>
                <a:lnTo>
                  <a:pt x="12392" y="0"/>
                </a:lnTo>
                <a:lnTo>
                  <a:pt x="292407" y="0"/>
                </a:lnTo>
                <a:lnTo>
                  <a:pt x="304799" y="12392"/>
                </a:lnTo>
                <a:lnTo>
                  <a:pt x="304799" y="16181"/>
                </a:lnTo>
                <a:lnTo>
                  <a:pt x="294229" y="28212"/>
                </a:lnTo>
                <a:lnTo>
                  <a:pt x="292407" y="28574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61999" y="2190749"/>
            <a:ext cx="1028700" cy="200025"/>
          </a:xfrm>
          <a:custGeom>
            <a:avLst/>
            <a:gdLst/>
            <a:ahLst/>
            <a:cxnLst/>
            <a:rect l="l" t="t" r="r" b="b"/>
            <a:pathLst>
              <a:path w="1028700" h="200025">
                <a:moveTo>
                  <a:pt x="995652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6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995652" y="0"/>
                </a:lnTo>
                <a:lnTo>
                  <a:pt x="1027733" y="28187"/>
                </a:lnTo>
                <a:lnTo>
                  <a:pt x="1028699" y="33047"/>
                </a:lnTo>
                <a:lnTo>
                  <a:pt x="1028699" y="166977"/>
                </a:lnTo>
                <a:lnTo>
                  <a:pt x="1000512" y="199057"/>
                </a:lnTo>
                <a:lnTo>
                  <a:pt x="995652" y="200024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44550" y="2211482"/>
            <a:ext cx="855344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0" b="1">
                <a:solidFill>
                  <a:srgbClr val="FFFFFF"/>
                </a:solidFill>
                <a:latin typeface="Noto Sans KR"/>
                <a:cs typeface="Noto Sans KR"/>
              </a:rPr>
              <a:t>HICSS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60</a:t>
            </a:r>
            <a:r>
              <a:rPr dirty="0" sz="850" spc="7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8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FFFFFF"/>
                </a:solidFill>
                <a:latin typeface="Noto Sans KR"/>
                <a:cs typeface="Noto Sans KR"/>
              </a:rPr>
              <a:t>2027</a:t>
            </a:r>
            <a:endParaRPr sz="850">
              <a:latin typeface="Noto Sans KR"/>
              <a:cs typeface="Noto Sans KR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9299" y="2450274"/>
            <a:ext cx="7397750" cy="1303020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340"/>
              </a:spcBef>
            </a:pPr>
            <a:r>
              <a:rPr dirty="0" sz="2850" spc="-175" b="1">
                <a:latin typeface="Noto Sans KR Black"/>
                <a:cs typeface="Noto Sans KR Black"/>
              </a:rPr>
              <a:t>LLM-</a:t>
            </a:r>
            <a:r>
              <a:rPr dirty="0" sz="2850" spc="-180" b="1">
                <a:latin typeface="Noto Sans KR Black"/>
                <a:cs typeface="Noto Sans KR Black"/>
              </a:rPr>
              <a:t>Governed</a:t>
            </a:r>
            <a:r>
              <a:rPr dirty="0" sz="2850" spc="80" b="1">
                <a:latin typeface="Noto Sans KR Black"/>
                <a:cs typeface="Noto Sans KR Black"/>
              </a:rPr>
              <a:t> </a:t>
            </a:r>
            <a:r>
              <a:rPr dirty="0" sz="2850" spc="-175" b="1">
                <a:latin typeface="Noto Sans KR Black"/>
                <a:cs typeface="Noto Sans KR Black"/>
              </a:rPr>
              <a:t>Deep</a:t>
            </a:r>
            <a:r>
              <a:rPr dirty="0" sz="2850" spc="80" b="1">
                <a:latin typeface="Noto Sans KR Black"/>
                <a:cs typeface="Noto Sans KR Black"/>
              </a:rPr>
              <a:t> </a:t>
            </a:r>
            <a:r>
              <a:rPr dirty="0" sz="2850" spc="-180" b="1">
                <a:latin typeface="Noto Sans KR Black"/>
                <a:cs typeface="Noto Sans KR Black"/>
              </a:rPr>
              <a:t>Reinforcement</a:t>
            </a:r>
            <a:r>
              <a:rPr dirty="0" sz="2850" spc="80" b="1">
                <a:latin typeface="Noto Sans KR Black"/>
                <a:cs typeface="Noto Sans KR Black"/>
              </a:rPr>
              <a:t> </a:t>
            </a:r>
            <a:r>
              <a:rPr dirty="0" sz="2850" spc="-20" b="1">
                <a:latin typeface="Noto Sans KR Black"/>
                <a:cs typeface="Noto Sans KR Black"/>
              </a:rPr>
              <a:t>Learning</a:t>
            </a:r>
            <a:r>
              <a:rPr dirty="0" sz="2850" spc="710" b="1">
                <a:latin typeface="Noto Sans KR Black"/>
                <a:cs typeface="Noto Sans KR Black"/>
              </a:rPr>
              <a:t>    </a:t>
            </a:r>
            <a:r>
              <a:rPr dirty="0" sz="2850" spc="-110" b="1">
                <a:solidFill>
                  <a:srgbClr val="DF592A"/>
                </a:solidFill>
                <a:latin typeface="Noto Sans KR Black"/>
                <a:cs typeface="Noto Sans KR Black"/>
              </a:rPr>
              <a:t>for</a:t>
            </a:r>
            <a:r>
              <a:rPr dirty="0" sz="2850" spc="15" b="1">
                <a:solidFill>
                  <a:srgbClr val="DF592A"/>
                </a:solidFill>
                <a:latin typeface="Noto Sans KR Black"/>
                <a:cs typeface="Noto Sans KR Black"/>
              </a:rPr>
              <a:t> </a:t>
            </a:r>
            <a:r>
              <a:rPr dirty="0" sz="2850" spc="-170" b="1">
                <a:solidFill>
                  <a:srgbClr val="DF592A"/>
                </a:solidFill>
                <a:latin typeface="Noto Sans KR Black"/>
                <a:cs typeface="Noto Sans KR Black"/>
              </a:rPr>
              <a:t>Dependable</a:t>
            </a:r>
            <a:r>
              <a:rPr dirty="0" sz="2850" spc="15" b="1">
                <a:solidFill>
                  <a:srgbClr val="DF592A"/>
                </a:solidFill>
                <a:latin typeface="Noto Sans KR Black"/>
                <a:cs typeface="Noto Sans KR Black"/>
              </a:rPr>
              <a:t> </a:t>
            </a:r>
            <a:r>
              <a:rPr dirty="0" sz="2850" spc="-50" b="1">
                <a:solidFill>
                  <a:srgbClr val="DF592A"/>
                </a:solidFill>
                <a:latin typeface="Noto Sans KR Black"/>
                <a:cs typeface="Noto Sans KR Black"/>
              </a:rPr>
              <a:t>Scheduling</a:t>
            </a:r>
            <a:endParaRPr sz="2850">
              <a:latin typeface="Noto Sans KR Black"/>
              <a:cs typeface="Noto Sans KR Black"/>
            </a:endParaRPr>
          </a:p>
          <a:p>
            <a:pPr marL="12700">
              <a:lnSpc>
                <a:spcPts val="3210"/>
              </a:lnSpc>
            </a:pPr>
            <a:r>
              <a:rPr dirty="0" sz="2850" spc="-50" b="1">
                <a:latin typeface="Noto Sans KR Black"/>
                <a:cs typeface="Noto Sans KR Black"/>
              </a:rPr>
              <a:t>in</a:t>
            </a:r>
            <a:r>
              <a:rPr dirty="0" sz="2850" spc="-5" b="1">
                <a:latin typeface="Noto Sans KR Black"/>
                <a:cs typeface="Noto Sans KR Black"/>
              </a:rPr>
              <a:t> </a:t>
            </a:r>
            <a:r>
              <a:rPr dirty="0" sz="2850" spc="-165" b="1">
                <a:latin typeface="Noto Sans KR Black"/>
                <a:cs typeface="Noto Sans KR Black"/>
              </a:rPr>
              <a:t>Nondeterministic</a:t>
            </a:r>
            <a:r>
              <a:rPr dirty="0" sz="2850" spc="10" b="1">
                <a:latin typeface="Noto Sans KR Black"/>
                <a:cs typeface="Noto Sans KR Black"/>
              </a:rPr>
              <a:t> </a:t>
            </a:r>
            <a:r>
              <a:rPr dirty="0" sz="2850" spc="-130" b="1">
                <a:latin typeface="Noto Sans KR Black"/>
                <a:cs typeface="Noto Sans KR Black"/>
              </a:rPr>
              <a:t>Digital</a:t>
            </a:r>
            <a:r>
              <a:rPr dirty="0" sz="2850" b="1">
                <a:latin typeface="Noto Sans KR Black"/>
                <a:cs typeface="Noto Sans KR Black"/>
              </a:rPr>
              <a:t> </a:t>
            </a:r>
            <a:r>
              <a:rPr dirty="0" sz="2850" spc="-10" b="1">
                <a:latin typeface="Noto Sans KR Black"/>
                <a:cs typeface="Noto Sans KR Black"/>
              </a:rPr>
              <a:t>Twins</a:t>
            </a:r>
            <a:endParaRPr sz="2850">
              <a:latin typeface="Noto Sans KR Black"/>
              <a:cs typeface="Noto Sans KR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9299" y="4037139"/>
            <a:ext cx="526605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90">
                <a:solidFill>
                  <a:srgbClr val="777777"/>
                </a:solidFill>
                <a:latin typeface="휴먼아미체"/>
                <a:cs typeface="휴먼아미체"/>
              </a:rPr>
              <a:t>반도체</a:t>
            </a:r>
            <a:r>
              <a:rPr dirty="0" sz="1150" spc="-18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10">
                <a:solidFill>
                  <a:srgbClr val="777777"/>
                </a:solidFill>
                <a:latin typeface="휴먼아미체"/>
                <a:cs typeface="휴먼아미체"/>
              </a:rPr>
              <a:t>제조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777777"/>
                </a:solidFill>
                <a:latin typeface="휴먼아미체"/>
                <a:cs typeface="휴먼아미체"/>
              </a:rPr>
              <a:t>디지털</a:t>
            </a:r>
            <a:r>
              <a:rPr dirty="0" sz="1150" spc="-18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777777"/>
                </a:solidFill>
                <a:latin typeface="휴먼아미체"/>
                <a:cs typeface="휴먼아미체"/>
              </a:rPr>
              <a:t>트윈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265">
                <a:solidFill>
                  <a:srgbClr val="777777"/>
                </a:solidFill>
                <a:latin typeface="휴먼아미체"/>
                <a:cs typeface="휴먼아미체"/>
              </a:rPr>
              <a:t>환경에서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-45">
                <a:solidFill>
                  <a:srgbClr val="777777"/>
                </a:solidFill>
                <a:latin typeface="Noto Sans KR"/>
                <a:cs typeface="Noto Sans KR"/>
              </a:rPr>
              <a:t>LLM</a:t>
            </a:r>
            <a:r>
              <a:rPr dirty="0" sz="1150" spc="3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150" spc="345">
                <a:solidFill>
                  <a:srgbClr val="777777"/>
                </a:solidFill>
                <a:latin typeface="휴먼아미체"/>
                <a:cs typeface="휴먼아미체"/>
              </a:rPr>
              <a:t>거버넌스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285">
                <a:solidFill>
                  <a:srgbClr val="777777"/>
                </a:solidFill>
                <a:latin typeface="휴먼아미체"/>
                <a:cs typeface="휴먼아미체"/>
              </a:rPr>
              <a:t>기반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10">
                <a:solidFill>
                  <a:srgbClr val="777777"/>
                </a:solidFill>
                <a:latin typeface="휴먼아미체"/>
                <a:cs typeface="휴먼아미체"/>
              </a:rPr>
              <a:t>계층형</a:t>
            </a:r>
            <a:r>
              <a:rPr dirty="0" sz="1150" spc="-18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00">
                <a:solidFill>
                  <a:srgbClr val="777777"/>
                </a:solidFill>
                <a:latin typeface="휴먼아미체"/>
                <a:cs typeface="휴먼아미체"/>
              </a:rPr>
              <a:t>강화학습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35">
                <a:solidFill>
                  <a:srgbClr val="777777"/>
                </a:solidFill>
                <a:latin typeface="휴먼아미체"/>
                <a:cs typeface="휴먼아미체"/>
              </a:rPr>
              <a:t>스케줄러의</a:t>
            </a:r>
            <a:r>
              <a:rPr dirty="0" sz="1150" spc="-17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777777"/>
                </a:solidFill>
                <a:latin typeface="휴먼아미체"/>
                <a:cs typeface="휴먼아미체"/>
              </a:rPr>
              <a:t>신뢰성</a:t>
            </a:r>
            <a:r>
              <a:rPr dirty="0" sz="1150" spc="-18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150" spc="225">
                <a:solidFill>
                  <a:srgbClr val="777777"/>
                </a:solidFill>
                <a:latin typeface="휴먼아미체"/>
                <a:cs typeface="휴먼아미체"/>
              </a:rPr>
              <a:t>향상</a:t>
            </a:r>
            <a:endParaRPr sz="1150">
              <a:latin typeface="휴먼아미체"/>
              <a:cs typeface="휴먼아미체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81049" y="4495799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641964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4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641964" y="0"/>
                </a:lnTo>
                <a:lnTo>
                  <a:pt x="666749" y="24785"/>
                </a:lnTo>
                <a:lnTo>
                  <a:pt x="666749" y="165714"/>
                </a:lnTo>
                <a:lnTo>
                  <a:pt x="645609" y="189774"/>
                </a:lnTo>
                <a:lnTo>
                  <a:pt x="641964" y="1904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44550" y="4507579"/>
            <a:ext cx="5372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신뢰성</a:t>
            </a:r>
            <a:r>
              <a:rPr dirty="0" sz="900" spc="-7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114" b="1">
                <a:solidFill>
                  <a:srgbClr val="FFFFFF"/>
                </a:solidFill>
                <a:latin typeface="맑은 고딕"/>
                <a:cs typeface="맑은 고딕"/>
              </a:rPr>
              <a:t>공학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81149" y="4495799"/>
            <a:ext cx="857250" cy="190500"/>
          </a:xfrm>
          <a:custGeom>
            <a:avLst/>
            <a:gdLst/>
            <a:ahLst/>
            <a:cxnLst/>
            <a:rect l="l" t="t" r="r" b="b"/>
            <a:pathLst>
              <a:path w="857250" h="190500">
                <a:moveTo>
                  <a:pt x="832464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4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832464" y="0"/>
                </a:lnTo>
                <a:lnTo>
                  <a:pt x="857249" y="24785"/>
                </a:lnTo>
                <a:lnTo>
                  <a:pt x="857249" y="165714"/>
                </a:lnTo>
                <a:lnTo>
                  <a:pt x="836109" y="189774"/>
                </a:lnTo>
                <a:lnTo>
                  <a:pt x="832464" y="190499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641673" y="4507579"/>
            <a:ext cx="7296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계층형</a:t>
            </a:r>
            <a:r>
              <a:rPr dirty="0" sz="900" spc="-7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130" b="1">
                <a:solidFill>
                  <a:srgbClr val="FFFFFF"/>
                </a:solidFill>
                <a:latin typeface="맑은 고딕"/>
                <a:cs typeface="맑은 고딕"/>
              </a:rPr>
              <a:t>강화학습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571749" y="4495799"/>
            <a:ext cx="771525" cy="190500"/>
          </a:xfrm>
          <a:custGeom>
            <a:avLst/>
            <a:gdLst/>
            <a:ahLst/>
            <a:cxnLst/>
            <a:rect l="l" t="t" r="r" b="b"/>
            <a:pathLst>
              <a:path w="771525" h="190500">
                <a:moveTo>
                  <a:pt x="746739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4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746739" y="0"/>
                </a:lnTo>
                <a:lnTo>
                  <a:pt x="771524" y="24785"/>
                </a:lnTo>
                <a:lnTo>
                  <a:pt x="771524" y="165714"/>
                </a:lnTo>
                <a:lnTo>
                  <a:pt x="750384" y="189774"/>
                </a:lnTo>
                <a:lnTo>
                  <a:pt x="746739" y="190499"/>
                </a:lnTo>
                <a:close/>
              </a:path>
            </a:pathLst>
          </a:custGeom>
          <a:solidFill>
            <a:srgbClr val="2D6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631529" y="4507579"/>
            <a:ext cx="65087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FFFFFF"/>
                </a:solidFill>
                <a:latin typeface="Noto Sans KR"/>
                <a:cs typeface="Noto Sans KR"/>
              </a:rPr>
              <a:t>LLM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85" b="1">
                <a:solidFill>
                  <a:srgbClr val="FFFFFF"/>
                </a:solidFill>
                <a:latin typeface="맑은 고딕"/>
                <a:cs typeface="맑은 고딕"/>
              </a:rPr>
              <a:t>거버넌스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476624" y="4495799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641963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4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641963" y="0"/>
                </a:lnTo>
                <a:lnTo>
                  <a:pt x="666749" y="24785"/>
                </a:lnTo>
                <a:lnTo>
                  <a:pt x="666749" y="165714"/>
                </a:lnTo>
                <a:lnTo>
                  <a:pt x="645609" y="189774"/>
                </a:lnTo>
                <a:lnTo>
                  <a:pt x="641963" y="190499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542803" y="4507579"/>
            <a:ext cx="5372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디지털</a:t>
            </a:r>
            <a:r>
              <a:rPr dirty="0" sz="900" spc="-7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14" b="1">
                <a:solidFill>
                  <a:srgbClr val="444444"/>
                </a:solidFill>
                <a:latin typeface="맑은 고딕"/>
                <a:cs typeface="맑은 고딕"/>
              </a:rPr>
              <a:t>트윈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276724" y="4495799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641963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4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641963" y="0"/>
                </a:lnTo>
                <a:lnTo>
                  <a:pt x="666749" y="24785"/>
                </a:lnTo>
                <a:lnTo>
                  <a:pt x="666749" y="165714"/>
                </a:lnTo>
                <a:lnTo>
                  <a:pt x="645609" y="189774"/>
                </a:lnTo>
                <a:lnTo>
                  <a:pt x="641963" y="190499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39927" y="4507579"/>
            <a:ext cx="5372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반도체</a:t>
            </a:r>
            <a:r>
              <a:rPr dirty="0" sz="900" spc="-7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14" b="1">
                <a:solidFill>
                  <a:srgbClr val="444444"/>
                </a:solidFill>
                <a:latin typeface="맑은 고딕"/>
                <a:cs typeface="맑은 고딕"/>
              </a:rPr>
              <a:t>제조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6819899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E1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5299" y="304799"/>
            <a:ext cx="542925" cy="200025"/>
          </a:xfrm>
          <a:custGeom>
            <a:avLst/>
            <a:gdLst/>
            <a:ahLst/>
            <a:cxnLst/>
            <a:rect l="l" t="t" r="r" b="b"/>
            <a:pathLst>
              <a:path w="542925" h="200025">
                <a:moveTo>
                  <a:pt x="509877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36"/>
                </a:lnTo>
                <a:lnTo>
                  <a:pt x="0" y="166977"/>
                </a:lnTo>
                <a:lnTo>
                  <a:pt x="0" y="16192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509877" y="0"/>
                </a:lnTo>
                <a:lnTo>
                  <a:pt x="541958" y="28186"/>
                </a:lnTo>
                <a:lnTo>
                  <a:pt x="542924" y="33046"/>
                </a:lnTo>
                <a:lnTo>
                  <a:pt x="542924" y="166977"/>
                </a:lnTo>
                <a:lnTo>
                  <a:pt x="514737" y="199057"/>
                </a:lnTo>
                <a:lnTo>
                  <a:pt x="509877" y="200024"/>
                </a:lnTo>
                <a:close/>
              </a:path>
            </a:pathLst>
          </a:custGeom>
          <a:solidFill>
            <a:srgbClr val="3A6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849" y="327342"/>
            <a:ext cx="37084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0" b="1">
                <a:solidFill>
                  <a:srgbClr val="FFFFFF"/>
                </a:solidFill>
                <a:latin typeface="Noto Sans KR"/>
                <a:cs typeface="Noto Sans KR"/>
              </a:rPr>
              <a:t>VENUE</a:t>
            </a:r>
            <a:endParaRPr sz="850">
              <a:latin typeface="Noto Sans KR"/>
              <a:cs typeface="Noto Sans KR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2600" y="2275948"/>
            <a:ext cx="3309620" cy="624840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350" spc="-150">
                <a:solidFill>
                  <a:srgbClr val="FFFFFF"/>
                </a:solidFill>
                <a:latin typeface="Noto Sans KR"/>
                <a:cs typeface="Noto Sans KR"/>
              </a:rPr>
              <a:t>HICSS</a:t>
            </a:r>
            <a:r>
              <a:rPr dirty="0" sz="2400" spc="-15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350" spc="-25">
                <a:solidFill>
                  <a:srgbClr val="FFFFFF"/>
                </a:solidFill>
                <a:latin typeface="Noto Sans KR"/>
                <a:cs typeface="Noto Sans KR"/>
              </a:rPr>
              <a:t>60</a:t>
            </a:r>
            <a:endParaRPr sz="23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50" spc="-55" b="0">
                <a:solidFill>
                  <a:srgbClr val="799CBF"/>
                </a:solidFill>
                <a:latin typeface="Noto Sans KR"/>
                <a:cs typeface="Noto Sans KR"/>
              </a:rPr>
              <a:t>Hawaii</a:t>
            </a:r>
            <a:r>
              <a:rPr dirty="0" sz="1150" spc="20" b="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150" spc="-50" b="0">
                <a:solidFill>
                  <a:srgbClr val="799CBF"/>
                </a:solidFill>
                <a:latin typeface="Noto Sans KR"/>
                <a:cs typeface="Noto Sans KR"/>
              </a:rPr>
              <a:t>International</a:t>
            </a:r>
            <a:r>
              <a:rPr dirty="0" sz="1150" spc="25" b="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150" spc="-55" b="0">
                <a:solidFill>
                  <a:srgbClr val="799CBF"/>
                </a:solidFill>
                <a:latin typeface="Noto Sans KR"/>
                <a:cs typeface="Noto Sans KR"/>
              </a:rPr>
              <a:t>Conference</a:t>
            </a:r>
            <a:r>
              <a:rPr dirty="0" sz="1150" spc="20" b="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150" spc="-30" b="0">
                <a:solidFill>
                  <a:srgbClr val="799CBF"/>
                </a:solidFill>
                <a:latin typeface="Noto Sans KR"/>
                <a:cs typeface="Noto Sans KR"/>
              </a:rPr>
              <a:t>on</a:t>
            </a:r>
            <a:r>
              <a:rPr dirty="0" sz="1150" spc="25" b="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150" spc="-65" b="0">
                <a:solidFill>
                  <a:srgbClr val="799CBF"/>
                </a:solidFill>
                <a:latin typeface="Noto Sans KR"/>
                <a:cs typeface="Noto Sans KR"/>
              </a:rPr>
              <a:t>System</a:t>
            </a:r>
            <a:r>
              <a:rPr dirty="0" sz="1150" spc="20" b="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150" spc="-10" b="0">
                <a:solidFill>
                  <a:srgbClr val="799CBF"/>
                </a:solidFill>
                <a:latin typeface="Noto Sans KR"/>
                <a:cs typeface="Noto Sans KR"/>
              </a:rPr>
              <a:t>Sciences</a:t>
            </a:r>
            <a:endParaRPr sz="1150">
              <a:latin typeface="Noto Sans KR"/>
              <a:cs typeface="Noto Sans KR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95299" y="3028949"/>
            <a:ext cx="1752600" cy="781050"/>
            <a:chOff x="495299" y="3028949"/>
            <a:chExt cx="1752600" cy="781050"/>
          </a:xfrm>
        </p:grpSpPr>
        <p:sp>
          <p:nvSpPr>
            <p:cNvPr id="7" name="object 7" descr=""/>
            <p:cNvSpPr/>
            <p:nvPr/>
          </p:nvSpPr>
          <p:spPr>
            <a:xfrm>
              <a:off x="500062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1685227" y="771523"/>
                  </a:moveTo>
                  <a:lnTo>
                    <a:pt x="57847" y="771523"/>
                  </a:lnTo>
                  <a:lnTo>
                    <a:pt x="53821" y="771127"/>
                  </a:lnTo>
                  <a:lnTo>
                    <a:pt x="15259" y="750515"/>
                  </a:lnTo>
                  <a:lnTo>
                    <a:pt x="0" y="713676"/>
                  </a:lnTo>
                  <a:lnTo>
                    <a:pt x="0" y="709612"/>
                  </a:lnTo>
                  <a:lnTo>
                    <a:pt x="0" y="57846"/>
                  </a:lnTo>
                  <a:lnTo>
                    <a:pt x="15259" y="21006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1685227" y="0"/>
                  </a:lnTo>
                  <a:lnTo>
                    <a:pt x="1722066" y="15258"/>
                  </a:lnTo>
                  <a:lnTo>
                    <a:pt x="1742678" y="53819"/>
                  </a:lnTo>
                  <a:lnTo>
                    <a:pt x="1743074" y="57846"/>
                  </a:lnTo>
                  <a:lnTo>
                    <a:pt x="1743074" y="713676"/>
                  </a:lnTo>
                  <a:lnTo>
                    <a:pt x="1727815" y="750515"/>
                  </a:lnTo>
                  <a:lnTo>
                    <a:pt x="1689253" y="771127"/>
                  </a:lnTo>
                  <a:lnTo>
                    <a:pt x="1685227" y="771523"/>
                  </a:lnTo>
                  <a:close/>
                </a:path>
              </a:pathLst>
            </a:custGeom>
            <a:solidFill>
              <a:srgbClr val="1A2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0062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0" y="709612"/>
                  </a:moveTo>
                  <a:lnTo>
                    <a:pt x="0" y="61912"/>
                  </a:lnTo>
                  <a:lnTo>
                    <a:pt x="0" y="57846"/>
                  </a:lnTo>
                  <a:lnTo>
                    <a:pt x="396" y="53819"/>
                  </a:lnTo>
                  <a:lnTo>
                    <a:pt x="18133" y="18132"/>
                  </a:lnTo>
                  <a:lnTo>
                    <a:pt x="21008" y="15258"/>
                  </a:lnTo>
                  <a:lnTo>
                    <a:pt x="24135" y="12692"/>
                  </a:lnTo>
                  <a:lnTo>
                    <a:pt x="27515" y="10433"/>
                  </a:lnTo>
                  <a:lnTo>
                    <a:pt x="30895" y="8173"/>
                  </a:lnTo>
                  <a:lnTo>
                    <a:pt x="49833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1681162" y="0"/>
                  </a:lnTo>
                  <a:lnTo>
                    <a:pt x="1685227" y="0"/>
                  </a:lnTo>
                  <a:lnTo>
                    <a:pt x="1689253" y="396"/>
                  </a:lnTo>
                  <a:lnTo>
                    <a:pt x="1693240" y="1189"/>
                  </a:lnTo>
                  <a:lnTo>
                    <a:pt x="1697227" y="1982"/>
                  </a:lnTo>
                  <a:lnTo>
                    <a:pt x="1701099" y="3156"/>
                  </a:lnTo>
                  <a:lnTo>
                    <a:pt x="1704854" y="4712"/>
                  </a:lnTo>
                  <a:lnTo>
                    <a:pt x="1708610" y="6268"/>
                  </a:lnTo>
                  <a:lnTo>
                    <a:pt x="1736806" y="34462"/>
                  </a:lnTo>
                  <a:lnTo>
                    <a:pt x="1743074" y="61912"/>
                  </a:lnTo>
                  <a:lnTo>
                    <a:pt x="1743074" y="709612"/>
                  </a:lnTo>
                  <a:lnTo>
                    <a:pt x="1738361" y="733302"/>
                  </a:lnTo>
                  <a:lnTo>
                    <a:pt x="1736806" y="737059"/>
                  </a:lnTo>
                  <a:lnTo>
                    <a:pt x="1715558" y="761088"/>
                  </a:lnTo>
                  <a:lnTo>
                    <a:pt x="1712178" y="763347"/>
                  </a:lnTo>
                  <a:lnTo>
                    <a:pt x="1708610" y="765254"/>
                  </a:lnTo>
                  <a:lnTo>
                    <a:pt x="1704854" y="766810"/>
                  </a:lnTo>
                  <a:lnTo>
                    <a:pt x="1701099" y="768367"/>
                  </a:lnTo>
                  <a:lnTo>
                    <a:pt x="1697227" y="769541"/>
                  </a:lnTo>
                  <a:lnTo>
                    <a:pt x="1693240" y="770334"/>
                  </a:lnTo>
                  <a:lnTo>
                    <a:pt x="1689253" y="771127"/>
                  </a:lnTo>
                  <a:lnTo>
                    <a:pt x="1685227" y="771523"/>
                  </a:lnTo>
                  <a:lnTo>
                    <a:pt x="1681162" y="771524"/>
                  </a:lnTo>
                  <a:lnTo>
                    <a:pt x="61912" y="771524"/>
                  </a:lnTo>
                  <a:lnTo>
                    <a:pt x="57847" y="771523"/>
                  </a:lnTo>
                  <a:lnTo>
                    <a:pt x="53821" y="771127"/>
                  </a:lnTo>
                  <a:lnTo>
                    <a:pt x="49833" y="770334"/>
                  </a:lnTo>
                  <a:lnTo>
                    <a:pt x="45846" y="769541"/>
                  </a:lnTo>
                  <a:lnTo>
                    <a:pt x="41975" y="768367"/>
                  </a:lnTo>
                  <a:lnTo>
                    <a:pt x="38219" y="766810"/>
                  </a:lnTo>
                  <a:lnTo>
                    <a:pt x="34463" y="765254"/>
                  </a:lnTo>
                  <a:lnTo>
                    <a:pt x="18133" y="753390"/>
                  </a:lnTo>
                  <a:lnTo>
                    <a:pt x="15259" y="750515"/>
                  </a:lnTo>
                  <a:lnTo>
                    <a:pt x="12692" y="747388"/>
                  </a:lnTo>
                  <a:lnTo>
                    <a:pt x="10434" y="744007"/>
                  </a:lnTo>
                  <a:lnTo>
                    <a:pt x="8175" y="740628"/>
                  </a:lnTo>
                  <a:lnTo>
                    <a:pt x="6268" y="737059"/>
                  </a:lnTo>
                  <a:lnTo>
                    <a:pt x="4712" y="733302"/>
                  </a:lnTo>
                  <a:lnTo>
                    <a:pt x="3157" y="729547"/>
                  </a:lnTo>
                  <a:lnTo>
                    <a:pt x="1982" y="725676"/>
                  </a:lnTo>
                  <a:lnTo>
                    <a:pt x="1189" y="721689"/>
                  </a:lnTo>
                  <a:lnTo>
                    <a:pt x="396" y="717702"/>
                  </a:lnTo>
                  <a:lnTo>
                    <a:pt x="0" y="713676"/>
                  </a:lnTo>
                  <a:lnTo>
                    <a:pt x="0" y="709612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18691" y="3062815"/>
            <a:ext cx="504190" cy="62166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2200" spc="-145" b="1">
                <a:solidFill>
                  <a:srgbClr val="FFD060"/>
                </a:solidFill>
                <a:latin typeface="Noto Sans KR Black"/>
                <a:cs typeface="Noto Sans KR Black"/>
              </a:rPr>
              <a:t>A</a:t>
            </a:r>
            <a:endParaRPr sz="2200">
              <a:latin typeface="Noto Sans KR Black"/>
              <a:cs typeface="Noto Sans KR Black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900" spc="-35">
                <a:solidFill>
                  <a:srgbClr val="8AA0BF"/>
                </a:solidFill>
                <a:latin typeface="Noto Sans KR"/>
                <a:cs typeface="Noto Sans KR"/>
              </a:rPr>
              <a:t>iCore</a:t>
            </a:r>
            <a:r>
              <a:rPr dirty="0" sz="900" spc="-5">
                <a:solidFill>
                  <a:srgbClr val="8AA0BF"/>
                </a:solidFill>
                <a:latin typeface="Noto Sans KR"/>
                <a:cs typeface="Noto Sans KR"/>
              </a:rPr>
              <a:t> </a:t>
            </a:r>
            <a:r>
              <a:rPr dirty="0" sz="900" spc="315">
                <a:solidFill>
                  <a:srgbClr val="8AA0BF"/>
                </a:solidFill>
                <a:latin typeface="휴먼아미체"/>
                <a:cs typeface="휴먼아미체"/>
              </a:rPr>
              <a:t>등급</a:t>
            </a:r>
            <a:endParaRPr sz="900">
              <a:latin typeface="휴먼아미체"/>
              <a:cs typeface="휴먼아미체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343149" y="3028949"/>
            <a:ext cx="1752600" cy="781050"/>
            <a:chOff x="2343149" y="3028949"/>
            <a:chExt cx="1752600" cy="781050"/>
          </a:xfrm>
        </p:grpSpPr>
        <p:sp>
          <p:nvSpPr>
            <p:cNvPr id="11" name="object 11" descr=""/>
            <p:cNvSpPr/>
            <p:nvPr/>
          </p:nvSpPr>
          <p:spPr>
            <a:xfrm>
              <a:off x="2347912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1685227" y="771523"/>
                  </a:moveTo>
                  <a:lnTo>
                    <a:pt x="57847" y="771523"/>
                  </a:lnTo>
                  <a:lnTo>
                    <a:pt x="53821" y="771127"/>
                  </a:lnTo>
                  <a:lnTo>
                    <a:pt x="15259" y="750515"/>
                  </a:lnTo>
                  <a:lnTo>
                    <a:pt x="0" y="713676"/>
                  </a:lnTo>
                  <a:lnTo>
                    <a:pt x="0" y="709612"/>
                  </a:lnTo>
                  <a:lnTo>
                    <a:pt x="0" y="57846"/>
                  </a:lnTo>
                  <a:lnTo>
                    <a:pt x="15259" y="21006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1685227" y="0"/>
                  </a:lnTo>
                  <a:lnTo>
                    <a:pt x="1722066" y="15258"/>
                  </a:lnTo>
                  <a:lnTo>
                    <a:pt x="1742678" y="53819"/>
                  </a:lnTo>
                  <a:lnTo>
                    <a:pt x="1743074" y="57846"/>
                  </a:lnTo>
                  <a:lnTo>
                    <a:pt x="1743074" y="713676"/>
                  </a:lnTo>
                  <a:lnTo>
                    <a:pt x="1727815" y="750515"/>
                  </a:lnTo>
                  <a:lnTo>
                    <a:pt x="1689253" y="771127"/>
                  </a:lnTo>
                  <a:lnTo>
                    <a:pt x="1685227" y="771523"/>
                  </a:lnTo>
                  <a:close/>
                </a:path>
              </a:pathLst>
            </a:custGeom>
            <a:solidFill>
              <a:srgbClr val="1A2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47912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0" y="709612"/>
                  </a:moveTo>
                  <a:lnTo>
                    <a:pt x="0" y="61912"/>
                  </a:lnTo>
                  <a:lnTo>
                    <a:pt x="0" y="57846"/>
                  </a:lnTo>
                  <a:lnTo>
                    <a:pt x="396" y="53819"/>
                  </a:lnTo>
                  <a:lnTo>
                    <a:pt x="1189" y="49832"/>
                  </a:lnTo>
                  <a:lnTo>
                    <a:pt x="1982" y="45846"/>
                  </a:lnTo>
                  <a:lnTo>
                    <a:pt x="3156" y="41974"/>
                  </a:lnTo>
                  <a:lnTo>
                    <a:pt x="4712" y="38218"/>
                  </a:lnTo>
                  <a:lnTo>
                    <a:pt x="6268" y="34462"/>
                  </a:lnTo>
                  <a:lnTo>
                    <a:pt x="8175" y="30894"/>
                  </a:lnTo>
                  <a:lnTo>
                    <a:pt x="10434" y="27514"/>
                  </a:lnTo>
                  <a:lnTo>
                    <a:pt x="12692" y="24134"/>
                  </a:lnTo>
                  <a:lnTo>
                    <a:pt x="15259" y="21006"/>
                  </a:lnTo>
                  <a:lnTo>
                    <a:pt x="18133" y="18132"/>
                  </a:lnTo>
                  <a:lnTo>
                    <a:pt x="21008" y="15258"/>
                  </a:lnTo>
                  <a:lnTo>
                    <a:pt x="24135" y="12692"/>
                  </a:lnTo>
                  <a:lnTo>
                    <a:pt x="27515" y="10433"/>
                  </a:lnTo>
                  <a:lnTo>
                    <a:pt x="30895" y="8173"/>
                  </a:lnTo>
                  <a:lnTo>
                    <a:pt x="34463" y="6267"/>
                  </a:lnTo>
                  <a:lnTo>
                    <a:pt x="38219" y="4711"/>
                  </a:lnTo>
                  <a:lnTo>
                    <a:pt x="41975" y="3155"/>
                  </a:lnTo>
                  <a:lnTo>
                    <a:pt x="45846" y="1981"/>
                  </a:lnTo>
                  <a:lnTo>
                    <a:pt x="49833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1681162" y="0"/>
                  </a:lnTo>
                  <a:lnTo>
                    <a:pt x="1685227" y="0"/>
                  </a:lnTo>
                  <a:lnTo>
                    <a:pt x="1689253" y="396"/>
                  </a:lnTo>
                  <a:lnTo>
                    <a:pt x="1693240" y="1189"/>
                  </a:lnTo>
                  <a:lnTo>
                    <a:pt x="1697227" y="1982"/>
                  </a:lnTo>
                  <a:lnTo>
                    <a:pt x="1730382" y="24134"/>
                  </a:lnTo>
                  <a:lnTo>
                    <a:pt x="1743075" y="61912"/>
                  </a:lnTo>
                  <a:lnTo>
                    <a:pt x="1743075" y="709612"/>
                  </a:lnTo>
                  <a:lnTo>
                    <a:pt x="1738361" y="733302"/>
                  </a:lnTo>
                  <a:lnTo>
                    <a:pt x="1736805" y="737059"/>
                  </a:lnTo>
                  <a:lnTo>
                    <a:pt x="1734898" y="740628"/>
                  </a:lnTo>
                  <a:lnTo>
                    <a:pt x="1732640" y="744007"/>
                  </a:lnTo>
                  <a:lnTo>
                    <a:pt x="1730382" y="747388"/>
                  </a:lnTo>
                  <a:lnTo>
                    <a:pt x="1715559" y="761088"/>
                  </a:lnTo>
                  <a:lnTo>
                    <a:pt x="1712178" y="763347"/>
                  </a:lnTo>
                  <a:lnTo>
                    <a:pt x="1708610" y="765254"/>
                  </a:lnTo>
                  <a:lnTo>
                    <a:pt x="1704855" y="766810"/>
                  </a:lnTo>
                  <a:lnTo>
                    <a:pt x="1701099" y="768367"/>
                  </a:lnTo>
                  <a:lnTo>
                    <a:pt x="1697227" y="769541"/>
                  </a:lnTo>
                  <a:lnTo>
                    <a:pt x="1693240" y="770334"/>
                  </a:lnTo>
                  <a:lnTo>
                    <a:pt x="1689253" y="771127"/>
                  </a:lnTo>
                  <a:lnTo>
                    <a:pt x="1685227" y="771523"/>
                  </a:lnTo>
                  <a:lnTo>
                    <a:pt x="1681162" y="771524"/>
                  </a:lnTo>
                  <a:lnTo>
                    <a:pt x="61912" y="771524"/>
                  </a:lnTo>
                  <a:lnTo>
                    <a:pt x="57847" y="771523"/>
                  </a:lnTo>
                  <a:lnTo>
                    <a:pt x="53821" y="771127"/>
                  </a:lnTo>
                  <a:lnTo>
                    <a:pt x="49833" y="770334"/>
                  </a:lnTo>
                  <a:lnTo>
                    <a:pt x="45846" y="769541"/>
                  </a:lnTo>
                  <a:lnTo>
                    <a:pt x="41975" y="768367"/>
                  </a:lnTo>
                  <a:lnTo>
                    <a:pt x="38219" y="766810"/>
                  </a:lnTo>
                  <a:lnTo>
                    <a:pt x="34463" y="765254"/>
                  </a:lnTo>
                  <a:lnTo>
                    <a:pt x="18133" y="753390"/>
                  </a:lnTo>
                  <a:lnTo>
                    <a:pt x="15259" y="750515"/>
                  </a:lnTo>
                  <a:lnTo>
                    <a:pt x="12692" y="747388"/>
                  </a:lnTo>
                  <a:lnTo>
                    <a:pt x="10434" y="744007"/>
                  </a:lnTo>
                  <a:lnTo>
                    <a:pt x="8175" y="740628"/>
                  </a:lnTo>
                  <a:lnTo>
                    <a:pt x="6268" y="737059"/>
                  </a:lnTo>
                  <a:lnTo>
                    <a:pt x="4712" y="733302"/>
                  </a:lnTo>
                  <a:lnTo>
                    <a:pt x="3156" y="729547"/>
                  </a:lnTo>
                  <a:lnTo>
                    <a:pt x="1982" y="725676"/>
                  </a:lnTo>
                  <a:lnTo>
                    <a:pt x="1189" y="721689"/>
                  </a:lnTo>
                  <a:lnTo>
                    <a:pt x="396" y="717702"/>
                  </a:lnTo>
                  <a:lnTo>
                    <a:pt x="0" y="713676"/>
                  </a:lnTo>
                  <a:lnTo>
                    <a:pt x="0" y="709612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928738" y="3062815"/>
            <a:ext cx="576580" cy="62166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755"/>
              </a:spcBef>
            </a:pPr>
            <a:r>
              <a:rPr dirty="0" sz="2200" spc="-25" b="1">
                <a:solidFill>
                  <a:srgbClr val="79DEFF"/>
                </a:solidFill>
                <a:latin typeface="Noto Sans KR Black"/>
                <a:cs typeface="Noto Sans KR Black"/>
              </a:rPr>
              <a:t>60회</a:t>
            </a:r>
            <a:endParaRPr sz="2200">
              <a:latin typeface="Noto Sans KR Black"/>
              <a:cs typeface="Noto Sans KR Black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900">
                <a:solidFill>
                  <a:srgbClr val="8AA0BF"/>
                </a:solidFill>
                <a:latin typeface="Noto Sans KR"/>
                <a:cs typeface="Noto Sans KR"/>
              </a:rPr>
              <a:t>2027</a:t>
            </a:r>
            <a:r>
              <a:rPr dirty="0" sz="900">
                <a:solidFill>
                  <a:srgbClr val="8AA0BF"/>
                </a:solidFill>
                <a:latin typeface="휴먼아미체"/>
                <a:cs typeface="휴먼아미체"/>
              </a:rPr>
              <a:t>년</a:t>
            </a:r>
            <a:r>
              <a:rPr dirty="0" sz="900" spc="-65">
                <a:solidFill>
                  <a:srgbClr val="8AA0BF"/>
                </a:solidFill>
                <a:latin typeface="휴먼아미체"/>
                <a:cs typeface="휴먼아미체"/>
              </a:rPr>
              <a:t> </a:t>
            </a:r>
            <a:r>
              <a:rPr dirty="0" sz="900" spc="170">
                <a:solidFill>
                  <a:srgbClr val="8AA0BF"/>
                </a:solidFill>
                <a:latin typeface="휴먼아미체"/>
                <a:cs typeface="휴먼아미체"/>
              </a:rPr>
              <a:t>개최</a:t>
            </a:r>
            <a:endParaRPr sz="900">
              <a:latin typeface="휴먼아미체"/>
              <a:cs typeface="휴먼아미체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190999" y="3028949"/>
            <a:ext cx="1752600" cy="781050"/>
            <a:chOff x="4190999" y="3028949"/>
            <a:chExt cx="1752600" cy="781050"/>
          </a:xfrm>
        </p:grpSpPr>
        <p:sp>
          <p:nvSpPr>
            <p:cNvPr id="15" name="object 15" descr=""/>
            <p:cNvSpPr/>
            <p:nvPr/>
          </p:nvSpPr>
          <p:spPr>
            <a:xfrm>
              <a:off x="4195761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1685228" y="771523"/>
                  </a:moveTo>
                  <a:lnTo>
                    <a:pt x="57847" y="771523"/>
                  </a:lnTo>
                  <a:lnTo>
                    <a:pt x="53821" y="771127"/>
                  </a:lnTo>
                  <a:lnTo>
                    <a:pt x="15258" y="750515"/>
                  </a:lnTo>
                  <a:lnTo>
                    <a:pt x="0" y="713676"/>
                  </a:lnTo>
                  <a:lnTo>
                    <a:pt x="0" y="709612"/>
                  </a:lnTo>
                  <a:lnTo>
                    <a:pt x="0" y="57846"/>
                  </a:lnTo>
                  <a:lnTo>
                    <a:pt x="15258" y="21006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1685228" y="0"/>
                  </a:lnTo>
                  <a:lnTo>
                    <a:pt x="1722066" y="15258"/>
                  </a:lnTo>
                  <a:lnTo>
                    <a:pt x="1742678" y="53819"/>
                  </a:lnTo>
                  <a:lnTo>
                    <a:pt x="1743074" y="57846"/>
                  </a:lnTo>
                  <a:lnTo>
                    <a:pt x="1743074" y="713676"/>
                  </a:lnTo>
                  <a:lnTo>
                    <a:pt x="1727815" y="750515"/>
                  </a:lnTo>
                  <a:lnTo>
                    <a:pt x="1689254" y="771127"/>
                  </a:lnTo>
                  <a:lnTo>
                    <a:pt x="1685228" y="771523"/>
                  </a:lnTo>
                  <a:close/>
                </a:path>
              </a:pathLst>
            </a:custGeom>
            <a:solidFill>
              <a:srgbClr val="1A2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95761" y="3033711"/>
              <a:ext cx="1743075" cy="771525"/>
            </a:xfrm>
            <a:custGeom>
              <a:avLst/>
              <a:gdLst/>
              <a:ahLst/>
              <a:cxnLst/>
              <a:rect l="l" t="t" r="r" b="b"/>
              <a:pathLst>
                <a:path w="1743075" h="771525">
                  <a:moveTo>
                    <a:pt x="0" y="709612"/>
                  </a:moveTo>
                  <a:lnTo>
                    <a:pt x="0" y="61912"/>
                  </a:lnTo>
                  <a:lnTo>
                    <a:pt x="0" y="57846"/>
                  </a:lnTo>
                  <a:lnTo>
                    <a:pt x="396" y="53819"/>
                  </a:lnTo>
                  <a:lnTo>
                    <a:pt x="1189" y="49832"/>
                  </a:lnTo>
                  <a:lnTo>
                    <a:pt x="1982" y="45846"/>
                  </a:lnTo>
                  <a:lnTo>
                    <a:pt x="3157" y="41974"/>
                  </a:lnTo>
                  <a:lnTo>
                    <a:pt x="4712" y="38218"/>
                  </a:lnTo>
                  <a:lnTo>
                    <a:pt x="6268" y="34462"/>
                  </a:lnTo>
                  <a:lnTo>
                    <a:pt x="8175" y="30894"/>
                  </a:lnTo>
                  <a:lnTo>
                    <a:pt x="10433" y="27514"/>
                  </a:lnTo>
                  <a:lnTo>
                    <a:pt x="12692" y="24134"/>
                  </a:lnTo>
                  <a:lnTo>
                    <a:pt x="15258" y="21006"/>
                  </a:lnTo>
                  <a:lnTo>
                    <a:pt x="18133" y="18132"/>
                  </a:lnTo>
                  <a:lnTo>
                    <a:pt x="21008" y="15258"/>
                  </a:lnTo>
                  <a:lnTo>
                    <a:pt x="24135" y="12692"/>
                  </a:lnTo>
                  <a:lnTo>
                    <a:pt x="27515" y="10433"/>
                  </a:lnTo>
                  <a:lnTo>
                    <a:pt x="30895" y="8173"/>
                  </a:lnTo>
                  <a:lnTo>
                    <a:pt x="34463" y="6267"/>
                  </a:lnTo>
                  <a:lnTo>
                    <a:pt x="38219" y="4711"/>
                  </a:lnTo>
                  <a:lnTo>
                    <a:pt x="41975" y="3155"/>
                  </a:lnTo>
                  <a:lnTo>
                    <a:pt x="45846" y="1981"/>
                  </a:lnTo>
                  <a:lnTo>
                    <a:pt x="49833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1681162" y="0"/>
                  </a:lnTo>
                  <a:lnTo>
                    <a:pt x="1685228" y="0"/>
                  </a:lnTo>
                  <a:lnTo>
                    <a:pt x="1689254" y="396"/>
                  </a:lnTo>
                  <a:lnTo>
                    <a:pt x="1724941" y="18132"/>
                  </a:lnTo>
                  <a:lnTo>
                    <a:pt x="1732640" y="27514"/>
                  </a:lnTo>
                  <a:lnTo>
                    <a:pt x="1734898" y="30894"/>
                  </a:lnTo>
                  <a:lnTo>
                    <a:pt x="1743075" y="61912"/>
                  </a:lnTo>
                  <a:lnTo>
                    <a:pt x="1743075" y="709612"/>
                  </a:lnTo>
                  <a:lnTo>
                    <a:pt x="1738361" y="733302"/>
                  </a:lnTo>
                  <a:lnTo>
                    <a:pt x="1736805" y="737059"/>
                  </a:lnTo>
                  <a:lnTo>
                    <a:pt x="1734898" y="740628"/>
                  </a:lnTo>
                  <a:lnTo>
                    <a:pt x="1732640" y="744007"/>
                  </a:lnTo>
                  <a:lnTo>
                    <a:pt x="1730381" y="747388"/>
                  </a:lnTo>
                  <a:lnTo>
                    <a:pt x="1715558" y="761088"/>
                  </a:lnTo>
                  <a:lnTo>
                    <a:pt x="1712178" y="763347"/>
                  </a:lnTo>
                  <a:lnTo>
                    <a:pt x="1708610" y="765254"/>
                  </a:lnTo>
                  <a:lnTo>
                    <a:pt x="1704854" y="766810"/>
                  </a:lnTo>
                  <a:lnTo>
                    <a:pt x="1701098" y="768367"/>
                  </a:lnTo>
                  <a:lnTo>
                    <a:pt x="1681162" y="771524"/>
                  </a:lnTo>
                  <a:lnTo>
                    <a:pt x="61912" y="771524"/>
                  </a:lnTo>
                  <a:lnTo>
                    <a:pt x="57847" y="771523"/>
                  </a:lnTo>
                  <a:lnTo>
                    <a:pt x="53821" y="771127"/>
                  </a:lnTo>
                  <a:lnTo>
                    <a:pt x="49833" y="770334"/>
                  </a:lnTo>
                  <a:lnTo>
                    <a:pt x="45846" y="769541"/>
                  </a:lnTo>
                  <a:lnTo>
                    <a:pt x="41975" y="768367"/>
                  </a:lnTo>
                  <a:lnTo>
                    <a:pt x="38219" y="766810"/>
                  </a:lnTo>
                  <a:lnTo>
                    <a:pt x="34463" y="765254"/>
                  </a:lnTo>
                  <a:lnTo>
                    <a:pt x="18133" y="753390"/>
                  </a:lnTo>
                  <a:lnTo>
                    <a:pt x="15258" y="750515"/>
                  </a:lnTo>
                  <a:lnTo>
                    <a:pt x="12692" y="747388"/>
                  </a:lnTo>
                  <a:lnTo>
                    <a:pt x="10433" y="744007"/>
                  </a:lnTo>
                  <a:lnTo>
                    <a:pt x="8175" y="740628"/>
                  </a:lnTo>
                  <a:lnTo>
                    <a:pt x="6268" y="737059"/>
                  </a:lnTo>
                  <a:lnTo>
                    <a:pt x="4712" y="733302"/>
                  </a:lnTo>
                  <a:lnTo>
                    <a:pt x="3157" y="729547"/>
                  </a:lnTo>
                  <a:lnTo>
                    <a:pt x="1982" y="725676"/>
                  </a:lnTo>
                  <a:lnTo>
                    <a:pt x="1189" y="721689"/>
                  </a:lnTo>
                  <a:lnTo>
                    <a:pt x="396" y="717702"/>
                  </a:lnTo>
                  <a:lnTo>
                    <a:pt x="0" y="713676"/>
                  </a:lnTo>
                  <a:lnTo>
                    <a:pt x="0" y="709612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824362" y="3062815"/>
            <a:ext cx="478155" cy="621665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2200" spc="-25" b="1">
                <a:solidFill>
                  <a:srgbClr val="A0FFA0"/>
                </a:solidFill>
                <a:latin typeface="Noto Sans KR Black"/>
                <a:cs typeface="Noto Sans KR Black"/>
              </a:rPr>
              <a:t>55+</a:t>
            </a:r>
            <a:endParaRPr sz="2200">
              <a:latin typeface="Noto Sans KR Black"/>
              <a:cs typeface="Noto Sans KR Black"/>
            </a:endParaRPr>
          </a:p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900" spc="245">
                <a:solidFill>
                  <a:srgbClr val="8AA0BF"/>
                </a:solidFill>
                <a:latin typeface="휴먼아미체"/>
                <a:cs typeface="휴먼아미체"/>
              </a:rPr>
              <a:t>년</a:t>
            </a:r>
            <a:r>
              <a:rPr dirty="0" sz="900" spc="-140">
                <a:solidFill>
                  <a:srgbClr val="8AA0BF"/>
                </a:solidFill>
                <a:latin typeface="휴먼아미체"/>
                <a:cs typeface="휴먼아미체"/>
              </a:rPr>
              <a:t> </a:t>
            </a:r>
            <a:r>
              <a:rPr dirty="0" sz="900" spc="200">
                <a:solidFill>
                  <a:srgbClr val="8AA0BF"/>
                </a:solidFill>
                <a:latin typeface="휴먼아미체"/>
                <a:cs typeface="휴먼아미체"/>
              </a:rPr>
              <a:t>역사</a:t>
            </a:r>
            <a:endParaRPr sz="900">
              <a:latin typeface="휴먼아미체"/>
              <a:cs typeface="휴먼아미체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38849" y="3028949"/>
            <a:ext cx="1743075" cy="781050"/>
            <a:chOff x="6038849" y="3028949"/>
            <a:chExt cx="1743075" cy="781050"/>
          </a:xfrm>
        </p:grpSpPr>
        <p:sp>
          <p:nvSpPr>
            <p:cNvPr id="19" name="object 19" descr=""/>
            <p:cNvSpPr/>
            <p:nvPr/>
          </p:nvSpPr>
          <p:spPr>
            <a:xfrm>
              <a:off x="6043612" y="3033711"/>
              <a:ext cx="1733550" cy="771525"/>
            </a:xfrm>
            <a:custGeom>
              <a:avLst/>
              <a:gdLst/>
              <a:ahLst/>
              <a:cxnLst/>
              <a:rect l="l" t="t" r="r" b="b"/>
              <a:pathLst>
                <a:path w="1733550" h="771525">
                  <a:moveTo>
                    <a:pt x="1675702" y="771523"/>
                  </a:moveTo>
                  <a:lnTo>
                    <a:pt x="57847" y="771523"/>
                  </a:lnTo>
                  <a:lnTo>
                    <a:pt x="53820" y="771127"/>
                  </a:lnTo>
                  <a:lnTo>
                    <a:pt x="15258" y="750515"/>
                  </a:lnTo>
                  <a:lnTo>
                    <a:pt x="0" y="713676"/>
                  </a:lnTo>
                  <a:lnTo>
                    <a:pt x="0" y="709612"/>
                  </a:lnTo>
                  <a:lnTo>
                    <a:pt x="0" y="57846"/>
                  </a:lnTo>
                  <a:lnTo>
                    <a:pt x="15258" y="21006"/>
                  </a:lnTo>
                  <a:lnTo>
                    <a:pt x="53820" y="396"/>
                  </a:lnTo>
                  <a:lnTo>
                    <a:pt x="57847" y="0"/>
                  </a:lnTo>
                  <a:lnTo>
                    <a:pt x="1675702" y="0"/>
                  </a:lnTo>
                  <a:lnTo>
                    <a:pt x="1712540" y="15258"/>
                  </a:lnTo>
                  <a:lnTo>
                    <a:pt x="1733153" y="53819"/>
                  </a:lnTo>
                  <a:lnTo>
                    <a:pt x="1733549" y="57846"/>
                  </a:lnTo>
                  <a:lnTo>
                    <a:pt x="1733549" y="713676"/>
                  </a:lnTo>
                  <a:lnTo>
                    <a:pt x="1718289" y="750515"/>
                  </a:lnTo>
                  <a:lnTo>
                    <a:pt x="1679728" y="771127"/>
                  </a:lnTo>
                  <a:lnTo>
                    <a:pt x="1675702" y="771523"/>
                  </a:lnTo>
                  <a:close/>
                </a:path>
              </a:pathLst>
            </a:custGeom>
            <a:solidFill>
              <a:srgbClr val="1A2F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43612" y="3033711"/>
              <a:ext cx="1733550" cy="771525"/>
            </a:xfrm>
            <a:custGeom>
              <a:avLst/>
              <a:gdLst/>
              <a:ahLst/>
              <a:cxnLst/>
              <a:rect l="l" t="t" r="r" b="b"/>
              <a:pathLst>
                <a:path w="1733550" h="771525">
                  <a:moveTo>
                    <a:pt x="0" y="709612"/>
                  </a:moveTo>
                  <a:lnTo>
                    <a:pt x="0" y="61912"/>
                  </a:lnTo>
                  <a:lnTo>
                    <a:pt x="0" y="57846"/>
                  </a:lnTo>
                  <a:lnTo>
                    <a:pt x="396" y="53819"/>
                  </a:lnTo>
                  <a:lnTo>
                    <a:pt x="18133" y="18132"/>
                  </a:lnTo>
                  <a:lnTo>
                    <a:pt x="21007" y="15258"/>
                  </a:lnTo>
                  <a:lnTo>
                    <a:pt x="24134" y="12692"/>
                  </a:lnTo>
                  <a:lnTo>
                    <a:pt x="27514" y="10433"/>
                  </a:lnTo>
                  <a:lnTo>
                    <a:pt x="30894" y="8173"/>
                  </a:lnTo>
                  <a:lnTo>
                    <a:pt x="49832" y="1189"/>
                  </a:lnTo>
                  <a:lnTo>
                    <a:pt x="53820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1671637" y="0"/>
                  </a:lnTo>
                  <a:lnTo>
                    <a:pt x="1675702" y="0"/>
                  </a:lnTo>
                  <a:lnTo>
                    <a:pt x="1679728" y="396"/>
                  </a:lnTo>
                  <a:lnTo>
                    <a:pt x="1715415" y="18132"/>
                  </a:lnTo>
                  <a:lnTo>
                    <a:pt x="1723114" y="27514"/>
                  </a:lnTo>
                  <a:lnTo>
                    <a:pt x="1725373" y="30894"/>
                  </a:lnTo>
                  <a:lnTo>
                    <a:pt x="1727279" y="34462"/>
                  </a:lnTo>
                  <a:lnTo>
                    <a:pt x="1728835" y="38218"/>
                  </a:lnTo>
                  <a:lnTo>
                    <a:pt x="1730391" y="41974"/>
                  </a:lnTo>
                  <a:lnTo>
                    <a:pt x="1731566" y="45846"/>
                  </a:lnTo>
                  <a:lnTo>
                    <a:pt x="1732359" y="49832"/>
                  </a:lnTo>
                  <a:lnTo>
                    <a:pt x="1733153" y="53819"/>
                  </a:lnTo>
                  <a:lnTo>
                    <a:pt x="1733549" y="57846"/>
                  </a:lnTo>
                  <a:lnTo>
                    <a:pt x="1733549" y="61912"/>
                  </a:lnTo>
                  <a:lnTo>
                    <a:pt x="1733549" y="709612"/>
                  </a:lnTo>
                  <a:lnTo>
                    <a:pt x="1733549" y="713676"/>
                  </a:lnTo>
                  <a:lnTo>
                    <a:pt x="1733153" y="717702"/>
                  </a:lnTo>
                  <a:lnTo>
                    <a:pt x="1732359" y="721689"/>
                  </a:lnTo>
                  <a:lnTo>
                    <a:pt x="1731566" y="725676"/>
                  </a:lnTo>
                  <a:lnTo>
                    <a:pt x="1730391" y="729547"/>
                  </a:lnTo>
                  <a:lnTo>
                    <a:pt x="1728836" y="733302"/>
                  </a:lnTo>
                  <a:lnTo>
                    <a:pt x="1727280" y="737059"/>
                  </a:lnTo>
                  <a:lnTo>
                    <a:pt x="1725373" y="740628"/>
                  </a:lnTo>
                  <a:lnTo>
                    <a:pt x="1723114" y="744007"/>
                  </a:lnTo>
                  <a:lnTo>
                    <a:pt x="1720855" y="747388"/>
                  </a:lnTo>
                  <a:lnTo>
                    <a:pt x="1706033" y="761088"/>
                  </a:lnTo>
                  <a:lnTo>
                    <a:pt x="1702653" y="763347"/>
                  </a:lnTo>
                  <a:lnTo>
                    <a:pt x="1699085" y="765254"/>
                  </a:lnTo>
                  <a:lnTo>
                    <a:pt x="1695329" y="766810"/>
                  </a:lnTo>
                  <a:lnTo>
                    <a:pt x="1691573" y="768367"/>
                  </a:lnTo>
                  <a:lnTo>
                    <a:pt x="1671637" y="771524"/>
                  </a:lnTo>
                  <a:lnTo>
                    <a:pt x="61912" y="771524"/>
                  </a:lnTo>
                  <a:lnTo>
                    <a:pt x="38218" y="766810"/>
                  </a:lnTo>
                  <a:lnTo>
                    <a:pt x="34462" y="765254"/>
                  </a:lnTo>
                  <a:lnTo>
                    <a:pt x="18133" y="753390"/>
                  </a:lnTo>
                  <a:lnTo>
                    <a:pt x="15258" y="750515"/>
                  </a:lnTo>
                  <a:lnTo>
                    <a:pt x="12691" y="747388"/>
                  </a:lnTo>
                  <a:lnTo>
                    <a:pt x="10433" y="744007"/>
                  </a:lnTo>
                  <a:lnTo>
                    <a:pt x="8174" y="740628"/>
                  </a:lnTo>
                  <a:lnTo>
                    <a:pt x="0" y="713676"/>
                  </a:lnTo>
                  <a:lnTo>
                    <a:pt x="0" y="709612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568479" y="3073489"/>
            <a:ext cx="682625" cy="50736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1350" spc="-10" b="1">
                <a:solidFill>
                  <a:srgbClr val="FFB080"/>
                </a:solidFill>
                <a:latin typeface="Noto Sans KR"/>
                <a:cs typeface="Noto Sans KR"/>
              </a:rPr>
              <a:t>Hawaii</a:t>
            </a:r>
            <a:endParaRPr sz="135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950" spc="180">
                <a:solidFill>
                  <a:srgbClr val="8AA0BF"/>
                </a:solidFill>
                <a:latin typeface="Segoe UI Symbol"/>
                <a:cs typeface="Segoe UI Symbol"/>
              </a:rPr>
              <a:t>🌺</a:t>
            </a:r>
            <a:r>
              <a:rPr dirty="0" sz="950" spc="-60">
                <a:solidFill>
                  <a:srgbClr val="8AA0BF"/>
                </a:solidFill>
                <a:latin typeface="Segoe UI Symbol"/>
                <a:cs typeface="Segoe UI Symbol"/>
              </a:rPr>
              <a:t> </a:t>
            </a:r>
            <a:r>
              <a:rPr dirty="0" sz="900" spc="-20">
                <a:solidFill>
                  <a:srgbClr val="8AA0BF"/>
                </a:solidFill>
                <a:latin typeface="Noto Sans KR"/>
                <a:cs typeface="Noto Sans KR"/>
              </a:rPr>
              <a:t>Big</a:t>
            </a:r>
            <a:r>
              <a:rPr dirty="0" sz="900">
                <a:solidFill>
                  <a:srgbClr val="8AA0BF"/>
                </a:solidFill>
                <a:latin typeface="Noto Sans KR"/>
                <a:cs typeface="Noto Sans KR"/>
              </a:rPr>
              <a:t> </a:t>
            </a:r>
            <a:r>
              <a:rPr dirty="0" sz="900" spc="-10">
                <a:solidFill>
                  <a:srgbClr val="8AA0BF"/>
                </a:solidFill>
                <a:latin typeface="Noto Sans KR"/>
                <a:cs typeface="Noto Sans KR"/>
              </a:rPr>
              <a:t>Island</a:t>
            </a:r>
            <a:endParaRPr sz="900">
              <a:latin typeface="Noto Sans KR"/>
              <a:cs typeface="Noto Sans KR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95299" y="3924299"/>
            <a:ext cx="7286625" cy="923925"/>
            <a:chOff x="495299" y="3924299"/>
            <a:chExt cx="7286625" cy="923925"/>
          </a:xfrm>
        </p:grpSpPr>
        <p:sp>
          <p:nvSpPr>
            <p:cNvPr id="23" name="object 23" descr=""/>
            <p:cNvSpPr/>
            <p:nvPr/>
          </p:nvSpPr>
          <p:spPr>
            <a:xfrm>
              <a:off x="500062" y="3929062"/>
              <a:ext cx="7277100" cy="914400"/>
            </a:xfrm>
            <a:custGeom>
              <a:avLst/>
              <a:gdLst/>
              <a:ahLst/>
              <a:cxnLst/>
              <a:rect l="l" t="t" r="r" b="b"/>
              <a:pathLst>
                <a:path w="7277100" h="914400">
                  <a:moveTo>
                    <a:pt x="7219251" y="914398"/>
                  </a:moveTo>
                  <a:lnTo>
                    <a:pt x="57847" y="914398"/>
                  </a:lnTo>
                  <a:lnTo>
                    <a:pt x="53821" y="914002"/>
                  </a:lnTo>
                  <a:lnTo>
                    <a:pt x="15259" y="893389"/>
                  </a:lnTo>
                  <a:lnTo>
                    <a:pt x="0" y="856552"/>
                  </a:lnTo>
                  <a:lnTo>
                    <a:pt x="0" y="852487"/>
                  </a:lnTo>
                  <a:lnTo>
                    <a:pt x="0" y="57846"/>
                  </a:lnTo>
                  <a:lnTo>
                    <a:pt x="15259" y="21006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7219251" y="0"/>
                  </a:lnTo>
                  <a:lnTo>
                    <a:pt x="7256090" y="15257"/>
                  </a:lnTo>
                  <a:lnTo>
                    <a:pt x="7276702" y="53819"/>
                  </a:lnTo>
                  <a:lnTo>
                    <a:pt x="7277099" y="57846"/>
                  </a:lnTo>
                  <a:lnTo>
                    <a:pt x="7277099" y="856552"/>
                  </a:lnTo>
                  <a:lnTo>
                    <a:pt x="7261839" y="893389"/>
                  </a:lnTo>
                  <a:lnTo>
                    <a:pt x="7223277" y="914002"/>
                  </a:lnTo>
                  <a:lnTo>
                    <a:pt x="7219251" y="914398"/>
                  </a:lnTo>
                  <a:close/>
                </a:path>
              </a:pathLst>
            </a:custGeom>
            <a:solidFill>
              <a:srgbClr val="121C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0062" y="3929062"/>
              <a:ext cx="7277100" cy="914400"/>
            </a:xfrm>
            <a:custGeom>
              <a:avLst/>
              <a:gdLst/>
              <a:ahLst/>
              <a:cxnLst/>
              <a:rect l="l" t="t" r="r" b="b"/>
              <a:pathLst>
                <a:path w="7277100" h="914400">
                  <a:moveTo>
                    <a:pt x="0" y="852487"/>
                  </a:moveTo>
                  <a:lnTo>
                    <a:pt x="0" y="61912"/>
                  </a:lnTo>
                  <a:lnTo>
                    <a:pt x="0" y="57846"/>
                  </a:lnTo>
                  <a:lnTo>
                    <a:pt x="396" y="53819"/>
                  </a:lnTo>
                  <a:lnTo>
                    <a:pt x="1189" y="49832"/>
                  </a:lnTo>
                  <a:lnTo>
                    <a:pt x="1982" y="45846"/>
                  </a:lnTo>
                  <a:lnTo>
                    <a:pt x="3157" y="41974"/>
                  </a:lnTo>
                  <a:lnTo>
                    <a:pt x="4712" y="38218"/>
                  </a:lnTo>
                  <a:lnTo>
                    <a:pt x="6268" y="34461"/>
                  </a:lnTo>
                  <a:lnTo>
                    <a:pt x="18133" y="18132"/>
                  </a:lnTo>
                  <a:lnTo>
                    <a:pt x="21008" y="15257"/>
                  </a:lnTo>
                  <a:lnTo>
                    <a:pt x="24135" y="12691"/>
                  </a:lnTo>
                  <a:lnTo>
                    <a:pt x="27515" y="10433"/>
                  </a:lnTo>
                  <a:lnTo>
                    <a:pt x="30895" y="8173"/>
                  </a:lnTo>
                  <a:lnTo>
                    <a:pt x="49833" y="1189"/>
                  </a:lnTo>
                  <a:lnTo>
                    <a:pt x="53821" y="396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7215186" y="0"/>
                  </a:lnTo>
                  <a:lnTo>
                    <a:pt x="7219251" y="0"/>
                  </a:lnTo>
                  <a:lnTo>
                    <a:pt x="7223277" y="396"/>
                  </a:lnTo>
                  <a:lnTo>
                    <a:pt x="7227264" y="1189"/>
                  </a:lnTo>
                  <a:lnTo>
                    <a:pt x="7231251" y="1981"/>
                  </a:lnTo>
                  <a:lnTo>
                    <a:pt x="7249583" y="10433"/>
                  </a:lnTo>
                  <a:lnTo>
                    <a:pt x="7252963" y="12691"/>
                  </a:lnTo>
                  <a:lnTo>
                    <a:pt x="7256090" y="15257"/>
                  </a:lnTo>
                  <a:lnTo>
                    <a:pt x="7258965" y="18132"/>
                  </a:lnTo>
                  <a:lnTo>
                    <a:pt x="7261839" y="21006"/>
                  </a:lnTo>
                  <a:lnTo>
                    <a:pt x="7272385" y="38218"/>
                  </a:lnTo>
                  <a:lnTo>
                    <a:pt x="7273940" y="41974"/>
                  </a:lnTo>
                  <a:lnTo>
                    <a:pt x="7275115" y="45846"/>
                  </a:lnTo>
                  <a:lnTo>
                    <a:pt x="7275909" y="49832"/>
                  </a:lnTo>
                  <a:lnTo>
                    <a:pt x="7276702" y="53819"/>
                  </a:lnTo>
                  <a:lnTo>
                    <a:pt x="7277099" y="57846"/>
                  </a:lnTo>
                  <a:lnTo>
                    <a:pt x="7277099" y="61912"/>
                  </a:lnTo>
                  <a:lnTo>
                    <a:pt x="7277099" y="852487"/>
                  </a:lnTo>
                  <a:lnTo>
                    <a:pt x="7277099" y="856552"/>
                  </a:lnTo>
                  <a:lnTo>
                    <a:pt x="7276702" y="860577"/>
                  </a:lnTo>
                  <a:lnTo>
                    <a:pt x="7275909" y="864564"/>
                  </a:lnTo>
                  <a:lnTo>
                    <a:pt x="7275115" y="868551"/>
                  </a:lnTo>
                  <a:lnTo>
                    <a:pt x="7273941" y="872423"/>
                  </a:lnTo>
                  <a:lnTo>
                    <a:pt x="7272385" y="876177"/>
                  </a:lnTo>
                  <a:lnTo>
                    <a:pt x="7270830" y="879933"/>
                  </a:lnTo>
                  <a:lnTo>
                    <a:pt x="7242635" y="908130"/>
                  </a:lnTo>
                  <a:lnTo>
                    <a:pt x="7238879" y="909685"/>
                  </a:lnTo>
                  <a:lnTo>
                    <a:pt x="7235122" y="911239"/>
                  </a:lnTo>
                  <a:lnTo>
                    <a:pt x="7215186" y="914399"/>
                  </a:lnTo>
                  <a:lnTo>
                    <a:pt x="61912" y="914399"/>
                  </a:lnTo>
                  <a:lnTo>
                    <a:pt x="38219" y="909685"/>
                  </a:lnTo>
                  <a:lnTo>
                    <a:pt x="34463" y="908130"/>
                  </a:lnTo>
                  <a:lnTo>
                    <a:pt x="30895" y="906223"/>
                  </a:lnTo>
                  <a:lnTo>
                    <a:pt x="27515" y="903964"/>
                  </a:lnTo>
                  <a:lnTo>
                    <a:pt x="24135" y="901705"/>
                  </a:lnTo>
                  <a:lnTo>
                    <a:pt x="4712" y="876177"/>
                  </a:lnTo>
                  <a:lnTo>
                    <a:pt x="3157" y="872423"/>
                  </a:lnTo>
                  <a:lnTo>
                    <a:pt x="1982" y="868551"/>
                  </a:lnTo>
                  <a:lnTo>
                    <a:pt x="1189" y="864564"/>
                  </a:lnTo>
                  <a:lnTo>
                    <a:pt x="396" y="860577"/>
                  </a:lnTo>
                  <a:lnTo>
                    <a:pt x="0" y="856552"/>
                  </a:lnTo>
                  <a:lnTo>
                    <a:pt x="0" y="852487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44524" y="4050379"/>
            <a:ext cx="67119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30" b="1">
                <a:solidFill>
                  <a:srgbClr val="8AA0BF"/>
                </a:solidFill>
                <a:latin typeface="맑은 고딕"/>
                <a:cs typeface="맑은 고딕"/>
              </a:rPr>
              <a:t>제출</a:t>
            </a:r>
            <a:r>
              <a:rPr dirty="0" sz="900" spc="25" b="1">
                <a:solidFill>
                  <a:srgbClr val="8AA0BF"/>
                </a:solidFill>
                <a:latin typeface="맑은 고딕"/>
                <a:cs typeface="맑은 고딕"/>
              </a:rPr>
              <a:t> </a:t>
            </a:r>
            <a:r>
              <a:rPr dirty="0" sz="900" spc="-95" b="1">
                <a:solidFill>
                  <a:srgbClr val="8AA0BF"/>
                </a:solidFill>
                <a:latin typeface="맑은 고딕"/>
                <a:cs typeface="맑은 고딕"/>
              </a:rPr>
              <a:t>미니트랙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44524" y="4202293"/>
            <a:ext cx="4223385" cy="51371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150" spc="-55" b="1">
                <a:solidFill>
                  <a:srgbClr val="DFECF7"/>
                </a:solidFill>
                <a:latin typeface="Noto Sans KR"/>
                <a:cs typeface="Noto Sans KR"/>
              </a:rPr>
              <a:t>Dependable</a:t>
            </a:r>
            <a:r>
              <a:rPr dirty="0" sz="1150" spc="20" b="1">
                <a:solidFill>
                  <a:srgbClr val="DFECF7"/>
                </a:solidFill>
                <a:latin typeface="Noto Sans KR"/>
                <a:cs typeface="Noto Sans KR"/>
              </a:rPr>
              <a:t> </a:t>
            </a:r>
            <a:r>
              <a:rPr dirty="0" sz="1150" spc="-60" b="1">
                <a:solidFill>
                  <a:srgbClr val="DFECF7"/>
                </a:solidFill>
                <a:latin typeface="Noto Sans KR"/>
                <a:cs typeface="Noto Sans KR"/>
              </a:rPr>
              <a:t>Technical</a:t>
            </a:r>
            <a:r>
              <a:rPr dirty="0" sz="1150" spc="20" b="1">
                <a:solidFill>
                  <a:srgbClr val="DFECF7"/>
                </a:solidFill>
                <a:latin typeface="Noto Sans KR"/>
                <a:cs typeface="Noto Sans KR"/>
              </a:rPr>
              <a:t> </a:t>
            </a:r>
            <a:r>
              <a:rPr dirty="0" sz="1150" spc="-45" b="1">
                <a:solidFill>
                  <a:srgbClr val="DFECF7"/>
                </a:solidFill>
                <a:latin typeface="Noto Sans KR"/>
                <a:cs typeface="Noto Sans KR"/>
              </a:rPr>
              <a:t>and</a:t>
            </a:r>
            <a:r>
              <a:rPr dirty="0" sz="1150" spc="25" b="1">
                <a:solidFill>
                  <a:srgbClr val="DFECF7"/>
                </a:solidFill>
                <a:latin typeface="Noto Sans KR"/>
                <a:cs typeface="Noto Sans KR"/>
              </a:rPr>
              <a:t> </a:t>
            </a:r>
            <a:r>
              <a:rPr dirty="0" sz="1150" spc="-50" b="1">
                <a:solidFill>
                  <a:srgbClr val="DFECF7"/>
                </a:solidFill>
                <a:latin typeface="Noto Sans KR"/>
                <a:cs typeface="Noto Sans KR"/>
              </a:rPr>
              <a:t>Socio</a:t>
            </a:r>
            <a:r>
              <a:rPr dirty="0" sz="1200" spc="-50" b="1">
                <a:solidFill>
                  <a:srgbClr val="DFECF7"/>
                </a:solidFill>
                <a:latin typeface="Arial"/>
                <a:cs typeface="Arial"/>
              </a:rPr>
              <a:t>-</a:t>
            </a:r>
            <a:r>
              <a:rPr dirty="0" sz="1150" spc="-50" b="1">
                <a:solidFill>
                  <a:srgbClr val="DFECF7"/>
                </a:solidFill>
                <a:latin typeface="Noto Sans KR"/>
                <a:cs typeface="Noto Sans KR"/>
              </a:rPr>
              <a:t>technical</a:t>
            </a:r>
            <a:r>
              <a:rPr dirty="0" sz="1150" spc="20" b="1">
                <a:solidFill>
                  <a:srgbClr val="DFECF7"/>
                </a:solidFill>
                <a:latin typeface="Noto Sans KR"/>
                <a:cs typeface="Noto Sans KR"/>
              </a:rPr>
              <a:t> </a:t>
            </a:r>
            <a:r>
              <a:rPr dirty="0" sz="1150" spc="-65" b="1">
                <a:solidFill>
                  <a:srgbClr val="DFECF7"/>
                </a:solidFill>
                <a:latin typeface="Noto Sans KR"/>
                <a:cs typeface="Noto Sans KR"/>
              </a:rPr>
              <a:t>Systems</a:t>
            </a:r>
            <a:r>
              <a:rPr dirty="0" sz="1150" spc="25" b="1">
                <a:solidFill>
                  <a:srgbClr val="DFECF7"/>
                </a:solidFill>
                <a:latin typeface="Noto Sans KR"/>
                <a:cs typeface="Noto Sans KR"/>
              </a:rPr>
              <a:t> </a:t>
            </a:r>
            <a:r>
              <a:rPr dirty="0" sz="1150" spc="-10" b="1">
                <a:solidFill>
                  <a:srgbClr val="DFECF7"/>
                </a:solidFill>
                <a:latin typeface="Noto Sans KR"/>
                <a:cs typeface="Noto Sans KR"/>
              </a:rPr>
              <a:t>Engineering</a:t>
            </a:r>
            <a:endParaRPr sz="115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000" spc="260">
                <a:solidFill>
                  <a:srgbClr val="799CBF"/>
                </a:solidFill>
                <a:latin typeface="휴먼아미체"/>
                <a:cs typeface="휴먼아미체"/>
              </a:rPr>
              <a:t>신뢰성</a:t>
            </a:r>
            <a:r>
              <a:rPr dirty="0" sz="1000" spc="-160">
                <a:solidFill>
                  <a:srgbClr val="799CBF"/>
                </a:solidFill>
                <a:latin typeface="휴먼아미체"/>
                <a:cs typeface="휴먼아미체"/>
              </a:rPr>
              <a:t> </a:t>
            </a:r>
            <a:r>
              <a:rPr dirty="0" sz="1000" spc="285">
                <a:solidFill>
                  <a:srgbClr val="799CBF"/>
                </a:solidFill>
                <a:latin typeface="휴먼아미체"/>
                <a:cs typeface="휴먼아미체"/>
              </a:rPr>
              <a:t>공학</a:t>
            </a:r>
            <a:r>
              <a:rPr dirty="0" sz="1000" spc="-160">
                <a:solidFill>
                  <a:srgbClr val="799CBF"/>
                </a:solidFill>
                <a:latin typeface="휴먼아미체"/>
                <a:cs typeface="휴먼아미체"/>
              </a:rPr>
              <a:t> </a:t>
            </a:r>
            <a:r>
              <a:rPr dirty="0" sz="1000" spc="-60">
                <a:solidFill>
                  <a:srgbClr val="799CBF"/>
                </a:solidFill>
                <a:latin typeface="Noto Sans KR"/>
                <a:cs typeface="Noto Sans KR"/>
              </a:rPr>
              <a:t>·</a:t>
            </a:r>
            <a:r>
              <a:rPr dirty="0" sz="1000" spc="-25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000" spc="290">
                <a:solidFill>
                  <a:srgbClr val="799CBF"/>
                </a:solidFill>
                <a:latin typeface="휴먼아미체"/>
                <a:cs typeface="휴먼아미체"/>
              </a:rPr>
              <a:t>소시오테크니컬</a:t>
            </a:r>
            <a:r>
              <a:rPr dirty="0" sz="1000" spc="-160">
                <a:solidFill>
                  <a:srgbClr val="799CBF"/>
                </a:solidFill>
                <a:latin typeface="휴먼아미체"/>
                <a:cs typeface="휴먼아미체"/>
              </a:rPr>
              <a:t> </a:t>
            </a:r>
            <a:r>
              <a:rPr dirty="0" sz="1000" spc="254">
                <a:solidFill>
                  <a:srgbClr val="799CBF"/>
                </a:solidFill>
                <a:latin typeface="휴먼아미체"/>
                <a:cs typeface="휴먼아미체"/>
              </a:rPr>
              <a:t>시스템</a:t>
            </a:r>
            <a:r>
              <a:rPr dirty="0" sz="1000" spc="-160">
                <a:solidFill>
                  <a:srgbClr val="799CBF"/>
                </a:solidFill>
                <a:latin typeface="휴먼아미체"/>
                <a:cs typeface="휴먼아미체"/>
              </a:rPr>
              <a:t> </a:t>
            </a:r>
            <a:r>
              <a:rPr dirty="0" sz="1000" spc="-90">
                <a:solidFill>
                  <a:srgbClr val="799CBF"/>
                </a:solidFill>
                <a:latin typeface="Arial"/>
                <a:cs typeface="Arial"/>
              </a:rPr>
              <a:t>·</a:t>
            </a:r>
            <a:r>
              <a:rPr dirty="0" sz="1000" spc="-30">
                <a:solidFill>
                  <a:srgbClr val="799CB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799CBF"/>
                </a:solidFill>
                <a:latin typeface="Noto Sans KR"/>
                <a:cs typeface="Noto Sans KR"/>
              </a:rPr>
              <a:t>AI</a:t>
            </a:r>
            <a:r>
              <a:rPr dirty="0" sz="1000" spc="20">
                <a:solidFill>
                  <a:srgbClr val="799CBF"/>
                </a:solidFill>
                <a:latin typeface="Noto Sans KR"/>
                <a:cs typeface="Noto Sans KR"/>
              </a:rPr>
              <a:t> </a:t>
            </a:r>
            <a:r>
              <a:rPr dirty="0" sz="1000" spc="270">
                <a:solidFill>
                  <a:srgbClr val="799CBF"/>
                </a:solidFill>
                <a:latin typeface="휴먼아미체"/>
                <a:cs typeface="휴먼아미체"/>
              </a:rPr>
              <a:t>의존성</a:t>
            </a:r>
            <a:endParaRPr sz="1000">
              <a:latin typeface="휴먼아미체"/>
              <a:cs typeface="휴먼아미체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048623" y="2438399"/>
            <a:ext cx="3648075" cy="1609725"/>
            <a:chOff x="8048623" y="2438399"/>
            <a:chExt cx="3648075" cy="1609725"/>
          </a:xfrm>
        </p:grpSpPr>
        <p:sp>
          <p:nvSpPr>
            <p:cNvPr id="28" name="object 28" descr=""/>
            <p:cNvSpPr/>
            <p:nvPr/>
          </p:nvSpPr>
          <p:spPr>
            <a:xfrm>
              <a:off x="8053385" y="2443162"/>
              <a:ext cx="3638550" cy="1600200"/>
            </a:xfrm>
            <a:custGeom>
              <a:avLst/>
              <a:gdLst/>
              <a:ahLst/>
              <a:cxnLst/>
              <a:rect l="l" t="t" r="r" b="b"/>
              <a:pathLst>
                <a:path w="3638550" h="1600200">
                  <a:moveTo>
                    <a:pt x="3571802" y="1600198"/>
                  </a:moveTo>
                  <a:lnTo>
                    <a:pt x="66747" y="1600198"/>
                  </a:lnTo>
                  <a:lnTo>
                    <a:pt x="62100" y="1599741"/>
                  </a:lnTo>
                  <a:lnTo>
                    <a:pt x="24240" y="1582591"/>
                  </a:lnTo>
                  <a:lnTo>
                    <a:pt x="2287" y="1547299"/>
                  </a:lnTo>
                  <a:lnTo>
                    <a:pt x="0" y="1533453"/>
                  </a:lnTo>
                  <a:lnTo>
                    <a:pt x="0" y="15287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571802" y="0"/>
                  </a:lnTo>
                  <a:lnTo>
                    <a:pt x="3610699" y="14644"/>
                  </a:lnTo>
                  <a:lnTo>
                    <a:pt x="3634906" y="48432"/>
                  </a:lnTo>
                  <a:lnTo>
                    <a:pt x="3638549" y="66746"/>
                  </a:lnTo>
                  <a:lnTo>
                    <a:pt x="3638549" y="1533453"/>
                  </a:lnTo>
                  <a:lnTo>
                    <a:pt x="3623904" y="1572350"/>
                  </a:lnTo>
                  <a:lnTo>
                    <a:pt x="3590116" y="1596554"/>
                  </a:lnTo>
                  <a:lnTo>
                    <a:pt x="3576447" y="1599741"/>
                  </a:lnTo>
                  <a:lnTo>
                    <a:pt x="3571802" y="1600198"/>
                  </a:lnTo>
                  <a:close/>
                </a:path>
              </a:pathLst>
            </a:custGeom>
            <a:solidFill>
              <a:srgbClr val="121C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053385" y="2443162"/>
              <a:ext cx="3638550" cy="1600200"/>
            </a:xfrm>
            <a:custGeom>
              <a:avLst/>
              <a:gdLst/>
              <a:ahLst/>
              <a:cxnLst/>
              <a:rect l="l" t="t" r="r" b="b"/>
              <a:pathLst>
                <a:path w="3638550" h="1600200">
                  <a:moveTo>
                    <a:pt x="0" y="15287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8" y="44098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5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567112" y="0"/>
                  </a:lnTo>
                  <a:lnTo>
                    <a:pt x="3571802" y="0"/>
                  </a:lnTo>
                  <a:lnTo>
                    <a:pt x="3576447" y="457"/>
                  </a:lnTo>
                  <a:lnTo>
                    <a:pt x="3614308" y="17605"/>
                  </a:lnTo>
                  <a:lnTo>
                    <a:pt x="3617625" y="20923"/>
                  </a:lnTo>
                  <a:lnTo>
                    <a:pt x="3620943" y="24239"/>
                  </a:lnTo>
                  <a:lnTo>
                    <a:pt x="3637177" y="57499"/>
                  </a:lnTo>
                  <a:lnTo>
                    <a:pt x="3638092" y="62100"/>
                  </a:lnTo>
                  <a:lnTo>
                    <a:pt x="3638549" y="66746"/>
                  </a:lnTo>
                  <a:lnTo>
                    <a:pt x="3638550" y="71437"/>
                  </a:lnTo>
                  <a:lnTo>
                    <a:pt x="3638550" y="1528762"/>
                  </a:lnTo>
                  <a:lnTo>
                    <a:pt x="3638549" y="1533453"/>
                  </a:lnTo>
                  <a:lnTo>
                    <a:pt x="3638092" y="1538098"/>
                  </a:lnTo>
                  <a:lnTo>
                    <a:pt x="3637177" y="1542698"/>
                  </a:lnTo>
                  <a:lnTo>
                    <a:pt x="3636262" y="1547299"/>
                  </a:lnTo>
                  <a:lnTo>
                    <a:pt x="3614308" y="1582591"/>
                  </a:lnTo>
                  <a:lnTo>
                    <a:pt x="3576447" y="1599741"/>
                  </a:lnTo>
                  <a:lnTo>
                    <a:pt x="3567112" y="1600199"/>
                  </a:lnTo>
                  <a:lnTo>
                    <a:pt x="71438" y="1600199"/>
                  </a:lnTo>
                  <a:lnTo>
                    <a:pt x="31748" y="1588158"/>
                  </a:lnTo>
                  <a:lnTo>
                    <a:pt x="27848" y="1585553"/>
                  </a:lnTo>
                  <a:lnTo>
                    <a:pt x="5438" y="1556099"/>
                  </a:lnTo>
                  <a:lnTo>
                    <a:pt x="3642" y="1551765"/>
                  </a:lnTo>
                  <a:lnTo>
                    <a:pt x="2287" y="1547299"/>
                  </a:lnTo>
                  <a:lnTo>
                    <a:pt x="1372" y="1542698"/>
                  </a:lnTo>
                  <a:lnTo>
                    <a:pt x="457" y="1538098"/>
                  </a:lnTo>
                  <a:lnTo>
                    <a:pt x="0" y="1533453"/>
                  </a:lnTo>
                  <a:lnTo>
                    <a:pt x="0" y="1528762"/>
                  </a:lnTo>
                  <a:close/>
                </a:path>
              </a:pathLst>
            </a:custGeom>
            <a:ln w="9524">
              <a:solidFill>
                <a:srgbClr val="294A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220025" y="2593054"/>
            <a:ext cx="77406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20" b="1">
                <a:solidFill>
                  <a:srgbClr val="8AA0BF"/>
                </a:solidFill>
                <a:latin typeface="맑은 고딕"/>
                <a:cs typeface="맑은 고딕"/>
              </a:rPr>
              <a:t>논문의</a:t>
            </a:r>
            <a:r>
              <a:rPr dirty="0" sz="900" spc="25" b="1">
                <a:solidFill>
                  <a:srgbClr val="8AA0BF"/>
                </a:solidFill>
                <a:latin typeface="맑은 고딕"/>
                <a:cs typeface="맑은 고딕"/>
              </a:rPr>
              <a:t> </a:t>
            </a:r>
            <a:r>
              <a:rPr dirty="0" sz="900" spc="-90" b="1">
                <a:solidFill>
                  <a:srgbClr val="8AA0BF"/>
                </a:solidFill>
                <a:latin typeface="맑은 고딕"/>
                <a:cs typeface="맑은 고딕"/>
              </a:rPr>
              <a:t>포지셔닝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220025" y="2865812"/>
            <a:ext cx="284289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10"/>
              </a:spcBef>
              <a:buClr>
                <a:srgbClr val="A0FFA0"/>
              </a:buClr>
              <a:buSzPct val="104545"/>
              <a:buFont typeface="MS PGothic"/>
              <a:buChar char="✓"/>
              <a:tabLst>
                <a:tab pos="180340" algn="l"/>
              </a:tabLst>
            </a:pPr>
            <a:r>
              <a:rPr dirty="0" baseline="2525" sz="1650" spc="-97">
                <a:solidFill>
                  <a:srgbClr val="C7DBF0"/>
                </a:solidFill>
                <a:latin typeface="Noto Sans KR"/>
                <a:cs typeface="Noto Sans KR"/>
              </a:rPr>
              <a:t>Dependability</a:t>
            </a:r>
            <a:r>
              <a:rPr dirty="0" baseline="2525" sz="1650" spc="52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 spc="375">
                <a:solidFill>
                  <a:srgbClr val="C7DBF0"/>
                </a:solidFill>
                <a:latin typeface="휴먼아미체"/>
                <a:cs typeface="휴먼아미체"/>
              </a:rPr>
              <a:t>관점의</a:t>
            </a:r>
            <a:r>
              <a:rPr dirty="0" baseline="2525" sz="1650" spc="-254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-120">
                <a:solidFill>
                  <a:srgbClr val="C7DBF0"/>
                </a:solidFill>
                <a:latin typeface="Noto Sans KR"/>
                <a:cs typeface="Noto Sans KR"/>
              </a:rPr>
              <a:t>DRL</a:t>
            </a:r>
            <a:r>
              <a:rPr dirty="0" baseline="2525" sz="1650" spc="60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 spc="494">
                <a:solidFill>
                  <a:srgbClr val="C7DBF0"/>
                </a:solidFill>
                <a:latin typeface="휴먼아미체"/>
                <a:cs typeface="휴먼아미체"/>
              </a:rPr>
              <a:t>분석</a:t>
            </a:r>
            <a:r>
              <a:rPr dirty="0" baseline="2525" sz="1650" spc="-254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-359">
                <a:solidFill>
                  <a:srgbClr val="C7DBF0"/>
                </a:solidFill>
                <a:latin typeface="Arial"/>
                <a:cs typeface="Arial"/>
              </a:rPr>
              <a:t>—</a:t>
            </a:r>
            <a:r>
              <a:rPr dirty="0" baseline="2525" sz="1650" spc="-30">
                <a:solidFill>
                  <a:srgbClr val="C7DBF0"/>
                </a:solidFill>
                <a:latin typeface="Arial"/>
                <a:cs typeface="Arial"/>
              </a:rPr>
              <a:t> </a:t>
            </a:r>
            <a:r>
              <a:rPr dirty="0" baseline="2525" sz="1650" spc="-322" b="1">
                <a:solidFill>
                  <a:srgbClr val="FFFFFF"/>
                </a:solidFill>
                <a:latin typeface="맑은 고딕"/>
                <a:cs typeface="맑은 고딕"/>
              </a:rPr>
              <a:t>제조</a:t>
            </a:r>
            <a:r>
              <a:rPr dirty="0" baseline="2525" sz="1650" spc="-157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baseline="2525" sz="1650" spc="-322" b="1">
                <a:solidFill>
                  <a:srgbClr val="FFFFFF"/>
                </a:solidFill>
                <a:latin typeface="맑은 고딕"/>
                <a:cs typeface="맑은 고딕"/>
              </a:rPr>
              <a:t>분야</a:t>
            </a:r>
            <a:r>
              <a:rPr dirty="0" baseline="2525" sz="1650" spc="-157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baseline="2525" sz="1650" spc="-37" b="1">
                <a:solidFill>
                  <a:srgbClr val="FFFFFF"/>
                </a:solidFill>
                <a:latin typeface="맑은 고딕"/>
                <a:cs typeface="맑은 고딕"/>
              </a:rPr>
              <a:t>최초</a:t>
            </a:r>
            <a:endParaRPr baseline="2525" sz="1650">
              <a:latin typeface="맑은 고딕"/>
              <a:cs typeface="맑은 고딕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220025" y="3142037"/>
            <a:ext cx="244157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10"/>
              </a:spcBef>
              <a:buClr>
                <a:srgbClr val="A0FFA0"/>
              </a:buClr>
              <a:buSzPct val="104545"/>
              <a:buFont typeface="MS PGothic"/>
              <a:buChar char="✓"/>
              <a:tabLst>
                <a:tab pos="180340" algn="l"/>
              </a:tabLst>
            </a:pPr>
            <a:r>
              <a:rPr dirty="0" baseline="2525" sz="1650" spc="-127">
                <a:solidFill>
                  <a:srgbClr val="C7DBF0"/>
                </a:solidFill>
                <a:latin typeface="Noto Sans KR"/>
                <a:cs typeface="Noto Sans KR"/>
              </a:rPr>
              <a:t>LLM</a:t>
            </a:r>
            <a:r>
              <a:rPr dirty="0" baseline="2525" sz="1650" spc="37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 spc="450">
                <a:solidFill>
                  <a:srgbClr val="C7DBF0"/>
                </a:solidFill>
                <a:latin typeface="휴먼아미체"/>
                <a:cs typeface="휴먼아미체"/>
              </a:rPr>
              <a:t>거버넌스</a:t>
            </a:r>
            <a:r>
              <a:rPr dirty="0" baseline="2525" sz="1650" spc="-262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>
                <a:solidFill>
                  <a:srgbClr val="C7DBF0"/>
                </a:solidFill>
                <a:latin typeface="Noto Sans KR"/>
                <a:cs typeface="Noto Sans KR"/>
              </a:rPr>
              <a:t>=</a:t>
            </a:r>
            <a:r>
              <a:rPr dirty="0" baseline="2525" sz="1650" spc="44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 spc="-104">
                <a:solidFill>
                  <a:srgbClr val="C7DBF0"/>
                </a:solidFill>
                <a:latin typeface="Noto Sans KR"/>
                <a:cs typeface="Noto Sans KR"/>
              </a:rPr>
              <a:t>Fault</a:t>
            </a:r>
            <a:r>
              <a:rPr dirty="0" baseline="2525" sz="1650" spc="-104">
                <a:solidFill>
                  <a:srgbClr val="C7DBF0"/>
                </a:solidFill>
                <a:latin typeface="Arial"/>
                <a:cs typeface="Arial"/>
              </a:rPr>
              <a:t>-</a:t>
            </a:r>
            <a:r>
              <a:rPr dirty="0" baseline="2525" sz="1650" spc="-120">
                <a:solidFill>
                  <a:srgbClr val="C7DBF0"/>
                </a:solidFill>
                <a:latin typeface="Noto Sans KR"/>
                <a:cs typeface="Noto Sans KR"/>
              </a:rPr>
              <a:t>Tolerance</a:t>
            </a:r>
            <a:r>
              <a:rPr dirty="0" baseline="2525" sz="1650" spc="44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 spc="375">
                <a:solidFill>
                  <a:srgbClr val="C7DBF0"/>
                </a:solidFill>
                <a:latin typeface="휴먼아미체"/>
                <a:cs typeface="휴먼아미체"/>
              </a:rPr>
              <a:t>메커니즘</a:t>
            </a:r>
            <a:endParaRPr baseline="2525" sz="1650">
              <a:latin typeface="휴먼아미체"/>
              <a:cs typeface="휴먼아미체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220025" y="3409727"/>
            <a:ext cx="196151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00"/>
              </a:spcBef>
              <a:buClr>
                <a:srgbClr val="A0FFA0"/>
              </a:buClr>
              <a:buSzPct val="104545"/>
              <a:buFont typeface="MS PGothic"/>
              <a:buChar char="✓"/>
              <a:tabLst>
                <a:tab pos="180340" algn="l"/>
              </a:tabLst>
            </a:pPr>
            <a:r>
              <a:rPr dirty="0" baseline="2525" sz="1650" spc="315">
                <a:solidFill>
                  <a:srgbClr val="C7DBF0"/>
                </a:solidFill>
                <a:latin typeface="휴먼아미체"/>
                <a:cs typeface="휴먼아미체"/>
              </a:rPr>
              <a:t>실제</a:t>
            </a:r>
            <a:r>
              <a:rPr dirty="0" baseline="2525" sz="1650" spc="-262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375">
                <a:solidFill>
                  <a:srgbClr val="C7DBF0"/>
                </a:solidFill>
                <a:latin typeface="휴먼아미체"/>
                <a:cs typeface="휴먼아미체"/>
              </a:rPr>
              <a:t>반도체</a:t>
            </a:r>
            <a:r>
              <a:rPr dirty="0" baseline="2525" sz="1650" spc="-262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05">
                <a:solidFill>
                  <a:srgbClr val="C7DBF0"/>
                </a:solidFill>
                <a:latin typeface="휴먼아미체"/>
                <a:cs typeface="휴먼아미체"/>
              </a:rPr>
              <a:t>제조</a:t>
            </a:r>
            <a:r>
              <a:rPr dirty="0" baseline="2525" sz="1650" spc="-262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05">
                <a:solidFill>
                  <a:srgbClr val="C7DBF0"/>
                </a:solidFill>
                <a:latin typeface="휴먼아미체"/>
                <a:cs typeface="휴먼아미체"/>
              </a:rPr>
              <a:t>디지털</a:t>
            </a:r>
            <a:r>
              <a:rPr dirty="0" baseline="2525" sz="1650" spc="-262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94">
                <a:solidFill>
                  <a:srgbClr val="C7DBF0"/>
                </a:solidFill>
                <a:latin typeface="휴먼아미체"/>
                <a:cs typeface="휴먼아미체"/>
              </a:rPr>
              <a:t>트윈</a:t>
            </a:r>
            <a:r>
              <a:rPr dirty="0" baseline="2525" sz="1650" spc="-254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57">
                <a:solidFill>
                  <a:srgbClr val="C7DBF0"/>
                </a:solidFill>
                <a:latin typeface="휴먼아미체"/>
                <a:cs typeface="휴먼아미체"/>
              </a:rPr>
              <a:t>실증</a:t>
            </a:r>
            <a:endParaRPr baseline="2525" sz="1650">
              <a:latin typeface="휴먼아미체"/>
              <a:cs typeface="휴먼아미체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220025" y="3684961"/>
            <a:ext cx="211328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9705" indent="-167640">
              <a:lnSpc>
                <a:spcPct val="100000"/>
              </a:lnSpc>
              <a:spcBef>
                <a:spcPts val="110"/>
              </a:spcBef>
              <a:buClr>
                <a:srgbClr val="A0FFA0"/>
              </a:buClr>
              <a:buSzPct val="104545"/>
              <a:buFont typeface="MS PGothic"/>
              <a:buChar char="✓"/>
              <a:tabLst>
                <a:tab pos="180340" algn="l"/>
              </a:tabLst>
            </a:pPr>
            <a:r>
              <a:rPr dirty="0" baseline="2525" sz="1650" spc="450">
                <a:solidFill>
                  <a:srgbClr val="C7DBF0"/>
                </a:solidFill>
                <a:latin typeface="휴먼아미체"/>
                <a:cs typeface="휴먼아미체"/>
              </a:rPr>
              <a:t>분산</a:t>
            </a:r>
            <a:r>
              <a:rPr dirty="0" baseline="2525" sz="1650" spc="-270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359">
                <a:solidFill>
                  <a:srgbClr val="C7DBF0"/>
                </a:solidFill>
                <a:latin typeface="휴먼아미체"/>
                <a:cs typeface="휴먼아미체"/>
              </a:rPr>
              <a:t>평가</a:t>
            </a:r>
            <a:r>
              <a:rPr dirty="0" baseline="2525" sz="1650" spc="-270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359">
                <a:solidFill>
                  <a:srgbClr val="C7DBF0"/>
                </a:solidFill>
                <a:latin typeface="휴먼아미체"/>
                <a:cs typeface="휴먼아미체"/>
              </a:rPr>
              <a:t>기반</a:t>
            </a:r>
            <a:r>
              <a:rPr dirty="0" baseline="2525" sz="1650" spc="-270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05">
                <a:solidFill>
                  <a:srgbClr val="C7DBF0"/>
                </a:solidFill>
                <a:latin typeface="휴먼아미체"/>
                <a:cs typeface="휴먼아미체"/>
              </a:rPr>
              <a:t>통계</a:t>
            </a:r>
            <a:r>
              <a:rPr dirty="0" baseline="2525" sz="1650" spc="-270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494">
                <a:solidFill>
                  <a:srgbClr val="C7DBF0"/>
                </a:solidFill>
                <a:latin typeface="휴먼아미체"/>
                <a:cs typeface="휴먼아미체"/>
              </a:rPr>
              <a:t>검증</a:t>
            </a:r>
            <a:r>
              <a:rPr dirty="0" baseline="2525" sz="1650" spc="-270">
                <a:solidFill>
                  <a:srgbClr val="C7DBF0"/>
                </a:solidFill>
                <a:latin typeface="휴먼아미체"/>
                <a:cs typeface="휴먼아미체"/>
              </a:rPr>
              <a:t> </a:t>
            </a:r>
            <a:r>
              <a:rPr dirty="0" baseline="2525" sz="1650" spc="-52">
                <a:solidFill>
                  <a:srgbClr val="C7DBF0"/>
                </a:solidFill>
                <a:latin typeface="Arial"/>
                <a:cs typeface="Arial"/>
              </a:rPr>
              <a:t>(</a:t>
            </a:r>
            <a:r>
              <a:rPr dirty="0" baseline="2525" sz="1650" spc="-52">
                <a:solidFill>
                  <a:srgbClr val="C7DBF0"/>
                </a:solidFill>
                <a:latin typeface="Noto Sans KR"/>
                <a:cs typeface="Noto Sans KR"/>
              </a:rPr>
              <a:t>p</a:t>
            </a:r>
            <a:r>
              <a:rPr dirty="0" baseline="2525" sz="1650" spc="-44">
                <a:solidFill>
                  <a:srgbClr val="C7DBF0"/>
                </a:solidFill>
                <a:latin typeface="Noto Sans KR"/>
                <a:cs typeface="Noto Sans KR"/>
              </a:rPr>
              <a:t> </a:t>
            </a:r>
            <a:r>
              <a:rPr dirty="0" baseline="2525" sz="1650">
                <a:solidFill>
                  <a:srgbClr val="C7DBF0"/>
                </a:solidFill>
                <a:latin typeface="Noto Sans KR"/>
                <a:cs typeface="Noto Sans KR"/>
              </a:rPr>
              <a:t>=</a:t>
            </a:r>
            <a:r>
              <a:rPr dirty="0" baseline="2525" sz="1650" spc="-15">
                <a:solidFill>
                  <a:srgbClr val="C7DBF0"/>
                </a:solidFill>
                <a:latin typeface="Noto Sans KR"/>
                <a:cs typeface="Noto Sans KR"/>
              </a:rPr>
              <a:t> 0</a:t>
            </a:r>
            <a:r>
              <a:rPr dirty="0" baseline="2525" sz="1650" spc="-15">
                <a:solidFill>
                  <a:srgbClr val="C7DBF0"/>
                </a:solidFill>
                <a:latin typeface="Arial"/>
                <a:cs typeface="Arial"/>
              </a:rPr>
              <a:t>.</a:t>
            </a:r>
            <a:r>
              <a:rPr dirty="0" baseline="2525" sz="1650" spc="-15">
                <a:solidFill>
                  <a:srgbClr val="C7DBF0"/>
                </a:solidFill>
                <a:latin typeface="Noto Sans KR"/>
                <a:cs typeface="Noto Sans KR"/>
              </a:rPr>
              <a:t>010</a:t>
            </a:r>
            <a:r>
              <a:rPr dirty="0" baseline="2525" sz="1650" spc="-15">
                <a:solidFill>
                  <a:srgbClr val="C7DBF0"/>
                </a:solidFill>
                <a:latin typeface="Arial"/>
                <a:cs typeface="Arial"/>
              </a:rPr>
              <a:t>)</a:t>
            </a:r>
            <a:endParaRPr baseline="2525" sz="165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8048624" y="4143374"/>
            <a:ext cx="3648075" cy="628650"/>
          </a:xfrm>
          <a:custGeom>
            <a:avLst/>
            <a:gdLst/>
            <a:ahLst/>
            <a:cxnLst/>
            <a:rect l="l" t="t" r="r" b="b"/>
            <a:pathLst>
              <a:path w="3648075" h="628650">
                <a:moveTo>
                  <a:pt x="3585777" y="628649"/>
                </a:moveTo>
                <a:lnTo>
                  <a:pt x="62296" y="628649"/>
                </a:lnTo>
                <a:lnTo>
                  <a:pt x="57960" y="628223"/>
                </a:lnTo>
                <a:lnTo>
                  <a:pt x="22624" y="612217"/>
                </a:lnTo>
                <a:lnTo>
                  <a:pt x="2134" y="579276"/>
                </a:lnTo>
                <a:lnTo>
                  <a:pt x="0" y="566352"/>
                </a:lnTo>
                <a:lnTo>
                  <a:pt x="0" y="561974"/>
                </a:lnTo>
                <a:lnTo>
                  <a:pt x="0" y="62296"/>
                </a:lnTo>
                <a:lnTo>
                  <a:pt x="13668" y="25990"/>
                </a:lnTo>
                <a:lnTo>
                  <a:pt x="45203" y="3399"/>
                </a:lnTo>
                <a:lnTo>
                  <a:pt x="62296" y="0"/>
                </a:lnTo>
                <a:lnTo>
                  <a:pt x="3585777" y="0"/>
                </a:lnTo>
                <a:lnTo>
                  <a:pt x="3622082" y="13667"/>
                </a:lnTo>
                <a:lnTo>
                  <a:pt x="3644673" y="45203"/>
                </a:lnTo>
                <a:lnTo>
                  <a:pt x="3648074" y="62296"/>
                </a:lnTo>
                <a:lnTo>
                  <a:pt x="3648074" y="566352"/>
                </a:lnTo>
                <a:lnTo>
                  <a:pt x="3634404" y="602657"/>
                </a:lnTo>
                <a:lnTo>
                  <a:pt x="3602868" y="625248"/>
                </a:lnTo>
                <a:lnTo>
                  <a:pt x="3590111" y="628223"/>
                </a:lnTo>
                <a:lnTo>
                  <a:pt x="3585777" y="62864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8191450" y="4227993"/>
            <a:ext cx="201930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시스템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과학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분야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최고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수준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학회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200" spc="-315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20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50" spc="-125" b="1">
                <a:solidFill>
                  <a:srgbClr val="FFFFFF"/>
                </a:solidFill>
                <a:latin typeface="Noto Sans KR"/>
                <a:cs typeface="Noto Sans KR"/>
              </a:rPr>
              <a:t>IS</a:t>
            </a:r>
            <a:r>
              <a:rPr dirty="0" sz="1200" spc="-125">
                <a:solidFill>
                  <a:srgbClr val="FFFFFF"/>
                </a:solidFill>
                <a:latin typeface="Arial Black"/>
                <a:cs typeface="Arial Black"/>
              </a:rPr>
              <a:t>·</a:t>
            </a:r>
            <a:r>
              <a:rPr dirty="0" sz="1150" spc="-125" b="1">
                <a:solidFill>
                  <a:srgbClr val="FFFFFF"/>
                </a:solidFill>
                <a:latin typeface="맑은 고딕"/>
                <a:cs typeface="맑은 고딕"/>
              </a:rPr>
              <a:t>경영</a:t>
            </a:r>
            <a:r>
              <a:rPr dirty="0" sz="1150" spc="-125" b="1">
                <a:solidFill>
                  <a:srgbClr val="FFFFFF"/>
                </a:solidFill>
                <a:latin typeface="Noto Sans KR"/>
                <a:cs typeface="Noto Sans KR"/>
              </a:rPr>
              <a:t>·</a:t>
            </a:r>
            <a:r>
              <a:rPr dirty="0" sz="1150" spc="-125" b="1">
                <a:solidFill>
                  <a:srgbClr val="FFFFFF"/>
                </a:solidFill>
                <a:latin typeface="맑은 고딕"/>
                <a:cs typeface="맑은 고딕"/>
              </a:rPr>
              <a:t>공학</a:t>
            </a:r>
            <a:r>
              <a:rPr dirty="0" sz="1150" spc="-9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융합</a:t>
            </a:r>
            <a:r>
              <a:rPr dirty="0" sz="1150" spc="-9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연구에</a:t>
            </a:r>
            <a:r>
              <a:rPr dirty="0" sz="1150" spc="-9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최적</a:t>
            </a:r>
            <a:r>
              <a:rPr dirty="0" sz="1150" spc="-8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포럼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0" y="6819899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3A6A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304799"/>
            <a:ext cx="381000" cy="200025"/>
          </a:xfrm>
          <a:custGeom>
            <a:avLst/>
            <a:gdLst/>
            <a:ahLst/>
            <a:cxnLst/>
            <a:rect l="l" t="t" r="r" b="b"/>
            <a:pathLst>
              <a:path w="381000" h="200025">
                <a:moveTo>
                  <a:pt x="347952" y="200023"/>
                </a:moveTo>
                <a:lnTo>
                  <a:pt x="33047" y="200023"/>
                </a:lnTo>
                <a:lnTo>
                  <a:pt x="28187" y="199056"/>
                </a:lnTo>
                <a:lnTo>
                  <a:pt x="966" y="171836"/>
                </a:lnTo>
                <a:lnTo>
                  <a:pt x="0" y="166975"/>
                </a:lnTo>
                <a:lnTo>
                  <a:pt x="0" y="161924"/>
                </a:lnTo>
                <a:lnTo>
                  <a:pt x="0" y="33046"/>
                </a:lnTo>
                <a:lnTo>
                  <a:pt x="28187" y="966"/>
                </a:lnTo>
                <a:lnTo>
                  <a:pt x="33047" y="0"/>
                </a:lnTo>
                <a:lnTo>
                  <a:pt x="347952" y="0"/>
                </a:lnTo>
                <a:lnTo>
                  <a:pt x="380033" y="28186"/>
                </a:lnTo>
                <a:lnTo>
                  <a:pt x="380999" y="33046"/>
                </a:lnTo>
                <a:lnTo>
                  <a:pt x="380999" y="166975"/>
                </a:lnTo>
                <a:lnTo>
                  <a:pt x="352812" y="199056"/>
                </a:lnTo>
                <a:lnTo>
                  <a:pt x="347952" y="200023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27342"/>
            <a:ext cx="20764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배경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60"/>
              <a:t>반도체</a:t>
            </a:r>
            <a:r>
              <a:rPr dirty="0" spc="-200"/>
              <a:t> </a:t>
            </a:r>
            <a:r>
              <a:rPr dirty="0" spc="-360"/>
              <a:t>제조</a:t>
            </a:r>
            <a:r>
              <a:rPr dirty="0" spc="-200"/>
              <a:t> </a:t>
            </a:r>
            <a:r>
              <a:rPr dirty="0" spc="-360"/>
              <a:t>긴급</a:t>
            </a:r>
            <a:r>
              <a:rPr dirty="0" spc="-200"/>
              <a:t> </a:t>
            </a:r>
            <a:r>
              <a:rPr dirty="0" spc="-360"/>
              <a:t>로트</a:t>
            </a:r>
            <a:r>
              <a:rPr dirty="0" spc="-200"/>
              <a:t> </a:t>
            </a:r>
            <a:r>
              <a:rPr dirty="0" spc="-380"/>
              <a:t>스케줄링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71549"/>
            <a:ext cx="3657600" cy="942975"/>
            <a:chOff x="495299" y="971549"/>
            <a:chExt cx="3657600" cy="94297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3581327" y="933448"/>
                  </a:moveTo>
                  <a:lnTo>
                    <a:pt x="66746" y="933448"/>
                  </a:lnTo>
                  <a:lnTo>
                    <a:pt x="62101" y="932990"/>
                  </a:lnTo>
                  <a:lnTo>
                    <a:pt x="24240" y="915842"/>
                  </a:lnTo>
                  <a:lnTo>
                    <a:pt x="2287" y="880549"/>
                  </a:lnTo>
                  <a:lnTo>
                    <a:pt x="0" y="866702"/>
                  </a:lnTo>
                  <a:lnTo>
                    <a:pt x="0" y="862012"/>
                  </a:lnTo>
                  <a:lnTo>
                    <a:pt x="0" y="66745"/>
                  </a:lnTo>
                  <a:lnTo>
                    <a:pt x="14645" y="27845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581327" y="0"/>
                  </a:lnTo>
                  <a:lnTo>
                    <a:pt x="3620225" y="14643"/>
                  </a:lnTo>
                  <a:lnTo>
                    <a:pt x="3644431" y="48430"/>
                  </a:lnTo>
                  <a:lnTo>
                    <a:pt x="3648074" y="66745"/>
                  </a:lnTo>
                  <a:lnTo>
                    <a:pt x="3648074" y="866702"/>
                  </a:lnTo>
                  <a:lnTo>
                    <a:pt x="3633428" y="905600"/>
                  </a:lnTo>
                  <a:lnTo>
                    <a:pt x="3599641" y="929804"/>
                  </a:lnTo>
                  <a:lnTo>
                    <a:pt x="3585973" y="932990"/>
                  </a:lnTo>
                  <a:lnTo>
                    <a:pt x="3581327" y="933448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45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7"/>
                  </a:lnTo>
                  <a:lnTo>
                    <a:pt x="3642" y="48430"/>
                  </a:lnTo>
                  <a:lnTo>
                    <a:pt x="5437" y="44097"/>
                  </a:lnTo>
                  <a:lnTo>
                    <a:pt x="7232" y="39763"/>
                  </a:lnTo>
                  <a:lnTo>
                    <a:pt x="9433" y="35646"/>
                  </a:lnTo>
                  <a:lnTo>
                    <a:pt x="12039" y="31746"/>
                  </a:lnTo>
                  <a:lnTo>
                    <a:pt x="14645" y="27845"/>
                  </a:lnTo>
                  <a:lnTo>
                    <a:pt x="17606" y="24238"/>
                  </a:lnTo>
                  <a:lnTo>
                    <a:pt x="20923" y="20921"/>
                  </a:lnTo>
                  <a:lnTo>
                    <a:pt x="24240" y="17604"/>
                  </a:lnTo>
                  <a:lnTo>
                    <a:pt x="27848" y="1464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76637" y="0"/>
                  </a:lnTo>
                  <a:lnTo>
                    <a:pt x="3581327" y="0"/>
                  </a:lnTo>
                  <a:lnTo>
                    <a:pt x="3585973" y="456"/>
                  </a:lnTo>
                  <a:lnTo>
                    <a:pt x="3623834" y="17604"/>
                  </a:lnTo>
                  <a:lnTo>
                    <a:pt x="3627150" y="20921"/>
                  </a:lnTo>
                  <a:lnTo>
                    <a:pt x="3630467" y="24238"/>
                  </a:lnTo>
                  <a:lnTo>
                    <a:pt x="3633428" y="27845"/>
                  </a:lnTo>
                  <a:lnTo>
                    <a:pt x="3636034" y="31746"/>
                  </a:lnTo>
                  <a:lnTo>
                    <a:pt x="3638640" y="35646"/>
                  </a:lnTo>
                  <a:lnTo>
                    <a:pt x="3648074" y="71437"/>
                  </a:lnTo>
                  <a:lnTo>
                    <a:pt x="3648074" y="862012"/>
                  </a:lnTo>
                  <a:lnTo>
                    <a:pt x="3648074" y="866702"/>
                  </a:lnTo>
                  <a:lnTo>
                    <a:pt x="3647616" y="871347"/>
                  </a:lnTo>
                  <a:lnTo>
                    <a:pt x="3646701" y="875948"/>
                  </a:lnTo>
                  <a:lnTo>
                    <a:pt x="3645786" y="880549"/>
                  </a:lnTo>
                  <a:lnTo>
                    <a:pt x="3636034" y="901699"/>
                  </a:lnTo>
                  <a:lnTo>
                    <a:pt x="3633428" y="905600"/>
                  </a:lnTo>
                  <a:lnTo>
                    <a:pt x="3616325" y="921407"/>
                  </a:lnTo>
                  <a:lnTo>
                    <a:pt x="3612425" y="924014"/>
                  </a:lnTo>
                  <a:lnTo>
                    <a:pt x="3608308" y="926215"/>
                  </a:lnTo>
                  <a:lnTo>
                    <a:pt x="3603974" y="928009"/>
                  </a:lnTo>
                  <a:lnTo>
                    <a:pt x="3599641" y="929804"/>
                  </a:lnTo>
                  <a:lnTo>
                    <a:pt x="3595174" y="931160"/>
                  </a:lnTo>
                  <a:lnTo>
                    <a:pt x="3590573" y="932075"/>
                  </a:lnTo>
                  <a:lnTo>
                    <a:pt x="3585973" y="932990"/>
                  </a:lnTo>
                  <a:lnTo>
                    <a:pt x="3581327" y="933448"/>
                  </a:lnTo>
                  <a:lnTo>
                    <a:pt x="3576637" y="933449"/>
                  </a:lnTo>
                  <a:lnTo>
                    <a:pt x="71437" y="933449"/>
                  </a:lnTo>
                  <a:lnTo>
                    <a:pt x="66746" y="933448"/>
                  </a:lnTo>
                  <a:lnTo>
                    <a:pt x="62101" y="932990"/>
                  </a:lnTo>
                  <a:lnTo>
                    <a:pt x="57500" y="932074"/>
                  </a:lnTo>
                  <a:lnTo>
                    <a:pt x="52900" y="931160"/>
                  </a:lnTo>
                  <a:lnTo>
                    <a:pt x="31748" y="921408"/>
                  </a:lnTo>
                  <a:lnTo>
                    <a:pt x="27848" y="918803"/>
                  </a:lnTo>
                  <a:lnTo>
                    <a:pt x="24240" y="915842"/>
                  </a:lnTo>
                  <a:lnTo>
                    <a:pt x="20923" y="912525"/>
                  </a:lnTo>
                  <a:lnTo>
                    <a:pt x="17606" y="909208"/>
                  </a:lnTo>
                  <a:lnTo>
                    <a:pt x="14645" y="905600"/>
                  </a:lnTo>
                  <a:lnTo>
                    <a:pt x="12039" y="901699"/>
                  </a:lnTo>
                  <a:lnTo>
                    <a:pt x="9433" y="897799"/>
                  </a:lnTo>
                  <a:lnTo>
                    <a:pt x="1372" y="875948"/>
                  </a:lnTo>
                  <a:lnTo>
                    <a:pt x="457" y="871347"/>
                  </a:lnTo>
                  <a:lnTo>
                    <a:pt x="0" y="866702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7687" y="1581149"/>
              <a:ext cx="2066925" cy="190500"/>
            </a:xfrm>
            <a:custGeom>
              <a:avLst/>
              <a:gdLst/>
              <a:ahLst/>
              <a:cxnLst/>
              <a:rect l="l" t="t" r="r" b="b"/>
              <a:pathLst>
                <a:path w="2066925" h="190500">
                  <a:moveTo>
                    <a:pt x="1019175" y="24790"/>
                  </a:moveTo>
                  <a:lnTo>
                    <a:pt x="99439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61925"/>
                  </a:lnTo>
                  <a:lnTo>
                    <a:pt x="0" y="165722"/>
                  </a:lnTo>
                  <a:lnTo>
                    <a:pt x="24790" y="190500"/>
                  </a:lnTo>
                  <a:lnTo>
                    <a:pt x="994397" y="190500"/>
                  </a:lnTo>
                  <a:lnTo>
                    <a:pt x="1019175" y="165722"/>
                  </a:lnTo>
                  <a:lnTo>
                    <a:pt x="1019175" y="24790"/>
                  </a:lnTo>
                  <a:close/>
                </a:path>
                <a:path w="2066925" h="190500">
                  <a:moveTo>
                    <a:pt x="2066925" y="24790"/>
                  </a:moveTo>
                  <a:lnTo>
                    <a:pt x="2042147" y="0"/>
                  </a:lnTo>
                  <a:lnTo>
                    <a:pt x="1082065" y="0"/>
                  </a:lnTo>
                  <a:lnTo>
                    <a:pt x="1057275" y="24790"/>
                  </a:lnTo>
                  <a:lnTo>
                    <a:pt x="1057275" y="161925"/>
                  </a:lnTo>
                  <a:lnTo>
                    <a:pt x="1057275" y="165722"/>
                  </a:lnTo>
                  <a:lnTo>
                    <a:pt x="1082065" y="190500"/>
                  </a:lnTo>
                  <a:lnTo>
                    <a:pt x="2042147" y="190500"/>
                  </a:lnTo>
                  <a:lnTo>
                    <a:pt x="2066925" y="165722"/>
                  </a:lnTo>
                  <a:lnTo>
                    <a:pt x="2066925" y="24790"/>
                  </a:lnTo>
                  <a:close/>
                </a:path>
              </a:pathLst>
            </a:custGeom>
            <a:solidFill>
              <a:srgbClr val="EFEF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15949" y="991869"/>
            <a:ext cx="2576830" cy="76898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🏭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제조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환경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000" spc="254">
                <a:solidFill>
                  <a:srgbClr val="444444"/>
                </a:solidFill>
                <a:latin typeface="휴먼아미체"/>
                <a:cs typeface="휴먼아미체"/>
              </a:rPr>
              <a:t>수백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공정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60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0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이종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장비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결합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0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복잡한</a:t>
            </a:r>
            <a:r>
              <a:rPr dirty="0" sz="10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비정상적</a:t>
            </a:r>
            <a:r>
              <a:rPr dirty="0" sz="100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114" b="1">
                <a:solidFill>
                  <a:srgbClr val="DF592A"/>
                </a:solidFill>
                <a:latin typeface="맑은 고딕"/>
                <a:cs typeface="맑은 고딕"/>
              </a:rPr>
              <a:t>시스템</a:t>
            </a: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50">
              <a:latin typeface="맑은 고딕"/>
              <a:cs typeface="맑은 고딕"/>
            </a:endParaRPr>
          </a:p>
          <a:p>
            <a:pPr marL="107314">
              <a:lnSpc>
                <a:spcPct val="100000"/>
              </a:lnSpc>
              <a:tabLst>
                <a:tab pos="1164590" algn="l"/>
              </a:tabLst>
            </a:pPr>
            <a:r>
              <a:rPr dirty="0" sz="900" spc="-100" b="1">
                <a:solidFill>
                  <a:srgbClr val="444444"/>
                </a:solidFill>
                <a:latin typeface="Noto Sans KR"/>
                <a:cs typeface="Noto Sans KR"/>
              </a:rPr>
              <a:t>6</a:t>
            </a:r>
            <a:r>
              <a:rPr dirty="0" sz="900" spc="-100" b="1">
                <a:solidFill>
                  <a:srgbClr val="444444"/>
                </a:solidFill>
                <a:latin typeface="맑은 고딕"/>
                <a:cs typeface="맑은 고딕"/>
              </a:rPr>
              <a:t>개</a:t>
            </a:r>
            <a:r>
              <a:rPr dirty="0" sz="900" spc="-8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순차</a:t>
            </a:r>
            <a:r>
              <a:rPr dirty="0" sz="900" spc="-7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0" b="1">
                <a:solidFill>
                  <a:srgbClr val="444444"/>
                </a:solidFill>
                <a:latin typeface="맑은 고딕"/>
                <a:cs typeface="맑은 고딕"/>
              </a:rPr>
              <a:t>공정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(</a:t>
            </a: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A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–</a:t>
            </a: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F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)</a:t>
            </a:r>
            <a:r>
              <a:rPr dirty="0" sz="950">
                <a:solidFill>
                  <a:srgbClr val="444444"/>
                </a:solidFill>
                <a:latin typeface="Arial Black"/>
                <a:cs typeface="Arial Black"/>
              </a:rPr>
              <a:t>	</a:t>
            </a: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임계</a:t>
            </a:r>
            <a:r>
              <a:rPr dirty="0" sz="900" spc="-8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단계</a:t>
            </a:r>
            <a:r>
              <a:rPr dirty="0" sz="900" spc="-8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150" b="1">
                <a:solidFill>
                  <a:srgbClr val="444444"/>
                </a:solidFill>
                <a:latin typeface="맑은 고딕"/>
                <a:cs typeface="맑은 고딕"/>
              </a:rPr>
              <a:t>이종</a:t>
            </a:r>
            <a:r>
              <a:rPr dirty="0" sz="900" spc="-7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444444"/>
                </a:solidFill>
                <a:latin typeface="맑은 고딕"/>
                <a:cs typeface="맑은 고딕"/>
              </a:rPr>
              <a:t>장비</a:t>
            </a:r>
            <a:endParaRPr sz="900">
              <a:latin typeface="맑은 고딕"/>
              <a:cs typeface="맑은 고딕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267199" y="971549"/>
            <a:ext cx="3657600" cy="942975"/>
            <a:chOff x="4267199" y="971549"/>
            <a:chExt cx="3657600" cy="942975"/>
          </a:xfrm>
        </p:grpSpPr>
        <p:sp>
          <p:nvSpPr>
            <p:cNvPr id="11" name="object 11" descr=""/>
            <p:cNvSpPr/>
            <p:nvPr/>
          </p:nvSpPr>
          <p:spPr>
            <a:xfrm>
              <a:off x="4271962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3581327" y="933448"/>
                  </a:moveTo>
                  <a:lnTo>
                    <a:pt x="66746" y="933448"/>
                  </a:lnTo>
                  <a:lnTo>
                    <a:pt x="62101" y="932990"/>
                  </a:lnTo>
                  <a:lnTo>
                    <a:pt x="24240" y="915842"/>
                  </a:lnTo>
                  <a:lnTo>
                    <a:pt x="2287" y="880549"/>
                  </a:lnTo>
                  <a:lnTo>
                    <a:pt x="0" y="866702"/>
                  </a:lnTo>
                  <a:lnTo>
                    <a:pt x="0" y="862012"/>
                  </a:lnTo>
                  <a:lnTo>
                    <a:pt x="0" y="66745"/>
                  </a:lnTo>
                  <a:lnTo>
                    <a:pt x="14645" y="27845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581327" y="0"/>
                  </a:lnTo>
                  <a:lnTo>
                    <a:pt x="3620224" y="14643"/>
                  </a:lnTo>
                  <a:lnTo>
                    <a:pt x="3644430" y="48430"/>
                  </a:lnTo>
                  <a:lnTo>
                    <a:pt x="3648074" y="66745"/>
                  </a:lnTo>
                  <a:lnTo>
                    <a:pt x="3648074" y="866702"/>
                  </a:lnTo>
                  <a:lnTo>
                    <a:pt x="3633428" y="905600"/>
                  </a:lnTo>
                  <a:lnTo>
                    <a:pt x="3599639" y="929804"/>
                  </a:lnTo>
                  <a:lnTo>
                    <a:pt x="3585972" y="932990"/>
                  </a:lnTo>
                  <a:lnTo>
                    <a:pt x="3581327" y="933448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71962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45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7"/>
                  </a:lnTo>
                  <a:lnTo>
                    <a:pt x="3642" y="48430"/>
                  </a:lnTo>
                  <a:lnTo>
                    <a:pt x="5437" y="44097"/>
                  </a:lnTo>
                  <a:lnTo>
                    <a:pt x="7232" y="39763"/>
                  </a:lnTo>
                  <a:lnTo>
                    <a:pt x="9432" y="35646"/>
                  </a:lnTo>
                  <a:lnTo>
                    <a:pt x="12039" y="31746"/>
                  </a:lnTo>
                  <a:lnTo>
                    <a:pt x="14645" y="27845"/>
                  </a:lnTo>
                  <a:lnTo>
                    <a:pt x="17606" y="24238"/>
                  </a:lnTo>
                  <a:lnTo>
                    <a:pt x="20923" y="20921"/>
                  </a:lnTo>
                  <a:lnTo>
                    <a:pt x="24240" y="17604"/>
                  </a:lnTo>
                  <a:lnTo>
                    <a:pt x="27848" y="1464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76637" y="0"/>
                  </a:lnTo>
                  <a:lnTo>
                    <a:pt x="3581327" y="0"/>
                  </a:lnTo>
                  <a:lnTo>
                    <a:pt x="3585972" y="456"/>
                  </a:lnTo>
                  <a:lnTo>
                    <a:pt x="3590572" y="1371"/>
                  </a:lnTo>
                  <a:lnTo>
                    <a:pt x="3595173" y="2287"/>
                  </a:lnTo>
                  <a:lnTo>
                    <a:pt x="3627150" y="20921"/>
                  </a:lnTo>
                  <a:lnTo>
                    <a:pt x="3630467" y="24238"/>
                  </a:lnTo>
                  <a:lnTo>
                    <a:pt x="3633428" y="27845"/>
                  </a:lnTo>
                  <a:lnTo>
                    <a:pt x="3636034" y="31746"/>
                  </a:lnTo>
                  <a:lnTo>
                    <a:pt x="3638640" y="35646"/>
                  </a:lnTo>
                  <a:lnTo>
                    <a:pt x="3646701" y="57498"/>
                  </a:lnTo>
                  <a:lnTo>
                    <a:pt x="3647617" y="62099"/>
                  </a:lnTo>
                  <a:lnTo>
                    <a:pt x="3648074" y="66745"/>
                  </a:lnTo>
                  <a:lnTo>
                    <a:pt x="3648074" y="71437"/>
                  </a:lnTo>
                  <a:lnTo>
                    <a:pt x="3648074" y="862012"/>
                  </a:lnTo>
                  <a:lnTo>
                    <a:pt x="3648074" y="866702"/>
                  </a:lnTo>
                  <a:lnTo>
                    <a:pt x="3647617" y="871347"/>
                  </a:lnTo>
                  <a:lnTo>
                    <a:pt x="3646701" y="875948"/>
                  </a:lnTo>
                  <a:lnTo>
                    <a:pt x="3645785" y="880549"/>
                  </a:lnTo>
                  <a:lnTo>
                    <a:pt x="3636034" y="901699"/>
                  </a:lnTo>
                  <a:lnTo>
                    <a:pt x="3633428" y="905600"/>
                  </a:lnTo>
                  <a:lnTo>
                    <a:pt x="3630467" y="909208"/>
                  </a:lnTo>
                  <a:lnTo>
                    <a:pt x="3627150" y="912525"/>
                  </a:lnTo>
                  <a:lnTo>
                    <a:pt x="3623833" y="915842"/>
                  </a:lnTo>
                  <a:lnTo>
                    <a:pt x="3620225" y="918803"/>
                  </a:lnTo>
                  <a:lnTo>
                    <a:pt x="3616324" y="921407"/>
                  </a:lnTo>
                  <a:lnTo>
                    <a:pt x="3612423" y="924014"/>
                  </a:lnTo>
                  <a:lnTo>
                    <a:pt x="3608306" y="926215"/>
                  </a:lnTo>
                  <a:lnTo>
                    <a:pt x="3603973" y="928009"/>
                  </a:lnTo>
                  <a:lnTo>
                    <a:pt x="3599639" y="929804"/>
                  </a:lnTo>
                  <a:lnTo>
                    <a:pt x="3576637" y="933449"/>
                  </a:lnTo>
                  <a:lnTo>
                    <a:pt x="71437" y="933449"/>
                  </a:lnTo>
                  <a:lnTo>
                    <a:pt x="66746" y="933448"/>
                  </a:lnTo>
                  <a:lnTo>
                    <a:pt x="62101" y="932990"/>
                  </a:lnTo>
                  <a:lnTo>
                    <a:pt x="57500" y="932074"/>
                  </a:lnTo>
                  <a:lnTo>
                    <a:pt x="52899" y="931160"/>
                  </a:lnTo>
                  <a:lnTo>
                    <a:pt x="31748" y="921408"/>
                  </a:lnTo>
                  <a:lnTo>
                    <a:pt x="27848" y="918803"/>
                  </a:lnTo>
                  <a:lnTo>
                    <a:pt x="24240" y="915842"/>
                  </a:lnTo>
                  <a:lnTo>
                    <a:pt x="20923" y="912525"/>
                  </a:lnTo>
                  <a:lnTo>
                    <a:pt x="17606" y="909208"/>
                  </a:lnTo>
                  <a:lnTo>
                    <a:pt x="14645" y="905600"/>
                  </a:lnTo>
                  <a:lnTo>
                    <a:pt x="12038" y="901699"/>
                  </a:lnTo>
                  <a:lnTo>
                    <a:pt x="9432" y="897799"/>
                  </a:lnTo>
                  <a:lnTo>
                    <a:pt x="7232" y="893682"/>
                  </a:lnTo>
                  <a:lnTo>
                    <a:pt x="5437" y="889349"/>
                  </a:lnTo>
                  <a:lnTo>
                    <a:pt x="3642" y="885015"/>
                  </a:lnTo>
                  <a:lnTo>
                    <a:pt x="2287" y="880549"/>
                  </a:lnTo>
                  <a:lnTo>
                    <a:pt x="1372" y="875948"/>
                  </a:lnTo>
                  <a:lnTo>
                    <a:pt x="457" y="871347"/>
                  </a:lnTo>
                  <a:lnTo>
                    <a:pt x="0" y="866702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00549" y="1543049"/>
              <a:ext cx="3390900" cy="266700"/>
            </a:xfrm>
            <a:custGeom>
              <a:avLst/>
              <a:gdLst/>
              <a:ahLst/>
              <a:cxnLst/>
              <a:rect l="l" t="t" r="r" b="b"/>
              <a:pathLst>
                <a:path w="3390900" h="266700">
                  <a:moveTo>
                    <a:pt x="3357851" y="266698"/>
                  </a:moveTo>
                  <a:lnTo>
                    <a:pt x="33047" y="266698"/>
                  </a:lnTo>
                  <a:lnTo>
                    <a:pt x="28187" y="265731"/>
                  </a:lnTo>
                  <a:lnTo>
                    <a:pt x="966" y="238511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6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357851" y="0"/>
                  </a:lnTo>
                  <a:lnTo>
                    <a:pt x="3389932" y="28186"/>
                  </a:lnTo>
                  <a:lnTo>
                    <a:pt x="3390899" y="33046"/>
                  </a:lnTo>
                  <a:lnTo>
                    <a:pt x="3390899" y="233652"/>
                  </a:lnTo>
                  <a:lnTo>
                    <a:pt x="3362711" y="265731"/>
                  </a:lnTo>
                  <a:lnTo>
                    <a:pt x="3357851" y="266698"/>
                  </a:lnTo>
                  <a:close/>
                </a:path>
              </a:pathLst>
            </a:custGeom>
            <a:solidFill>
              <a:srgbClr val="EFEF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387850" y="994015"/>
            <a:ext cx="2661920" cy="492759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200" spc="819">
                <a:solidFill>
                  <a:srgbClr val="1A1A1A"/>
                </a:solidFill>
                <a:latin typeface="Segoe UI Symbol"/>
                <a:cs typeface="Segoe UI Symbol"/>
              </a:rPr>
              <a:t>⚡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긴급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로트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000" spc="225">
                <a:solidFill>
                  <a:srgbClr val="444444"/>
                </a:solidFill>
                <a:latin typeface="휴먼아미체"/>
                <a:cs typeface="휴먼아미체"/>
              </a:rPr>
              <a:t>전체의</a:t>
            </a:r>
            <a:r>
              <a:rPr dirty="0" sz="1000" spc="-12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b="1">
                <a:solidFill>
                  <a:srgbClr val="DF592A"/>
                </a:solidFill>
                <a:latin typeface="Arial"/>
                <a:cs typeface="Arial"/>
              </a:rPr>
              <a:t>~</a:t>
            </a:r>
            <a:r>
              <a:rPr dirty="0" sz="1000" b="1">
                <a:solidFill>
                  <a:srgbClr val="DF592A"/>
                </a:solidFill>
                <a:latin typeface="Noto Sans KR"/>
                <a:cs typeface="Noto Sans KR"/>
              </a:rPr>
              <a:t>7</a:t>
            </a:r>
            <a:r>
              <a:rPr dirty="0" sz="1000" b="1">
                <a:solidFill>
                  <a:srgbClr val="DF592A"/>
                </a:solidFill>
                <a:latin typeface="Arial"/>
                <a:cs typeface="Arial"/>
              </a:rPr>
              <a:t>.</a:t>
            </a:r>
            <a:r>
              <a:rPr dirty="0" sz="1000" b="1">
                <a:solidFill>
                  <a:srgbClr val="DF592A"/>
                </a:solidFill>
                <a:latin typeface="Noto Sans KR"/>
                <a:cs typeface="Noto Sans KR"/>
              </a:rPr>
              <a:t>7%</a:t>
            </a:r>
            <a:r>
              <a:rPr dirty="0" sz="1000">
                <a:solidFill>
                  <a:srgbClr val="444444"/>
                </a:solidFill>
                <a:latin typeface="휴먼아미체"/>
                <a:cs typeface="휴먼아미체"/>
              </a:rPr>
              <a:t>지만</a:t>
            </a:r>
            <a:r>
              <a:rPr dirty="0" sz="1000" spc="-114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10">
                <a:solidFill>
                  <a:srgbClr val="444444"/>
                </a:solidFill>
                <a:latin typeface="휴먼아미체"/>
                <a:cs typeface="휴먼아미체"/>
              </a:rPr>
              <a:t>납기</a:t>
            </a:r>
            <a:r>
              <a:rPr dirty="0" sz="1000" spc="210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000" spc="210">
                <a:solidFill>
                  <a:srgbClr val="444444"/>
                </a:solidFill>
                <a:latin typeface="휴먼아미체"/>
                <a:cs typeface="휴먼아미체"/>
              </a:rPr>
              <a:t>품질</a:t>
            </a:r>
            <a:r>
              <a:rPr dirty="0" sz="1000" spc="-114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위반</a:t>
            </a:r>
            <a:r>
              <a:rPr dirty="0" sz="1000" spc="-114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60">
                <a:solidFill>
                  <a:srgbClr val="444444"/>
                </a:solidFill>
                <a:latin typeface="휴먼아미체"/>
                <a:cs typeface="휴먼아미체"/>
              </a:rPr>
              <a:t>시</a:t>
            </a:r>
            <a:r>
              <a:rPr dirty="0" sz="1000" spc="-114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55" b="1">
                <a:solidFill>
                  <a:srgbClr val="DF592A"/>
                </a:solidFill>
                <a:latin typeface="Noto Sans KR"/>
                <a:cs typeface="Noto Sans KR"/>
              </a:rPr>
              <a:t>cascading</a:t>
            </a:r>
            <a:r>
              <a:rPr dirty="0" sz="1000" spc="7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000" spc="-25" b="1">
                <a:solidFill>
                  <a:srgbClr val="DF592A"/>
                </a:solidFill>
                <a:latin typeface="맑은 고딕"/>
                <a:cs typeface="맑은 고딕"/>
              </a:rPr>
              <a:t>영향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64050" y="1582566"/>
            <a:ext cx="169100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900">
                <a:solidFill>
                  <a:srgbClr val="444444"/>
                </a:solidFill>
                <a:latin typeface="Noto Sans KR"/>
                <a:cs typeface="Noto Sans KR"/>
              </a:rPr>
              <a:t> &gt;</a:t>
            </a:r>
            <a:r>
              <a:rPr dirty="0" sz="900" spc="-1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900" spc="-35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900" spc="-35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900" spc="-35">
                <a:solidFill>
                  <a:srgbClr val="444444"/>
                </a:solidFill>
                <a:latin typeface="Noto Sans KR"/>
                <a:cs typeface="Noto Sans KR"/>
              </a:rPr>
              <a:t>500s</a:t>
            </a:r>
            <a:r>
              <a:rPr dirty="0" sz="900" spc="1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900" spc="6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900" spc="2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900" spc="225">
                <a:solidFill>
                  <a:srgbClr val="444444"/>
                </a:solidFill>
                <a:latin typeface="휴먼아미체"/>
                <a:cs typeface="휴먼아미체"/>
              </a:rPr>
              <a:t>납기</a:t>
            </a:r>
            <a:r>
              <a:rPr dirty="0" sz="900" spc="-14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900" spc="225">
                <a:solidFill>
                  <a:srgbClr val="444444"/>
                </a:solidFill>
                <a:latin typeface="휴먼아미체"/>
                <a:cs typeface="휴먼아미체"/>
              </a:rPr>
              <a:t>위반</a:t>
            </a:r>
            <a:r>
              <a:rPr dirty="0" sz="900" spc="-14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900">
                <a:solidFill>
                  <a:srgbClr val="444444"/>
                </a:solidFill>
                <a:latin typeface="Noto Sans KR"/>
                <a:cs typeface="Noto Sans KR"/>
              </a:rPr>
              <a:t>+</a:t>
            </a:r>
            <a:r>
              <a:rPr dirty="0" sz="900" spc="1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900" spc="340">
                <a:solidFill>
                  <a:srgbClr val="444444"/>
                </a:solidFill>
                <a:latin typeface="휴먼아미체"/>
                <a:cs typeface="휴먼아미체"/>
              </a:rPr>
              <a:t>수율</a:t>
            </a:r>
            <a:r>
              <a:rPr dirty="0" sz="900" spc="-14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900" spc="260">
                <a:solidFill>
                  <a:srgbClr val="444444"/>
                </a:solidFill>
                <a:latin typeface="휴먼아미체"/>
                <a:cs typeface="휴먼아미체"/>
              </a:rPr>
              <a:t>손실</a:t>
            </a:r>
            <a:endParaRPr sz="900">
              <a:latin typeface="휴먼아미체"/>
              <a:cs typeface="휴먼아미체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8039099" y="971549"/>
            <a:ext cx="3657600" cy="942975"/>
            <a:chOff x="8039099" y="971549"/>
            <a:chExt cx="3657600" cy="942975"/>
          </a:xfrm>
        </p:grpSpPr>
        <p:sp>
          <p:nvSpPr>
            <p:cNvPr id="17" name="object 17" descr=""/>
            <p:cNvSpPr/>
            <p:nvPr/>
          </p:nvSpPr>
          <p:spPr>
            <a:xfrm>
              <a:off x="8043861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3581326" y="933448"/>
                  </a:moveTo>
                  <a:lnTo>
                    <a:pt x="66746" y="933448"/>
                  </a:lnTo>
                  <a:lnTo>
                    <a:pt x="62100" y="932990"/>
                  </a:lnTo>
                  <a:lnTo>
                    <a:pt x="24239" y="915842"/>
                  </a:lnTo>
                  <a:lnTo>
                    <a:pt x="2287" y="880549"/>
                  </a:lnTo>
                  <a:lnTo>
                    <a:pt x="0" y="866702"/>
                  </a:lnTo>
                  <a:lnTo>
                    <a:pt x="0" y="862012"/>
                  </a:lnTo>
                  <a:lnTo>
                    <a:pt x="0" y="66745"/>
                  </a:lnTo>
                  <a:lnTo>
                    <a:pt x="14644" y="27845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581326" y="0"/>
                  </a:lnTo>
                  <a:lnTo>
                    <a:pt x="3620224" y="14643"/>
                  </a:lnTo>
                  <a:lnTo>
                    <a:pt x="3644430" y="48430"/>
                  </a:lnTo>
                  <a:lnTo>
                    <a:pt x="3648073" y="66745"/>
                  </a:lnTo>
                  <a:lnTo>
                    <a:pt x="3648073" y="866702"/>
                  </a:lnTo>
                  <a:lnTo>
                    <a:pt x="3633429" y="905600"/>
                  </a:lnTo>
                  <a:lnTo>
                    <a:pt x="3599640" y="929804"/>
                  </a:lnTo>
                  <a:lnTo>
                    <a:pt x="3585971" y="932990"/>
                  </a:lnTo>
                  <a:lnTo>
                    <a:pt x="3581326" y="933448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43861" y="976311"/>
              <a:ext cx="3648075" cy="933450"/>
            </a:xfrm>
            <a:custGeom>
              <a:avLst/>
              <a:gdLst/>
              <a:ahLst/>
              <a:cxnLst/>
              <a:rect l="l" t="t" r="r" b="b"/>
              <a:pathLst>
                <a:path w="3648075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45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7"/>
                  </a:lnTo>
                  <a:lnTo>
                    <a:pt x="3642" y="48430"/>
                  </a:lnTo>
                  <a:lnTo>
                    <a:pt x="5436" y="44097"/>
                  </a:lnTo>
                  <a:lnTo>
                    <a:pt x="7231" y="39763"/>
                  </a:lnTo>
                  <a:lnTo>
                    <a:pt x="9431" y="35646"/>
                  </a:lnTo>
                  <a:lnTo>
                    <a:pt x="12038" y="31746"/>
                  </a:lnTo>
                  <a:lnTo>
                    <a:pt x="14644" y="27845"/>
                  </a:lnTo>
                  <a:lnTo>
                    <a:pt x="17605" y="24238"/>
                  </a:lnTo>
                  <a:lnTo>
                    <a:pt x="20922" y="20921"/>
                  </a:lnTo>
                  <a:lnTo>
                    <a:pt x="24239" y="17604"/>
                  </a:lnTo>
                  <a:lnTo>
                    <a:pt x="57499" y="1371"/>
                  </a:lnTo>
                  <a:lnTo>
                    <a:pt x="62100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76637" y="0"/>
                  </a:lnTo>
                  <a:lnTo>
                    <a:pt x="3581326" y="0"/>
                  </a:lnTo>
                  <a:lnTo>
                    <a:pt x="3585971" y="456"/>
                  </a:lnTo>
                  <a:lnTo>
                    <a:pt x="3590572" y="1371"/>
                  </a:lnTo>
                  <a:lnTo>
                    <a:pt x="3595173" y="2287"/>
                  </a:lnTo>
                  <a:lnTo>
                    <a:pt x="3627150" y="20921"/>
                  </a:lnTo>
                  <a:lnTo>
                    <a:pt x="3630467" y="24238"/>
                  </a:lnTo>
                  <a:lnTo>
                    <a:pt x="3633429" y="27845"/>
                  </a:lnTo>
                  <a:lnTo>
                    <a:pt x="3636034" y="31746"/>
                  </a:lnTo>
                  <a:lnTo>
                    <a:pt x="3638640" y="35646"/>
                  </a:lnTo>
                  <a:lnTo>
                    <a:pt x="3646701" y="57498"/>
                  </a:lnTo>
                  <a:lnTo>
                    <a:pt x="3647616" y="62099"/>
                  </a:lnTo>
                  <a:lnTo>
                    <a:pt x="3648073" y="66745"/>
                  </a:lnTo>
                  <a:lnTo>
                    <a:pt x="3648074" y="71437"/>
                  </a:lnTo>
                  <a:lnTo>
                    <a:pt x="3648074" y="862012"/>
                  </a:lnTo>
                  <a:lnTo>
                    <a:pt x="3648073" y="866702"/>
                  </a:lnTo>
                  <a:lnTo>
                    <a:pt x="3647616" y="871347"/>
                  </a:lnTo>
                  <a:lnTo>
                    <a:pt x="3646701" y="875948"/>
                  </a:lnTo>
                  <a:lnTo>
                    <a:pt x="3645786" y="880549"/>
                  </a:lnTo>
                  <a:lnTo>
                    <a:pt x="3636034" y="901699"/>
                  </a:lnTo>
                  <a:lnTo>
                    <a:pt x="3633429" y="905600"/>
                  </a:lnTo>
                  <a:lnTo>
                    <a:pt x="3630467" y="909208"/>
                  </a:lnTo>
                  <a:lnTo>
                    <a:pt x="3627150" y="912525"/>
                  </a:lnTo>
                  <a:lnTo>
                    <a:pt x="3623833" y="915842"/>
                  </a:lnTo>
                  <a:lnTo>
                    <a:pt x="3620224" y="918803"/>
                  </a:lnTo>
                  <a:lnTo>
                    <a:pt x="3616324" y="921407"/>
                  </a:lnTo>
                  <a:lnTo>
                    <a:pt x="3612424" y="924014"/>
                  </a:lnTo>
                  <a:lnTo>
                    <a:pt x="3608307" y="926215"/>
                  </a:lnTo>
                  <a:lnTo>
                    <a:pt x="3603973" y="928009"/>
                  </a:lnTo>
                  <a:lnTo>
                    <a:pt x="3599640" y="929804"/>
                  </a:lnTo>
                  <a:lnTo>
                    <a:pt x="3576637" y="933449"/>
                  </a:lnTo>
                  <a:lnTo>
                    <a:pt x="71437" y="933449"/>
                  </a:lnTo>
                  <a:lnTo>
                    <a:pt x="66746" y="933448"/>
                  </a:lnTo>
                  <a:lnTo>
                    <a:pt x="62100" y="932990"/>
                  </a:lnTo>
                  <a:lnTo>
                    <a:pt x="57499" y="932074"/>
                  </a:lnTo>
                  <a:lnTo>
                    <a:pt x="52899" y="931160"/>
                  </a:lnTo>
                  <a:lnTo>
                    <a:pt x="31747" y="921408"/>
                  </a:lnTo>
                  <a:lnTo>
                    <a:pt x="27847" y="918803"/>
                  </a:lnTo>
                  <a:lnTo>
                    <a:pt x="12038" y="901699"/>
                  </a:lnTo>
                  <a:lnTo>
                    <a:pt x="9431" y="897799"/>
                  </a:lnTo>
                  <a:lnTo>
                    <a:pt x="1372" y="875948"/>
                  </a:lnTo>
                  <a:lnTo>
                    <a:pt x="457" y="871347"/>
                  </a:lnTo>
                  <a:lnTo>
                    <a:pt x="0" y="866702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159750" y="990282"/>
            <a:ext cx="1836420" cy="6775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🤖</a:t>
            </a:r>
            <a:r>
              <a:rPr dirty="0" sz="1200" spc="-2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기존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00" b="1">
                <a:solidFill>
                  <a:srgbClr val="1A1A1A"/>
                </a:solidFill>
                <a:latin typeface="Noto Sans KR"/>
                <a:cs typeface="Noto Sans KR"/>
              </a:rPr>
              <a:t>DRL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의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한계</a:t>
            </a:r>
            <a:endParaRPr sz="1150">
              <a:latin typeface="맑은 고딕"/>
              <a:cs typeface="맑은 고딕"/>
            </a:endParaRPr>
          </a:p>
          <a:p>
            <a:pPr marL="12700" marR="5080">
              <a:lnSpc>
                <a:spcPct val="118800"/>
              </a:lnSpc>
              <a:spcBef>
                <a:spcPts val="260"/>
              </a:spcBef>
            </a:pPr>
            <a:r>
              <a:rPr dirty="0" sz="1000" spc="310">
                <a:solidFill>
                  <a:srgbClr val="444444"/>
                </a:solidFill>
                <a:latin typeface="휴먼아미체"/>
                <a:cs typeface="휴먼아미체"/>
              </a:rPr>
              <a:t>학습은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45">
                <a:solidFill>
                  <a:srgbClr val="444444"/>
                </a:solidFill>
                <a:latin typeface="휴먼아미체"/>
                <a:cs typeface="휴먼아미체"/>
              </a:rPr>
              <a:t>되지만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실행마다</a:t>
            </a:r>
            <a:r>
              <a:rPr dirty="0" sz="10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결과가</a:t>
            </a:r>
            <a:r>
              <a:rPr dirty="0" sz="10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165" b="1">
                <a:solidFill>
                  <a:srgbClr val="DF592A"/>
                </a:solidFill>
                <a:latin typeface="맑은 고딕"/>
                <a:cs typeface="맑은 고딕"/>
              </a:rPr>
              <a:t>달라짐</a:t>
            </a:r>
            <a:r>
              <a:rPr dirty="0" sz="1000" spc="23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단일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00">
                <a:solidFill>
                  <a:srgbClr val="444444"/>
                </a:solidFill>
                <a:latin typeface="휴먼아미체"/>
                <a:cs typeface="휴먼아미체"/>
              </a:rPr>
              <a:t>실행으로는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60">
                <a:solidFill>
                  <a:srgbClr val="444444"/>
                </a:solidFill>
                <a:latin typeface="휴먼아미체"/>
                <a:cs typeface="휴먼아미체"/>
              </a:rPr>
              <a:t>신뢰성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검증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60">
                <a:solidFill>
                  <a:srgbClr val="444444"/>
                </a:solidFill>
                <a:latin typeface="휴먼아미체"/>
                <a:cs typeface="휴먼아미체"/>
              </a:rPr>
              <a:t>불가</a:t>
            </a:r>
            <a:endParaRPr sz="1000">
              <a:latin typeface="휴먼아미체"/>
              <a:cs typeface="휴먼아미체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9" y="2009774"/>
            <a:ext cx="11201399" cy="4638674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0" y="6819899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9"/>
            <a:ext cx="1028700" cy="200025"/>
          </a:xfrm>
          <a:custGeom>
            <a:avLst/>
            <a:gdLst/>
            <a:ahLst/>
            <a:cxnLst/>
            <a:rect l="l" t="t" r="r" b="b"/>
            <a:pathLst>
              <a:path w="1028700" h="200025">
                <a:moveTo>
                  <a:pt x="995652" y="200023"/>
                </a:moveTo>
                <a:lnTo>
                  <a:pt x="33047" y="200023"/>
                </a:lnTo>
                <a:lnTo>
                  <a:pt x="28187" y="199055"/>
                </a:lnTo>
                <a:lnTo>
                  <a:pt x="966" y="171835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6"/>
                </a:lnTo>
                <a:lnTo>
                  <a:pt x="28187" y="964"/>
                </a:lnTo>
                <a:lnTo>
                  <a:pt x="33047" y="0"/>
                </a:lnTo>
                <a:lnTo>
                  <a:pt x="995652" y="0"/>
                </a:lnTo>
                <a:lnTo>
                  <a:pt x="1027733" y="28186"/>
                </a:lnTo>
                <a:lnTo>
                  <a:pt x="1028699" y="33046"/>
                </a:lnTo>
                <a:lnTo>
                  <a:pt x="1028699" y="166976"/>
                </a:lnTo>
                <a:lnTo>
                  <a:pt x="1000512" y="199055"/>
                </a:lnTo>
                <a:lnTo>
                  <a:pt x="995652" y="200023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861694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PURE</a:t>
            </a:r>
            <a:r>
              <a:rPr dirty="0" sz="850" spc="2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DRL</a:t>
            </a:r>
            <a:r>
              <a:rPr dirty="0" sz="850" spc="2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spc="-25" b="1">
                <a:solidFill>
                  <a:srgbClr val="FFFFFF"/>
                </a:solidFill>
                <a:latin typeface="맑은 고딕"/>
                <a:cs typeface="맑은 고딕"/>
              </a:rPr>
              <a:t>접근법</a:t>
            </a:r>
            <a:endParaRPr sz="850">
              <a:latin typeface="맑은 고딕"/>
              <a:cs typeface="맑은 고딕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95299" y="581024"/>
            <a:ext cx="5514975" cy="6029325"/>
            <a:chOff x="495299" y="581024"/>
            <a:chExt cx="5514975" cy="6029325"/>
          </a:xfrm>
        </p:grpSpPr>
        <p:sp>
          <p:nvSpPr>
            <p:cNvPr id="5" name="object 5" descr=""/>
            <p:cNvSpPr/>
            <p:nvPr/>
          </p:nvSpPr>
          <p:spPr>
            <a:xfrm>
              <a:off x="500062" y="585786"/>
              <a:ext cx="5505450" cy="6019800"/>
            </a:xfrm>
            <a:custGeom>
              <a:avLst/>
              <a:gdLst/>
              <a:ahLst/>
              <a:cxnLst/>
              <a:rect l="l" t="t" r="r" b="b"/>
              <a:pathLst>
                <a:path w="5505450" h="6019800">
                  <a:moveTo>
                    <a:pt x="5438703" y="6019799"/>
                  </a:moveTo>
                  <a:lnTo>
                    <a:pt x="66746" y="6019799"/>
                  </a:lnTo>
                  <a:lnTo>
                    <a:pt x="62101" y="6019341"/>
                  </a:lnTo>
                  <a:lnTo>
                    <a:pt x="24240" y="6002188"/>
                  </a:lnTo>
                  <a:lnTo>
                    <a:pt x="2287" y="5966895"/>
                  </a:lnTo>
                  <a:lnTo>
                    <a:pt x="0" y="5953052"/>
                  </a:lnTo>
                  <a:lnTo>
                    <a:pt x="0" y="5948362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3" y="3639"/>
                  </a:lnTo>
                  <a:lnTo>
                    <a:pt x="66746" y="0"/>
                  </a:lnTo>
                  <a:lnTo>
                    <a:pt x="5438703" y="0"/>
                  </a:lnTo>
                  <a:lnTo>
                    <a:pt x="5477600" y="14643"/>
                  </a:lnTo>
                  <a:lnTo>
                    <a:pt x="5501806" y="48431"/>
                  </a:lnTo>
                  <a:lnTo>
                    <a:pt x="5505448" y="66747"/>
                  </a:lnTo>
                  <a:lnTo>
                    <a:pt x="5505448" y="5953052"/>
                  </a:lnTo>
                  <a:lnTo>
                    <a:pt x="5490803" y="5991945"/>
                  </a:lnTo>
                  <a:lnTo>
                    <a:pt x="5457016" y="6016155"/>
                  </a:lnTo>
                  <a:lnTo>
                    <a:pt x="5443348" y="6019341"/>
                  </a:lnTo>
                  <a:lnTo>
                    <a:pt x="5438703" y="6019799"/>
                  </a:lnTo>
                  <a:close/>
                </a:path>
              </a:pathLst>
            </a:custGeom>
            <a:solidFill>
              <a:srgbClr val="F5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585786"/>
              <a:ext cx="5505450" cy="6019800"/>
            </a:xfrm>
            <a:custGeom>
              <a:avLst/>
              <a:gdLst/>
              <a:ahLst/>
              <a:cxnLst/>
              <a:rect l="l" t="t" r="r" b="b"/>
              <a:pathLst>
                <a:path w="5505450" h="6019800">
                  <a:moveTo>
                    <a:pt x="0" y="5948362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2039" y="31746"/>
                  </a:lnTo>
                  <a:lnTo>
                    <a:pt x="14645" y="27847"/>
                  </a:lnTo>
                  <a:lnTo>
                    <a:pt x="44099" y="5434"/>
                  </a:lnTo>
                  <a:lnTo>
                    <a:pt x="48433" y="3639"/>
                  </a:lnTo>
                  <a:lnTo>
                    <a:pt x="52900" y="2283"/>
                  </a:lnTo>
                  <a:lnTo>
                    <a:pt x="57500" y="1369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38703" y="0"/>
                  </a:lnTo>
                  <a:lnTo>
                    <a:pt x="5443348" y="456"/>
                  </a:lnTo>
                  <a:lnTo>
                    <a:pt x="5447949" y="1369"/>
                  </a:lnTo>
                  <a:lnTo>
                    <a:pt x="5452549" y="2283"/>
                  </a:lnTo>
                  <a:lnTo>
                    <a:pt x="5457016" y="3639"/>
                  </a:lnTo>
                  <a:lnTo>
                    <a:pt x="5461349" y="5434"/>
                  </a:lnTo>
                  <a:lnTo>
                    <a:pt x="5465683" y="7229"/>
                  </a:lnTo>
                  <a:lnTo>
                    <a:pt x="5493409" y="31746"/>
                  </a:lnTo>
                  <a:lnTo>
                    <a:pt x="5496015" y="35646"/>
                  </a:lnTo>
                  <a:lnTo>
                    <a:pt x="5498216" y="39763"/>
                  </a:lnTo>
                  <a:lnTo>
                    <a:pt x="5500010" y="44096"/>
                  </a:lnTo>
                  <a:lnTo>
                    <a:pt x="5501806" y="48431"/>
                  </a:lnTo>
                  <a:lnTo>
                    <a:pt x="5505449" y="71437"/>
                  </a:lnTo>
                  <a:lnTo>
                    <a:pt x="5505449" y="5948362"/>
                  </a:lnTo>
                  <a:lnTo>
                    <a:pt x="5505448" y="5953052"/>
                  </a:lnTo>
                  <a:lnTo>
                    <a:pt x="5504991" y="5957696"/>
                  </a:lnTo>
                  <a:lnTo>
                    <a:pt x="5504076" y="5962296"/>
                  </a:lnTo>
                  <a:lnTo>
                    <a:pt x="5503161" y="5966895"/>
                  </a:lnTo>
                  <a:lnTo>
                    <a:pt x="5501806" y="5971362"/>
                  </a:lnTo>
                  <a:lnTo>
                    <a:pt x="5500010" y="5975694"/>
                  </a:lnTo>
                  <a:lnTo>
                    <a:pt x="5498216" y="5980029"/>
                  </a:lnTo>
                  <a:lnTo>
                    <a:pt x="5473700" y="6007756"/>
                  </a:lnTo>
                  <a:lnTo>
                    <a:pt x="5469800" y="6010363"/>
                  </a:lnTo>
                  <a:lnTo>
                    <a:pt x="5465683" y="6012562"/>
                  </a:lnTo>
                  <a:lnTo>
                    <a:pt x="5461349" y="6014357"/>
                  </a:lnTo>
                  <a:lnTo>
                    <a:pt x="5457016" y="6016155"/>
                  </a:lnTo>
                  <a:lnTo>
                    <a:pt x="5452549" y="6017508"/>
                  </a:lnTo>
                  <a:lnTo>
                    <a:pt x="5447949" y="6018423"/>
                  </a:lnTo>
                  <a:lnTo>
                    <a:pt x="5443348" y="6019341"/>
                  </a:lnTo>
                  <a:lnTo>
                    <a:pt x="5438703" y="6019799"/>
                  </a:lnTo>
                  <a:lnTo>
                    <a:pt x="5434012" y="6019799"/>
                  </a:lnTo>
                  <a:lnTo>
                    <a:pt x="71437" y="6019799"/>
                  </a:lnTo>
                  <a:lnTo>
                    <a:pt x="66746" y="6019799"/>
                  </a:lnTo>
                  <a:lnTo>
                    <a:pt x="62101" y="6019341"/>
                  </a:lnTo>
                  <a:lnTo>
                    <a:pt x="57500" y="6018425"/>
                  </a:lnTo>
                  <a:lnTo>
                    <a:pt x="52900" y="6017511"/>
                  </a:lnTo>
                  <a:lnTo>
                    <a:pt x="48433" y="6016155"/>
                  </a:lnTo>
                  <a:lnTo>
                    <a:pt x="44099" y="6014357"/>
                  </a:lnTo>
                  <a:lnTo>
                    <a:pt x="39765" y="6012562"/>
                  </a:lnTo>
                  <a:lnTo>
                    <a:pt x="35648" y="6010360"/>
                  </a:lnTo>
                  <a:lnTo>
                    <a:pt x="31748" y="6007754"/>
                  </a:lnTo>
                  <a:lnTo>
                    <a:pt x="27848" y="6005149"/>
                  </a:lnTo>
                  <a:lnTo>
                    <a:pt x="5437" y="5975694"/>
                  </a:lnTo>
                  <a:lnTo>
                    <a:pt x="3642" y="5971362"/>
                  </a:lnTo>
                  <a:lnTo>
                    <a:pt x="2287" y="5966895"/>
                  </a:lnTo>
                  <a:lnTo>
                    <a:pt x="1372" y="5962296"/>
                  </a:lnTo>
                  <a:lnTo>
                    <a:pt x="457" y="5957696"/>
                  </a:lnTo>
                  <a:lnTo>
                    <a:pt x="0" y="5953052"/>
                  </a:lnTo>
                  <a:lnTo>
                    <a:pt x="0" y="594836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4" y="2676525"/>
              <a:ext cx="5343524" cy="1838324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6200773" y="962024"/>
            <a:ext cx="5495925" cy="1000125"/>
            <a:chOff x="6200773" y="962024"/>
            <a:chExt cx="5495925" cy="1000125"/>
          </a:xfrm>
        </p:grpSpPr>
        <p:sp>
          <p:nvSpPr>
            <p:cNvPr id="9" name="object 9" descr=""/>
            <p:cNvSpPr/>
            <p:nvPr/>
          </p:nvSpPr>
          <p:spPr>
            <a:xfrm>
              <a:off x="6205536" y="966786"/>
              <a:ext cx="5486400" cy="990600"/>
            </a:xfrm>
            <a:custGeom>
              <a:avLst/>
              <a:gdLst/>
              <a:ahLst/>
              <a:cxnLst/>
              <a:rect l="l" t="t" r="r" b="b"/>
              <a:pathLst>
                <a:path w="5486400" h="990600">
                  <a:moveTo>
                    <a:pt x="5419651" y="990598"/>
                  </a:moveTo>
                  <a:lnTo>
                    <a:pt x="66747" y="990598"/>
                  </a:lnTo>
                  <a:lnTo>
                    <a:pt x="62101" y="990139"/>
                  </a:lnTo>
                  <a:lnTo>
                    <a:pt x="24239" y="972989"/>
                  </a:lnTo>
                  <a:lnTo>
                    <a:pt x="2288" y="937696"/>
                  </a:lnTo>
                  <a:lnTo>
                    <a:pt x="0" y="923850"/>
                  </a:lnTo>
                  <a:lnTo>
                    <a:pt x="0" y="919162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3" y="3639"/>
                  </a:lnTo>
                  <a:lnTo>
                    <a:pt x="66747" y="0"/>
                  </a:lnTo>
                  <a:lnTo>
                    <a:pt x="5419651" y="0"/>
                  </a:lnTo>
                  <a:lnTo>
                    <a:pt x="5458549" y="14643"/>
                  </a:lnTo>
                  <a:lnTo>
                    <a:pt x="5482756" y="48431"/>
                  </a:lnTo>
                  <a:lnTo>
                    <a:pt x="5486398" y="66747"/>
                  </a:lnTo>
                  <a:lnTo>
                    <a:pt x="5486398" y="923850"/>
                  </a:lnTo>
                  <a:lnTo>
                    <a:pt x="5471754" y="962745"/>
                  </a:lnTo>
                  <a:lnTo>
                    <a:pt x="5437965" y="986955"/>
                  </a:lnTo>
                  <a:lnTo>
                    <a:pt x="5424296" y="990139"/>
                  </a:lnTo>
                  <a:lnTo>
                    <a:pt x="5419651" y="990598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05536" y="966786"/>
              <a:ext cx="5486400" cy="990600"/>
            </a:xfrm>
            <a:custGeom>
              <a:avLst/>
              <a:gdLst/>
              <a:ahLst/>
              <a:cxnLst/>
              <a:rect l="l" t="t" r="r" b="b"/>
              <a:pathLst>
                <a:path w="5486400" h="990600">
                  <a:moveTo>
                    <a:pt x="0" y="919162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7607" y="24240"/>
                  </a:lnTo>
                  <a:lnTo>
                    <a:pt x="31748" y="12036"/>
                  </a:lnTo>
                  <a:lnTo>
                    <a:pt x="35648" y="9429"/>
                  </a:lnTo>
                  <a:lnTo>
                    <a:pt x="39765" y="7229"/>
                  </a:lnTo>
                  <a:lnTo>
                    <a:pt x="44099" y="5434"/>
                  </a:lnTo>
                  <a:lnTo>
                    <a:pt x="48433" y="3639"/>
                  </a:lnTo>
                  <a:lnTo>
                    <a:pt x="52900" y="2283"/>
                  </a:lnTo>
                  <a:lnTo>
                    <a:pt x="57501" y="1369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414962" y="0"/>
                  </a:lnTo>
                  <a:lnTo>
                    <a:pt x="5419651" y="0"/>
                  </a:lnTo>
                  <a:lnTo>
                    <a:pt x="5424296" y="456"/>
                  </a:lnTo>
                  <a:lnTo>
                    <a:pt x="5428897" y="1369"/>
                  </a:lnTo>
                  <a:lnTo>
                    <a:pt x="5433498" y="2283"/>
                  </a:lnTo>
                  <a:lnTo>
                    <a:pt x="5437965" y="3639"/>
                  </a:lnTo>
                  <a:lnTo>
                    <a:pt x="5442299" y="5434"/>
                  </a:lnTo>
                  <a:lnTo>
                    <a:pt x="5446632" y="7229"/>
                  </a:lnTo>
                  <a:lnTo>
                    <a:pt x="5474360" y="31746"/>
                  </a:lnTo>
                  <a:lnTo>
                    <a:pt x="5476965" y="35646"/>
                  </a:lnTo>
                  <a:lnTo>
                    <a:pt x="5486400" y="71437"/>
                  </a:lnTo>
                  <a:lnTo>
                    <a:pt x="5486400" y="919162"/>
                  </a:lnTo>
                  <a:lnTo>
                    <a:pt x="5474360" y="958846"/>
                  </a:lnTo>
                  <a:lnTo>
                    <a:pt x="5454649" y="978558"/>
                  </a:lnTo>
                  <a:lnTo>
                    <a:pt x="5450749" y="981165"/>
                  </a:lnTo>
                  <a:lnTo>
                    <a:pt x="5428897" y="989225"/>
                  </a:lnTo>
                  <a:lnTo>
                    <a:pt x="5424296" y="990139"/>
                  </a:lnTo>
                  <a:lnTo>
                    <a:pt x="5419651" y="990598"/>
                  </a:lnTo>
                  <a:lnTo>
                    <a:pt x="5414962" y="990599"/>
                  </a:lnTo>
                  <a:lnTo>
                    <a:pt x="71438" y="990599"/>
                  </a:lnTo>
                  <a:lnTo>
                    <a:pt x="66747" y="990598"/>
                  </a:lnTo>
                  <a:lnTo>
                    <a:pt x="62101" y="990139"/>
                  </a:lnTo>
                  <a:lnTo>
                    <a:pt x="57501" y="989225"/>
                  </a:lnTo>
                  <a:lnTo>
                    <a:pt x="52900" y="988312"/>
                  </a:lnTo>
                  <a:lnTo>
                    <a:pt x="17607" y="966356"/>
                  </a:lnTo>
                  <a:lnTo>
                    <a:pt x="457" y="928494"/>
                  </a:lnTo>
                  <a:lnTo>
                    <a:pt x="0" y="923850"/>
                  </a:lnTo>
                  <a:lnTo>
                    <a:pt x="0" y="919162"/>
                  </a:lnTo>
                  <a:close/>
                </a:path>
              </a:pathLst>
            </a:custGeom>
            <a:ln w="9524">
              <a:solidFill>
                <a:srgbClr val="B8C7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53162" y="1609724"/>
              <a:ext cx="2600325" cy="219075"/>
            </a:xfrm>
            <a:custGeom>
              <a:avLst/>
              <a:gdLst/>
              <a:ahLst/>
              <a:cxnLst/>
              <a:rect l="l" t="t" r="r" b="b"/>
              <a:pathLst>
                <a:path w="2600325" h="219075">
                  <a:moveTo>
                    <a:pt x="857250" y="24790"/>
                  </a:moveTo>
                  <a:lnTo>
                    <a:pt x="8324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90500"/>
                  </a:lnTo>
                  <a:lnTo>
                    <a:pt x="0" y="194297"/>
                  </a:lnTo>
                  <a:lnTo>
                    <a:pt x="24790" y="219075"/>
                  </a:lnTo>
                  <a:lnTo>
                    <a:pt x="832472" y="219075"/>
                  </a:lnTo>
                  <a:lnTo>
                    <a:pt x="857250" y="194297"/>
                  </a:lnTo>
                  <a:lnTo>
                    <a:pt x="857250" y="24790"/>
                  </a:lnTo>
                  <a:close/>
                </a:path>
                <a:path w="2600325" h="219075">
                  <a:moveTo>
                    <a:pt x="1657350" y="24790"/>
                  </a:moveTo>
                  <a:lnTo>
                    <a:pt x="1632572" y="0"/>
                  </a:lnTo>
                  <a:lnTo>
                    <a:pt x="920140" y="0"/>
                  </a:lnTo>
                  <a:lnTo>
                    <a:pt x="895350" y="24790"/>
                  </a:lnTo>
                  <a:lnTo>
                    <a:pt x="895350" y="190500"/>
                  </a:lnTo>
                  <a:lnTo>
                    <a:pt x="895350" y="194297"/>
                  </a:lnTo>
                  <a:lnTo>
                    <a:pt x="920140" y="219075"/>
                  </a:lnTo>
                  <a:lnTo>
                    <a:pt x="1632572" y="219075"/>
                  </a:lnTo>
                  <a:lnTo>
                    <a:pt x="1657350" y="194297"/>
                  </a:lnTo>
                  <a:lnTo>
                    <a:pt x="1657350" y="24790"/>
                  </a:lnTo>
                  <a:close/>
                </a:path>
                <a:path w="2600325" h="219075">
                  <a:moveTo>
                    <a:pt x="2600325" y="24790"/>
                  </a:moveTo>
                  <a:lnTo>
                    <a:pt x="2575547" y="0"/>
                  </a:lnTo>
                  <a:lnTo>
                    <a:pt x="1720240" y="0"/>
                  </a:lnTo>
                  <a:lnTo>
                    <a:pt x="1695450" y="24790"/>
                  </a:lnTo>
                  <a:lnTo>
                    <a:pt x="1695450" y="190500"/>
                  </a:lnTo>
                  <a:lnTo>
                    <a:pt x="1695450" y="194297"/>
                  </a:lnTo>
                  <a:lnTo>
                    <a:pt x="1720240" y="219075"/>
                  </a:lnTo>
                  <a:lnTo>
                    <a:pt x="2575547" y="219075"/>
                  </a:lnTo>
                  <a:lnTo>
                    <a:pt x="2600325" y="194297"/>
                  </a:lnTo>
                  <a:lnTo>
                    <a:pt x="2600325" y="24790"/>
                  </a:lnTo>
                  <a:close/>
                </a:path>
              </a:pathLst>
            </a:custGeom>
            <a:solidFill>
              <a:srgbClr val="1F3F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200773" y="2057399"/>
            <a:ext cx="5495925" cy="1409700"/>
            <a:chOff x="6200773" y="2057399"/>
            <a:chExt cx="5495925" cy="1409700"/>
          </a:xfrm>
        </p:grpSpPr>
        <p:sp>
          <p:nvSpPr>
            <p:cNvPr id="13" name="object 13" descr=""/>
            <p:cNvSpPr/>
            <p:nvPr/>
          </p:nvSpPr>
          <p:spPr>
            <a:xfrm>
              <a:off x="6205536" y="2062161"/>
              <a:ext cx="5486400" cy="1400175"/>
            </a:xfrm>
            <a:custGeom>
              <a:avLst/>
              <a:gdLst/>
              <a:ahLst/>
              <a:cxnLst/>
              <a:rect l="l" t="t" r="r" b="b"/>
              <a:pathLst>
                <a:path w="5486400" h="1400175">
                  <a:moveTo>
                    <a:pt x="5419651" y="1400174"/>
                  </a:moveTo>
                  <a:lnTo>
                    <a:pt x="66747" y="1400174"/>
                  </a:lnTo>
                  <a:lnTo>
                    <a:pt x="62101" y="1399716"/>
                  </a:lnTo>
                  <a:lnTo>
                    <a:pt x="24239" y="1382564"/>
                  </a:lnTo>
                  <a:lnTo>
                    <a:pt x="2288" y="1347273"/>
                  </a:lnTo>
                  <a:lnTo>
                    <a:pt x="0" y="1333427"/>
                  </a:lnTo>
                  <a:lnTo>
                    <a:pt x="0" y="1328737"/>
                  </a:lnTo>
                  <a:lnTo>
                    <a:pt x="0" y="66747"/>
                  </a:lnTo>
                  <a:lnTo>
                    <a:pt x="14645" y="27847"/>
                  </a:lnTo>
                  <a:lnTo>
                    <a:pt x="48433" y="3644"/>
                  </a:lnTo>
                  <a:lnTo>
                    <a:pt x="66747" y="0"/>
                  </a:lnTo>
                  <a:lnTo>
                    <a:pt x="5419651" y="0"/>
                  </a:lnTo>
                  <a:lnTo>
                    <a:pt x="5458549" y="14643"/>
                  </a:lnTo>
                  <a:lnTo>
                    <a:pt x="5482756" y="48429"/>
                  </a:lnTo>
                  <a:lnTo>
                    <a:pt x="5486398" y="66747"/>
                  </a:lnTo>
                  <a:lnTo>
                    <a:pt x="5486398" y="1333427"/>
                  </a:lnTo>
                  <a:lnTo>
                    <a:pt x="5471754" y="1372322"/>
                  </a:lnTo>
                  <a:lnTo>
                    <a:pt x="5437965" y="1396530"/>
                  </a:lnTo>
                  <a:lnTo>
                    <a:pt x="5424296" y="1399716"/>
                  </a:lnTo>
                  <a:lnTo>
                    <a:pt x="5419651" y="1400174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05536" y="2062161"/>
              <a:ext cx="5486400" cy="1400175"/>
            </a:xfrm>
            <a:custGeom>
              <a:avLst/>
              <a:gdLst/>
              <a:ahLst/>
              <a:cxnLst/>
              <a:rect l="l" t="t" r="r" b="b"/>
              <a:pathLst>
                <a:path w="5486400" h="1400175">
                  <a:moveTo>
                    <a:pt x="0" y="13287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7607" y="24238"/>
                  </a:lnTo>
                  <a:lnTo>
                    <a:pt x="20923" y="20921"/>
                  </a:lnTo>
                  <a:lnTo>
                    <a:pt x="24239" y="17603"/>
                  </a:lnTo>
                  <a:lnTo>
                    <a:pt x="27848" y="14643"/>
                  </a:lnTo>
                  <a:lnTo>
                    <a:pt x="31748" y="12038"/>
                  </a:lnTo>
                  <a:lnTo>
                    <a:pt x="35648" y="9431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414962" y="0"/>
                  </a:lnTo>
                  <a:lnTo>
                    <a:pt x="5419651" y="0"/>
                  </a:lnTo>
                  <a:lnTo>
                    <a:pt x="5424296" y="458"/>
                  </a:lnTo>
                  <a:lnTo>
                    <a:pt x="5454649" y="12038"/>
                  </a:lnTo>
                  <a:lnTo>
                    <a:pt x="5458549" y="14643"/>
                  </a:lnTo>
                  <a:lnTo>
                    <a:pt x="5462158" y="17603"/>
                  </a:lnTo>
                  <a:lnTo>
                    <a:pt x="5465475" y="20921"/>
                  </a:lnTo>
                  <a:lnTo>
                    <a:pt x="5468793" y="24238"/>
                  </a:lnTo>
                  <a:lnTo>
                    <a:pt x="5485026" y="57501"/>
                  </a:lnTo>
                  <a:lnTo>
                    <a:pt x="5485941" y="62101"/>
                  </a:lnTo>
                  <a:lnTo>
                    <a:pt x="5486398" y="66747"/>
                  </a:lnTo>
                  <a:lnTo>
                    <a:pt x="5486400" y="71437"/>
                  </a:lnTo>
                  <a:lnTo>
                    <a:pt x="5486400" y="1328737"/>
                  </a:lnTo>
                  <a:lnTo>
                    <a:pt x="5486398" y="1333427"/>
                  </a:lnTo>
                  <a:lnTo>
                    <a:pt x="5485941" y="1338073"/>
                  </a:lnTo>
                  <a:lnTo>
                    <a:pt x="5485026" y="1342671"/>
                  </a:lnTo>
                  <a:lnTo>
                    <a:pt x="5484111" y="1347273"/>
                  </a:lnTo>
                  <a:lnTo>
                    <a:pt x="5462158" y="1382564"/>
                  </a:lnTo>
                  <a:lnTo>
                    <a:pt x="5442299" y="1394733"/>
                  </a:lnTo>
                  <a:lnTo>
                    <a:pt x="5437965" y="1396530"/>
                  </a:lnTo>
                  <a:lnTo>
                    <a:pt x="5433498" y="1397884"/>
                  </a:lnTo>
                  <a:lnTo>
                    <a:pt x="5428897" y="1398798"/>
                  </a:lnTo>
                  <a:lnTo>
                    <a:pt x="5424296" y="1399716"/>
                  </a:lnTo>
                  <a:lnTo>
                    <a:pt x="5419651" y="1400174"/>
                  </a:lnTo>
                  <a:lnTo>
                    <a:pt x="5414962" y="1400174"/>
                  </a:lnTo>
                  <a:lnTo>
                    <a:pt x="71438" y="1400174"/>
                  </a:lnTo>
                  <a:lnTo>
                    <a:pt x="66747" y="1400174"/>
                  </a:lnTo>
                  <a:lnTo>
                    <a:pt x="62101" y="1399716"/>
                  </a:lnTo>
                  <a:lnTo>
                    <a:pt x="57501" y="1398798"/>
                  </a:lnTo>
                  <a:lnTo>
                    <a:pt x="52900" y="1397884"/>
                  </a:lnTo>
                  <a:lnTo>
                    <a:pt x="48433" y="1396530"/>
                  </a:lnTo>
                  <a:lnTo>
                    <a:pt x="44099" y="1394733"/>
                  </a:lnTo>
                  <a:lnTo>
                    <a:pt x="39765" y="1392937"/>
                  </a:lnTo>
                  <a:lnTo>
                    <a:pt x="35648" y="1390738"/>
                  </a:lnTo>
                  <a:lnTo>
                    <a:pt x="31748" y="1388131"/>
                  </a:lnTo>
                  <a:lnTo>
                    <a:pt x="27847" y="1385524"/>
                  </a:lnTo>
                  <a:lnTo>
                    <a:pt x="12039" y="1368425"/>
                  </a:lnTo>
                  <a:lnTo>
                    <a:pt x="9433" y="1364525"/>
                  </a:lnTo>
                  <a:lnTo>
                    <a:pt x="7233" y="1360408"/>
                  </a:lnTo>
                  <a:lnTo>
                    <a:pt x="5438" y="1356073"/>
                  </a:lnTo>
                  <a:lnTo>
                    <a:pt x="3643" y="1351740"/>
                  </a:lnTo>
                  <a:lnTo>
                    <a:pt x="2288" y="1347273"/>
                  </a:lnTo>
                  <a:lnTo>
                    <a:pt x="1372" y="1342671"/>
                  </a:lnTo>
                  <a:lnTo>
                    <a:pt x="457" y="1338073"/>
                  </a:lnTo>
                  <a:lnTo>
                    <a:pt x="0" y="1333427"/>
                  </a:lnTo>
                  <a:lnTo>
                    <a:pt x="0" y="132873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15062" y="2476499"/>
              <a:ext cx="47625" cy="752475"/>
            </a:xfrm>
            <a:custGeom>
              <a:avLst/>
              <a:gdLst/>
              <a:ahLst/>
              <a:cxnLst/>
              <a:rect l="l" t="t" r="r" b="b"/>
              <a:pathLst>
                <a:path w="47625" h="752475">
                  <a:moveTo>
                    <a:pt x="47625" y="725512"/>
                  </a:moveTo>
                  <a:lnTo>
                    <a:pt x="26974" y="704850"/>
                  </a:lnTo>
                  <a:lnTo>
                    <a:pt x="20662" y="704850"/>
                  </a:lnTo>
                  <a:lnTo>
                    <a:pt x="0" y="725512"/>
                  </a:lnTo>
                  <a:lnTo>
                    <a:pt x="0" y="731824"/>
                  </a:lnTo>
                  <a:lnTo>
                    <a:pt x="20662" y="752475"/>
                  </a:lnTo>
                  <a:lnTo>
                    <a:pt x="26974" y="752475"/>
                  </a:lnTo>
                  <a:lnTo>
                    <a:pt x="47625" y="731824"/>
                  </a:lnTo>
                  <a:lnTo>
                    <a:pt x="47625" y="728662"/>
                  </a:lnTo>
                  <a:lnTo>
                    <a:pt x="47625" y="725512"/>
                  </a:lnTo>
                  <a:close/>
                </a:path>
                <a:path w="47625" h="752475">
                  <a:moveTo>
                    <a:pt x="47625" y="496912"/>
                  </a:moveTo>
                  <a:lnTo>
                    <a:pt x="26974" y="476250"/>
                  </a:lnTo>
                  <a:lnTo>
                    <a:pt x="20662" y="476250"/>
                  </a:lnTo>
                  <a:lnTo>
                    <a:pt x="0" y="496912"/>
                  </a:lnTo>
                  <a:lnTo>
                    <a:pt x="0" y="503224"/>
                  </a:lnTo>
                  <a:lnTo>
                    <a:pt x="20662" y="523875"/>
                  </a:lnTo>
                  <a:lnTo>
                    <a:pt x="26974" y="523875"/>
                  </a:lnTo>
                  <a:lnTo>
                    <a:pt x="47625" y="503224"/>
                  </a:lnTo>
                  <a:lnTo>
                    <a:pt x="47625" y="500062"/>
                  </a:lnTo>
                  <a:lnTo>
                    <a:pt x="47625" y="496912"/>
                  </a:lnTo>
                  <a:close/>
                </a:path>
                <a:path w="47625" h="752475">
                  <a:moveTo>
                    <a:pt x="47625" y="258787"/>
                  </a:moveTo>
                  <a:lnTo>
                    <a:pt x="26974" y="238125"/>
                  </a:lnTo>
                  <a:lnTo>
                    <a:pt x="20662" y="238125"/>
                  </a:lnTo>
                  <a:lnTo>
                    <a:pt x="0" y="258787"/>
                  </a:lnTo>
                  <a:lnTo>
                    <a:pt x="0" y="265099"/>
                  </a:lnTo>
                  <a:lnTo>
                    <a:pt x="20662" y="285750"/>
                  </a:lnTo>
                  <a:lnTo>
                    <a:pt x="26974" y="285750"/>
                  </a:lnTo>
                  <a:lnTo>
                    <a:pt x="47625" y="265099"/>
                  </a:lnTo>
                  <a:lnTo>
                    <a:pt x="47625" y="261937"/>
                  </a:lnTo>
                  <a:lnTo>
                    <a:pt x="47625" y="258787"/>
                  </a:lnTo>
                  <a:close/>
                </a:path>
                <a:path w="47625" h="75247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200773" y="3562348"/>
            <a:ext cx="5495925" cy="3048000"/>
            <a:chOff x="6200773" y="3562348"/>
            <a:chExt cx="5495925" cy="3048000"/>
          </a:xfrm>
        </p:grpSpPr>
        <p:sp>
          <p:nvSpPr>
            <p:cNvPr id="17" name="object 17" descr=""/>
            <p:cNvSpPr/>
            <p:nvPr/>
          </p:nvSpPr>
          <p:spPr>
            <a:xfrm>
              <a:off x="6205536" y="3567111"/>
              <a:ext cx="5486400" cy="3038475"/>
            </a:xfrm>
            <a:custGeom>
              <a:avLst/>
              <a:gdLst/>
              <a:ahLst/>
              <a:cxnLst/>
              <a:rect l="l" t="t" r="r" b="b"/>
              <a:pathLst>
                <a:path w="5486400" h="3038475">
                  <a:moveTo>
                    <a:pt x="5419651" y="3038474"/>
                  </a:moveTo>
                  <a:lnTo>
                    <a:pt x="66747" y="3038474"/>
                  </a:lnTo>
                  <a:lnTo>
                    <a:pt x="62101" y="3038016"/>
                  </a:lnTo>
                  <a:lnTo>
                    <a:pt x="24239" y="3020863"/>
                  </a:lnTo>
                  <a:lnTo>
                    <a:pt x="2288" y="2985571"/>
                  </a:lnTo>
                  <a:lnTo>
                    <a:pt x="0" y="2971727"/>
                  </a:lnTo>
                  <a:lnTo>
                    <a:pt x="0" y="2967037"/>
                  </a:lnTo>
                  <a:lnTo>
                    <a:pt x="0" y="66747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7" y="0"/>
                  </a:lnTo>
                  <a:lnTo>
                    <a:pt x="5419651" y="0"/>
                  </a:lnTo>
                  <a:lnTo>
                    <a:pt x="5458549" y="14643"/>
                  </a:lnTo>
                  <a:lnTo>
                    <a:pt x="5482756" y="48429"/>
                  </a:lnTo>
                  <a:lnTo>
                    <a:pt x="5486398" y="66747"/>
                  </a:lnTo>
                  <a:lnTo>
                    <a:pt x="5486398" y="2971727"/>
                  </a:lnTo>
                  <a:lnTo>
                    <a:pt x="5471754" y="3010620"/>
                  </a:lnTo>
                  <a:lnTo>
                    <a:pt x="5437965" y="3034830"/>
                  </a:lnTo>
                  <a:lnTo>
                    <a:pt x="5424296" y="3038016"/>
                  </a:lnTo>
                  <a:lnTo>
                    <a:pt x="5419651" y="3038474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05536" y="3567111"/>
              <a:ext cx="5486400" cy="3038475"/>
            </a:xfrm>
            <a:custGeom>
              <a:avLst/>
              <a:gdLst/>
              <a:ahLst/>
              <a:cxnLst/>
              <a:rect l="l" t="t" r="r" b="b"/>
              <a:pathLst>
                <a:path w="5486400" h="3038475">
                  <a:moveTo>
                    <a:pt x="0" y="296703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7607" y="24238"/>
                  </a:lnTo>
                  <a:lnTo>
                    <a:pt x="20923" y="20921"/>
                  </a:lnTo>
                  <a:lnTo>
                    <a:pt x="24239" y="17603"/>
                  </a:lnTo>
                  <a:lnTo>
                    <a:pt x="27848" y="14643"/>
                  </a:lnTo>
                  <a:lnTo>
                    <a:pt x="31748" y="12036"/>
                  </a:lnTo>
                  <a:lnTo>
                    <a:pt x="35648" y="9429"/>
                  </a:lnTo>
                  <a:lnTo>
                    <a:pt x="39765" y="7227"/>
                  </a:lnTo>
                  <a:lnTo>
                    <a:pt x="44099" y="5434"/>
                  </a:lnTo>
                  <a:lnTo>
                    <a:pt x="48433" y="3641"/>
                  </a:lnTo>
                  <a:lnTo>
                    <a:pt x="52900" y="2285"/>
                  </a:lnTo>
                  <a:lnTo>
                    <a:pt x="57501" y="1369"/>
                  </a:lnTo>
                  <a:lnTo>
                    <a:pt x="62101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5414962" y="0"/>
                  </a:lnTo>
                  <a:lnTo>
                    <a:pt x="5419651" y="0"/>
                  </a:lnTo>
                  <a:lnTo>
                    <a:pt x="5424296" y="456"/>
                  </a:lnTo>
                  <a:lnTo>
                    <a:pt x="5428897" y="1369"/>
                  </a:lnTo>
                  <a:lnTo>
                    <a:pt x="5433498" y="2285"/>
                  </a:lnTo>
                  <a:lnTo>
                    <a:pt x="5437965" y="3641"/>
                  </a:lnTo>
                  <a:lnTo>
                    <a:pt x="5442299" y="5434"/>
                  </a:lnTo>
                  <a:lnTo>
                    <a:pt x="5446632" y="7227"/>
                  </a:lnTo>
                  <a:lnTo>
                    <a:pt x="5465475" y="20921"/>
                  </a:lnTo>
                  <a:lnTo>
                    <a:pt x="5468793" y="24238"/>
                  </a:lnTo>
                  <a:lnTo>
                    <a:pt x="5471754" y="27847"/>
                  </a:lnTo>
                  <a:lnTo>
                    <a:pt x="5474360" y="31746"/>
                  </a:lnTo>
                  <a:lnTo>
                    <a:pt x="5476965" y="35646"/>
                  </a:lnTo>
                  <a:lnTo>
                    <a:pt x="5486400" y="71437"/>
                  </a:lnTo>
                  <a:lnTo>
                    <a:pt x="5486400" y="2967037"/>
                  </a:lnTo>
                  <a:lnTo>
                    <a:pt x="5486398" y="2971727"/>
                  </a:lnTo>
                  <a:lnTo>
                    <a:pt x="5485941" y="2976371"/>
                  </a:lnTo>
                  <a:lnTo>
                    <a:pt x="5485026" y="2980971"/>
                  </a:lnTo>
                  <a:lnTo>
                    <a:pt x="5484111" y="2985571"/>
                  </a:lnTo>
                  <a:lnTo>
                    <a:pt x="5462158" y="3020863"/>
                  </a:lnTo>
                  <a:lnTo>
                    <a:pt x="5442299" y="3033033"/>
                  </a:lnTo>
                  <a:lnTo>
                    <a:pt x="5437965" y="3034830"/>
                  </a:lnTo>
                  <a:lnTo>
                    <a:pt x="5433498" y="3036183"/>
                  </a:lnTo>
                  <a:lnTo>
                    <a:pt x="5428897" y="3037098"/>
                  </a:lnTo>
                  <a:lnTo>
                    <a:pt x="5424296" y="3038016"/>
                  </a:lnTo>
                  <a:lnTo>
                    <a:pt x="5419651" y="3038474"/>
                  </a:lnTo>
                  <a:lnTo>
                    <a:pt x="5414962" y="3038474"/>
                  </a:lnTo>
                  <a:lnTo>
                    <a:pt x="71438" y="3038474"/>
                  </a:lnTo>
                  <a:lnTo>
                    <a:pt x="66747" y="3038474"/>
                  </a:lnTo>
                  <a:lnTo>
                    <a:pt x="62101" y="3038016"/>
                  </a:lnTo>
                  <a:lnTo>
                    <a:pt x="57501" y="3037100"/>
                  </a:lnTo>
                  <a:lnTo>
                    <a:pt x="52900" y="3036186"/>
                  </a:lnTo>
                  <a:lnTo>
                    <a:pt x="48433" y="3034830"/>
                  </a:lnTo>
                  <a:lnTo>
                    <a:pt x="44099" y="3033033"/>
                  </a:lnTo>
                  <a:lnTo>
                    <a:pt x="39765" y="3031237"/>
                  </a:lnTo>
                  <a:lnTo>
                    <a:pt x="35648" y="3029035"/>
                  </a:lnTo>
                  <a:lnTo>
                    <a:pt x="31748" y="3026429"/>
                  </a:lnTo>
                  <a:lnTo>
                    <a:pt x="27847" y="3023824"/>
                  </a:lnTo>
                  <a:lnTo>
                    <a:pt x="5438" y="2994370"/>
                  </a:lnTo>
                  <a:lnTo>
                    <a:pt x="3643" y="2990038"/>
                  </a:lnTo>
                  <a:lnTo>
                    <a:pt x="2288" y="2985571"/>
                  </a:lnTo>
                  <a:lnTo>
                    <a:pt x="1372" y="2980971"/>
                  </a:lnTo>
                  <a:lnTo>
                    <a:pt x="457" y="2976371"/>
                  </a:lnTo>
                  <a:lnTo>
                    <a:pt x="0" y="2971727"/>
                  </a:lnTo>
                  <a:lnTo>
                    <a:pt x="0" y="2967037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49974" y="577087"/>
            <a:ext cx="4795520" cy="3912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강화학습</a:t>
            </a:r>
            <a:r>
              <a:rPr dirty="0" sz="1350" spc="-130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170" b="1">
                <a:solidFill>
                  <a:srgbClr val="1F3F6E"/>
                </a:solidFill>
                <a:latin typeface="Noto Sans KR"/>
                <a:cs typeface="Noto Sans KR"/>
              </a:rPr>
              <a:t>×</a:t>
            </a:r>
            <a:r>
              <a:rPr dirty="0" sz="1350" spc="35" b="1">
                <a:solidFill>
                  <a:srgbClr val="1F3F6E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디지털</a:t>
            </a:r>
            <a:r>
              <a:rPr dirty="0" sz="1350" spc="-130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F3F6E"/>
                </a:solidFill>
                <a:latin typeface="맑은 고딕"/>
                <a:cs typeface="맑은 고딕"/>
              </a:rPr>
              <a:t>트윈</a:t>
            </a:r>
            <a:endParaRPr sz="135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맑은 고딕"/>
              <a:cs typeface="맑은 고딕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📌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핵심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개념</a:t>
            </a:r>
            <a:endParaRPr sz="1150">
              <a:latin typeface="맑은 고딕"/>
              <a:cs typeface="맑은 고딕"/>
            </a:endParaRPr>
          </a:p>
          <a:p>
            <a:pPr marL="183515">
              <a:lnSpc>
                <a:spcPct val="100000"/>
              </a:lnSpc>
              <a:spcBef>
                <a:spcPts val="384"/>
              </a:spcBef>
            </a:pPr>
            <a:r>
              <a:rPr dirty="0" sz="1100" spc="260">
                <a:solidFill>
                  <a:srgbClr val="444444"/>
                </a:solidFill>
                <a:latin typeface="휴먼아미체"/>
                <a:cs typeface="휴먼아미체"/>
              </a:rPr>
              <a:t>에이전트가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90" b="1">
                <a:solidFill>
                  <a:srgbClr val="444444"/>
                </a:solidFill>
                <a:latin typeface="맑은 고딕"/>
                <a:cs typeface="맑은 고딕"/>
              </a:rPr>
              <a:t>환경</a:t>
            </a:r>
            <a:r>
              <a:rPr dirty="0" sz="1100" spc="-90" b="1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90" b="1">
                <a:solidFill>
                  <a:srgbClr val="444444"/>
                </a:solidFill>
                <a:latin typeface="Noto Sans KR"/>
                <a:cs typeface="Noto Sans KR"/>
              </a:rPr>
              <a:t>Digital</a:t>
            </a:r>
            <a:r>
              <a:rPr dirty="0" sz="1100" spc="50" b="1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95" b="1">
                <a:solidFill>
                  <a:srgbClr val="444444"/>
                </a:solidFill>
                <a:latin typeface="Noto Sans KR"/>
                <a:cs typeface="Noto Sans KR"/>
              </a:rPr>
              <a:t>Twin</a:t>
            </a:r>
            <a:r>
              <a:rPr dirty="0" sz="1100" spc="-95" b="1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100" spc="-95" b="1">
                <a:solidFill>
                  <a:srgbClr val="444444"/>
                </a:solidFill>
                <a:latin typeface="맑은 고딕"/>
                <a:cs typeface="맑은 고딕"/>
              </a:rPr>
              <a:t>과</a:t>
            </a:r>
            <a:r>
              <a:rPr dirty="0" sz="1100" spc="-8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00" spc="-65" b="1">
                <a:solidFill>
                  <a:srgbClr val="444444"/>
                </a:solidFill>
                <a:latin typeface="맑은 고딕"/>
                <a:cs typeface="맑은 고딕"/>
              </a:rPr>
              <a:t>상호작용</a:t>
            </a:r>
            <a:r>
              <a:rPr dirty="0" sz="1100" spc="-65">
                <a:solidFill>
                  <a:srgbClr val="444444"/>
                </a:solidFill>
                <a:latin typeface="휴먼아미체"/>
                <a:cs typeface="휴먼아미체"/>
              </a:rPr>
              <a:t>하며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누적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보상을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최대화하는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00">
                <a:solidFill>
                  <a:srgbClr val="444444"/>
                </a:solidFill>
                <a:latin typeface="휴먼아미체"/>
                <a:cs typeface="휴먼아미체"/>
              </a:rPr>
              <a:t>정책</a:t>
            </a:r>
            <a:r>
              <a:rPr dirty="0" sz="1100" spc="100">
                <a:solidFill>
                  <a:srgbClr val="444444"/>
                </a:solidFill>
                <a:latin typeface="Arial"/>
                <a:cs typeface="Arial"/>
              </a:rPr>
              <a:t>(π)</a:t>
            </a:r>
            <a:r>
              <a:rPr dirty="0" sz="1100" spc="100">
                <a:solidFill>
                  <a:srgbClr val="444444"/>
                </a:solidFill>
                <a:latin typeface="휴먼아미체"/>
                <a:cs typeface="휴먼아미체"/>
              </a:rPr>
              <a:t>을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5">
                <a:solidFill>
                  <a:srgbClr val="444444"/>
                </a:solidFill>
                <a:latin typeface="휴먼아미체"/>
                <a:cs typeface="휴먼아미체"/>
              </a:rPr>
              <a:t>학습</a:t>
            </a: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휴먼아미체"/>
              <a:cs typeface="휴먼아미체"/>
            </a:endParaRPr>
          </a:p>
          <a:p>
            <a:pPr marL="278765">
              <a:lnSpc>
                <a:spcPct val="100000"/>
              </a:lnSpc>
              <a:tabLst>
                <a:tab pos="1173480" algn="l"/>
                <a:tab pos="1974214" algn="l"/>
              </a:tabLst>
            </a:pP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상태</a:t>
            </a:r>
            <a:r>
              <a:rPr dirty="0" sz="900" spc="-7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45" b="1">
                <a:solidFill>
                  <a:srgbClr val="FFFFFF"/>
                </a:solidFill>
                <a:latin typeface="Noto Sans KR"/>
                <a:cs typeface="Noto Sans KR"/>
              </a:rPr>
              <a:t>S</a:t>
            </a:r>
            <a:r>
              <a:rPr dirty="0" baseline="-18518" sz="1125" spc="-67" b="1">
                <a:solidFill>
                  <a:srgbClr val="FFFFFF"/>
                </a:solidFill>
                <a:latin typeface="Noto Sans KR"/>
                <a:cs typeface="Noto Sans KR"/>
              </a:rPr>
              <a:t>t</a:t>
            </a:r>
            <a:r>
              <a:rPr dirty="0" sz="950" spc="-4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9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0" b="1">
                <a:solidFill>
                  <a:srgbClr val="FFFFFF"/>
                </a:solidFill>
                <a:latin typeface="Noto Sans KR"/>
                <a:cs typeface="Noto Sans KR"/>
              </a:rPr>
              <a:t>21</a:t>
            </a:r>
            <a:r>
              <a:rPr dirty="0" sz="900" spc="-20" b="1">
                <a:solidFill>
                  <a:srgbClr val="FFFFFF"/>
                </a:solidFill>
                <a:latin typeface="맑은 고딕"/>
                <a:cs typeface="맑은 고딕"/>
              </a:rPr>
              <a:t>차원</a:t>
            </a:r>
            <a:r>
              <a:rPr dirty="0" sz="900" b="1">
                <a:solidFill>
                  <a:srgbClr val="FFFFFF"/>
                </a:solidFill>
                <a:latin typeface="맑은 고딕"/>
                <a:cs typeface="맑은 고딕"/>
              </a:rPr>
              <a:t>	</a:t>
            </a: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행동</a:t>
            </a:r>
            <a:r>
              <a:rPr dirty="0" sz="900" spc="-7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45" b="1">
                <a:solidFill>
                  <a:srgbClr val="FFFFFF"/>
                </a:solidFill>
                <a:latin typeface="Noto Sans KR"/>
                <a:cs typeface="Noto Sans KR"/>
              </a:rPr>
              <a:t>A</a:t>
            </a:r>
            <a:r>
              <a:rPr dirty="0" baseline="-18518" sz="1125" spc="-67" b="1">
                <a:solidFill>
                  <a:srgbClr val="FFFFFF"/>
                </a:solidFill>
                <a:latin typeface="Noto Sans KR"/>
                <a:cs typeface="Noto Sans KR"/>
              </a:rPr>
              <a:t>t</a:t>
            </a:r>
            <a:r>
              <a:rPr dirty="0" sz="950" spc="-4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95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10</a:t>
            </a: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개</a:t>
            </a:r>
            <a:r>
              <a:rPr dirty="0" sz="900" b="1">
                <a:solidFill>
                  <a:srgbClr val="FFFFFF"/>
                </a:solidFill>
                <a:latin typeface="맑은 고딕"/>
                <a:cs typeface="맑은 고딕"/>
              </a:rPr>
              <a:t>	</a:t>
            </a: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보상</a:t>
            </a:r>
            <a:r>
              <a:rPr dirty="0" sz="900" spc="-9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45" b="1">
                <a:solidFill>
                  <a:srgbClr val="FFFFFF"/>
                </a:solidFill>
                <a:latin typeface="Noto Sans KR"/>
                <a:cs typeface="Noto Sans KR"/>
              </a:rPr>
              <a:t>R</a:t>
            </a:r>
            <a:r>
              <a:rPr dirty="0" baseline="-18518" sz="1125" spc="-67" b="1">
                <a:solidFill>
                  <a:srgbClr val="FFFFFF"/>
                </a:solidFill>
                <a:latin typeface="Noto Sans KR"/>
                <a:cs typeface="Noto Sans KR"/>
              </a:rPr>
              <a:t>t</a:t>
            </a:r>
            <a:r>
              <a:rPr dirty="0" sz="950" spc="-45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r>
              <a:rPr dirty="0" sz="950" spc="-8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50" b="1">
                <a:solidFill>
                  <a:srgbClr val="FFFFFF"/>
                </a:solidFill>
                <a:latin typeface="Noto Sans KR"/>
                <a:cs typeface="Noto Sans KR"/>
              </a:rPr>
              <a:t>CT</a:t>
            </a:r>
            <a:r>
              <a:rPr dirty="0" sz="900" spc="3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기반</a:t>
            </a:r>
            <a:endParaRPr sz="9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</a:pPr>
            <a:endParaRPr sz="11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600">
              <a:latin typeface="맑은 고딕"/>
              <a:cs typeface="맑은 고딕"/>
            </a:endParaRPr>
          </a:p>
          <a:p>
            <a:pPr algn="r" marR="3188335">
              <a:lnSpc>
                <a:spcPct val="100000"/>
              </a:lnSpc>
              <a:spcBef>
                <a:spcPts val="5"/>
              </a:spcBef>
            </a:pPr>
            <a:r>
              <a:rPr dirty="0" sz="1150" spc="695">
                <a:solidFill>
                  <a:srgbClr val="1A1A1A"/>
                </a:solidFill>
                <a:latin typeface="Segoe UI Symbol"/>
                <a:cs typeface="Segoe UI Symbol"/>
              </a:rPr>
              <a:t>🧠</a:t>
            </a:r>
            <a:r>
              <a:rPr dirty="0" sz="1150" spc="-2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65" b="1">
                <a:solidFill>
                  <a:srgbClr val="1A1A1A"/>
                </a:solidFill>
                <a:latin typeface="Noto Sans KR"/>
                <a:cs typeface="Noto Sans KR"/>
              </a:rPr>
              <a:t>Rainbow</a:t>
            </a:r>
            <a:r>
              <a:rPr dirty="0" sz="1150" spc="4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150" spc="-70" b="1">
                <a:solidFill>
                  <a:srgbClr val="1A1A1A"/>
                </a:solidFill>
                <a:latin typeface="Noto Sans KR"/>
                <a:cs typeface="Noto Sans KR"/>
              </a:rPr>
              <a:t>DQN</a:t>
            </a:r>
            <a:r>
              <a:rPr dirty="0" sz="1150" spc="3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구성</a:t>
            </a:r>
            <a:endParaRPr sz="1150">
              <a:latin typeface="맑은 고딕"/>
              <a:cs typeface="맑은 고딕"/>
            </a:endParaRPr>
          </a:p>
          <a:p>
            <a:pPr algn="r" marR="3139440">
              <a:lnSpc>
                <a:spcPct val="100000"/>
              </a:lnSpc>
              <a:spcBef>
                <a:spcPts val="470"/>
              </a:spcBef>
            </a:pP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은닉층</a:t>
            </a:r>
            <a:r>
              <a:rPr dirty="0" sz="1100" spc="25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44444"/>
                </a:solidFill>
                <a:latin typeface="Arial"/>
                <a:cs typeface="Arial"/>
              </a:rPr>
              <a:t>[</a:t>
            </a:r>
            <a:r>
              <a:rPr dirty="0" sz="1100" spc="-50">
                <a:solidFill>
                  <a:srgbClr val="444444"/>
                </a:solidFill>
                <a:latin typeface="Noto Sans KR"/>
                <a:cs typeface="Noto Sans KR"/>
              </a:rPr>
              <a:t>1024</a:t>
            </a:r>
            <a:r>
              <a:rPr dirty="0" sz="1100" spc="-5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512</a:t>
            </a:r>
            <a:r>
              <a:rPr dirty="0" sz="1100" spc="-6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444444"/>
                </a:solidFill>
                <a:latin typeface="Noto Sans KR"/>
                <a:cs typeface="Noto Sans KR"/>
              </a:rPr>
              <a:t>256</a:t>
            </a:r>
            <a:r>
              <a:rPr dirty="0" sz="1100" spc="-20">
                <a:solidFill>
                  <a:srgbClr val="444444"/>
                </a:solidFill>
                <a:latin typeface="Arial"/>
                <a:cs typeface="Arial"/>
              </a:rPr>
              <a:t>]</a:t>
            </a:r>
            <a:endParaRPr sz="1100">
              <a:latin typeface="Arial"/>
              <a:cs typeface="Arial"/>
            </a:endParaRPr>
          </a:p>
          <a:p>
            <a:pPr marL="326390" marR="2547620">
              <a:lnSpc>
                <a:spcPct val="139200"/>
              </a:lnSpc>
              <a:spcBef>
                <a:spcPts val="35"/>
              </a:spcBef>
            </a:pP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Dueling</a:t>
            </a:r>
            <a:r>
              <a:rPr dirty="0" sz="110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+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Double</a:t>
            </a:r>
            <a:r>
              <a:rPr dirty="0" sz="1100" spc="1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DQN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+</a:t>
            </a:r>
            <a:r>
              <a:rPr dirty="0" sz="1100" spc="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PER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Bellman</a:t>
            </a:r>
            <a:r>
              <a:rPr dirty="0" sz="1100" spc="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방정식으로</a:t>
            </a:r>
            <a:r>
              <a:rPr dirty="0" sz="11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Q</a:t>
            </a:r>
            <a:r>
              <a:rPr dirty="0" sz="1100" spc="-70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값</a:t>
            </a:r>
            <a:r>
              <a:rPr dirty="0" sz="11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업데이트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훈련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80</a:t>
            </a:r>
            <a:r>
              <a:rPr dirty="0" sz="110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평가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20</a:t>
            </a:r>
            <a:r>
              <a:rPr dirty="0" sz="110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80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휴먼아미체"/>
              <a:cs typeface="휴먼아미체"/>
            </a:endParaRPr>
          </a:p>
          <a:p>
            <a:pPr marL="183515">
              <a:lnSpc>
                <a:spcPct val="100000"/>
              </a:lnSpc>
            </a:pPr>
            <a:r>
              <a:rPr dirty="0" sz="1150" spc="445">
                <a:solidFill>
                  <a:srgbClr val="1A1A1A"/>
                </a:solidFill>
                <a:latin typeface="Segoe UI Symbol"/>
                <a:cs typeface="Segoe UI Symbol"/>
              </a:rPr>
              <a:t>⚠</a:t>
            </a:r>
            <a:r>
              <a:rPr dirty="0" sz="1150" spc="-25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50" b="1">
                <a:solidFill>
                  <a:srgbClr val="1A1A1A"/>
                </a:solidFill>
                <a:latin typeface="Noto Sans KR"/>
                <a:cs typeface="Noto Sans KR"/>
              </a:rPr>
              <a:t>Pure</a:t>
            </a:r>
            <a:r>
              <a:rPr dirty="0" sz="1150" spc="3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150" spc="-100" b="1">
                <a:solidFill>
                  <a:srgbClr val="1A1A1A"/>
                </a:solidFill>
                <a:latin typeface="Noto Sans KR"/>
                <a:cs typeface="Noto Sans KR"/>
              </a:rPr>
              <a:t>DRL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의</a:t>
            </a:r>
            <a:r>
              <a:rPr dirty="0" sz="1150" spc="-114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문제</a:t>
            </a:r>
            <a:endParaRPr sz="1150">
              <a:latin typeface="맑은 고딕"/>
              <a:cs typeface="맑은 고딕"/>
            </a:endParaRPr>
          </a:p>
          <a:p>
            <a:pPr marL="183515" marR="2265045">
              <a:lnSpc>
                <a:spcPct val="119300"/>
              </a:lnSpc>
              <a:spcBef>
                <a:spcPts val="140"/>
              </a:spcBef>
            </a:pP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동일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설정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00">
                <a:solidFill>
                  <a:srgbClr val="444444"/>
                </a:solidFill>
                <a:latin typeface="Noto Sans KR"/>
                <a:cs typeface="Noto Sans KR"/>
              </a:rPr>
              <a:t>5</a:t>
            </a:r>
            <a:r>
              <a:rPr dirty="0" sz="1100" spc="100">
                <a:solidFill>
                  <a:srgbClr val="444444"/>
                </a:solidFill>
                <a:latin typeface="휴먼아미체"/>
                <a:cs typeface="휴먼아미체"/>
              </a:rPr>
              <a:t>회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실행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45" b="1">
                <a:solidFill>
                  <a:srgbClr val="DF592A"/>
                </a:solidFill>
                <a:latin typeface="Noto Sans KR"/>
                <a:cs typeface="Noto Sans KR"/>
              </a:rPr>
              <a:t>3</a:t>
            </a:r>
            <a:r>
              <a:rPr dirty="0" sz="1100" spc="-145" b="1">
                <a:solidFill>
                  <a:srgbClr val="DF592A"/>
                </a:solidFill>
                <a:latin typeface="맑은 고딕"/>
                <a:cs typeface="맑은 고딕"/>
              </a:rPr>
              <a:t>회</a:t>
            </a:r>
            <a:r>
              <a:rPr dirty="0" sz="1100" spc="-11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10" b="1">
                <a:solidFill>
                  <a:srgbClr val="DF592A"/>
                </a:solidFill>
                <a:latin typeface="맑은 고딕"/>
                <a:cs typeface="맑은 고딕"/>
              </a:rPr>
              <a:t>실패</a:t>
            </a:r>
            <a:r>
              <a:rPr dirty="0" sz="1100" spc="-10" b="1">
                <a:solidFill>
                  <a:srgbClr val="DF592A"/>
                </a:solidFill>
                <a:latin typeface="Arial"/>
                <a:cs typeface="Arial"/>
              </a:rPr>
              <a:t>(</a:t>
            </a:r>
            <a:r>
              <a:rPr dirty="0" sz="1100" spc="-10" b="1">
                <a:solidFill>
                  <a:srgbClr val="DF592A"/>
                </a:solidFill>
                <a:latin typeface="Noto Sans KR"/>
                <a:cs typeface="Noto Sans KR"/>
              </a:rPr>
              <a:t>60%</a:t>
            </a:r>
            <a:r>
              <a:rPr dirty="0" sz="1100" spc="-10" b="1">
                <a:solidFill>
                  <a:srgbClr val="DF592A"/>
                </a:solidFill>
                <a:latin typeface="Arial"/>
                <a:cs typeface="Arial"/>
              </a:rPr>
              <a:t>)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시뮬레이터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수준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비결정성이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학습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궤적을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90">
                <a:solidFill>
                  <a:srgbClr val="444444"/>
                </a:solidFill>
                <a:latin typeface="휴먼아미체"/>
                <a:cs typeface="휴먼아미체"/>
              </a:rPr>
              <a:t>발산</a:t>
            </a:r>
            <a:endParaRPr sz="1100">
              <a:latin typeface="휴먼아미체"/>
              <a:cs typeface="휴먼아미체"/>
            </a:endParaRPr>
          </a:p>
          <a:p>
            <a:pPr marL="183515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5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거버넌스</a:t>
            </a:r>
            <a:r>
              <a:rPr dirty="0" sz="1100" spc="-9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레이어</a:t>
            </a:r>
            <a:r>
              <a:rPr dirty="0" sz="11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없이는</a:t>
            </a:r>
            <a:r>
              <a:rPr dirty="0" sz="1100" spc="-9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신뢰성</a:t>
            </a:r>
            <a:r>
              <a:rPr dirty="0" sz="11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보장</a:t>
            </a:r>
            <a:r>
              <a:rPr dirty="0" sz="1100" spc="-9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DF592A"/>
                </a:solidFill>
                <a:latin typeface="맑은 고딕"/>
                <a:cs typeface="맑은 고딕"/>
              </a:rPr>
              <a:t>불가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6819898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8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23"/>
                </a:moveTo>
                <a:lnTo>
                  <a:pt x="33047" y="200023"/>
                </a:lnTo>
                <a:lnTo>
                  <a:pt x="28187" y="199055"/>
                </a:lnTo>
                <a:lnTo>
                  <a:pt x="966" y="171833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6"/>
                </a:lnTo>
                <a:lnTo>
                  <a:pt x="28187" y="964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86"/>
                </a:lnTo>
                <a:lnTo>
                  <a:pt x="600074" y="33046"/>
                </a:lnTo>
                <a:lnTo>
                  <a:pt x="600074" y="166976"/>
                </a:lnTo>
                <a:lnTo>
                  <a:pt x="571887" y="199055"/>
                </a:lnTo>
                <a:lnTo>
                  <a:pt x="567027" y="200023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구현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구조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50" spc="-335"/>
              <a:t>디지털</a:t>
            </a:r>
            <a:r>
              <a:rPr dirty="0" sz="1850" spc="-190"/>
              <a:t> </a:t>
            </a:r>
            <a:r>
              <a:rPr dirty="0" sz="1850" spc="-335"/>
              <a:t>트윈</a:t>
            </a:r>
            <a:r>
              <a:rPr dirty="0" sz="1850" spc="-190"/>
              <a:t> </a:t>
            </a:r>
            <a:r>
              <a:rPr dirty="0" sz="1850" spc="-335"/>
              <a:t>연계</a:t>
            </a:r>
            <a:r>
              <a:rPr dirty="0" sz="1850" spc="-190"/>
              <a:t> </a:t>
            </a:r>
            <a:r>
              <a:rPr dirty="0" sz="1850" spc="-105">
                <a:latin typeface="Noto Sans KR"/>
                <a:cs typeface="Noto Sans KR"/>
              </a:rPr>
              <a:t>Python</a:t>
            </a:r>
            <a:r>
              <a:rPr dirty="0" sz="1850" spc="40">
                <a:latin typeface="Noto Sans KR"/>
                <a:cs typeface="Noto Sans KR"/>
              </a:rPr>
              <a:t> </a:t>
            </a:r>
            <a:r>
              <a:rPr dirty="0" sz="1850" spc="-355"/>
              <a:t>아키텍처</a:t>
            </a:r>
            <a:endParaRPr sz="1850">
              <a:latin typeface="Noto Sans KR"/>
              <a:cs typeface="Noto Sans KR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23923"/>
            <a:ext cx="7381875" cy="3857625"/>
            <a:chOff x="495299" y="923923"/>
            <a:chExt cx="7381875" cy="385762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28686"/>
              <a:ext cx="7372350" cy="3848100"/>
            </a:xfrm>
            <a:custGeom>
              <a:avLst/>
              <a:gdLst/>
              <a:ahLst/>
              <a:cxnLst/>
              <a:rect l="l" t="t" r="r" b="b"/>
              <a:pathLst>
                <a:path w="7372350" h="3848100">
                  <a:moveTo>
                    <a:pt x="7314501" y="3848099"/>
                  </a:moveTo>
                  <a:lnTo>
                    <a:pt x="57847" y="3848099"/>
                  </a:lnTo>
                  <a:lnTo>
                    <a:pt x="53821" y="3847702"/>
                  </a:lnTo>
                  <a:lnTo>
                    <a:pt x="15259" y="3827086"/>
                  </a:lnTo>
                  <a:lnTo>
                    <a:pt x="0" y="3790249"/>
                  </a:lnTo>
                  <a:lnTo>
                    <a:pt x="0" y="3786187"/>
                  </a:lnTo>
                  <a:lnTo>
                    <a:pt x="0" y="57845"/>
                  </a:lnTo>
                  <a:lnTo>
                    <a:pt x="15259" y="21003"/>
                  </a:lnTo>
                  <a:lnTo>
                    <a:pt x="53821" y="397"/>
                  </a:lnTo>
                  <a:lnTo>
                    <a:pt x="57847" y="0"/>
                  </a:lnTo>
                  <a:lnTo>
                    <a:pt x="7314501" y="0"/>
                  </a:lnTo>
                  <a:lnTo>
                    <a:pt x="7351340" y="15257"/>
                  </a:lnTo>
                  <a:lnTo>
                    <a:pt x="7371952" y="53820"/>
                  </a:lnTo>
                  <a:lnTo>
                    <a:pt x="7372349" y="57845"/>
                  </a:lnTo>
                  <a:lnTo>
                    <a:pt x="7372349" y="3790249"/>
                  </a:lnTo>
                  <a:lnTo>
                    <a:pt x="7357089" y="3827086"/>
                  </a:lnTo>
                  <a:lnTo>
                    <a:pt x="7318527" y="3847702"/>
                  </a:lnTo>
                  <a:lnTo>
                    <a:pt x="7314501" y="3848099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28686"/>
              <a:ext cx="7372350" cy="3848100"/>
            </a:xfrm>
            <a:custGeom>
              <a:avLst/>
              <a:gdLst/>
              <a:ahLst/>
              <a:cxnLst/>
              <a:rect l="l" t="t" r="r" b="b"/>
              <a:pathLst>
                <a:path w="7372350" h="3848100">
                  <a:moveTo>
                    <a:pt x="0" y="3786187"/>
                  </a:moveTo>
                  <a:lnTo>
                    <a:pt x="0" y="61912"/>
                  </a:lnTo>
                  <a:lnTo>
                    <a:pt x="0" y="57845"/>
                  </a:lnTo>
                  <a:lnTo>
                    <a:pt x="396" y="53820"/>
                  </a:lnTo>
                  <a:lnTo>
                    <a:pt x="18133" y="18131"/>
                  </a:lnTo>
                  <a:lnTo>
                    <a:pt x="21008" y="15257"/>
                  </a:lnTo>
                  <a:lnTo>
                    <a:pt x="24135" y="12692"/>
                  </a:lnTo>
                  <a:lnTo>
                    <a:pt x="27515" y="10434"/>
                  </a:lnTo>
                  <a:lnTo>
                    <a:pt x="30895" y="8174"/>
                  </a:lnTo>
                  <a:lnTo>
                    <a:pt x="49833" y="1190"/>
                  </a:lnTo>
                  <a:lnTo>
                    <a:pt x="53821" y="397"/>
                  </a:lnTo>
                  <a:lnTo>
                    <a:pt x="57847" y="0"/>
                  </a:lnTo>
                  <a:lnTo>
                    <a:pt x="61912" y="0"/>
                  </a:lnTo>
                  <a:lnTo>
                    <a:pt x="7310436" y="0"/>
                  </a:lnTo>
                  <a:lnTo>
                    <a:pt x="7314501" y="0"/>
                  </a:lnTo>
                  <a:lnTo>
                    <a:pt x="7318527" y="395"/>
                  </a:lnTo>
                  <a:lnTo>
                    <a:pt x="7354215" y="18131"/>
                  </a:lnTo>
                  <a:lnTo>
                    <a:pt x="7357089" y="21003"/>
                  </a:lnTo>
                  <a:lnTo>
                    <a:pt x="7359656" y="24130"/>
                  </a:lnTo>
                  <a:lnTo>
                    <a:pt x="7361914" y="27512"/>
                  </a:lnTo>
                  <a:lnTo>
                    <a:pt x="7364173" y="30891"/>
                  </a:lnTo>
                  <a:lnTo>
                    <a:pt x="7371159" y="49831"/>
                  </a:lnTo>
                  <a:lnTo>
                    <a:pt x="7371952" y="53820"/>
                  </a:lnTo>
                  <a:lnTo>
                    <a:pt x="7372349" y="57845"/>
                  </a:lnTo>
                  <a:lnTo>
                    <a:pt x="7372349" y="61912"/>
                  </a:lnTo>
                  <a:lnTo>
                    <a:pt x="7372349" y="3786187"/>
                  </a:lnTo>
                  <a:lnTo>
                    <a:pt x="7372349" y="3790249"/>
                  </a:lnTo>
                  <a:lnTo>
                    <a:pt x="7371952" y="3794274"/>
                  </a:lnTo>
                  <a:lnTo>
                    <a:pt x="7361914" y="3820578"/>
                  </a:lnTo>
                  <a:lnTo>
                    <a:pt x="7359656" y="3823959"/>
                  </a:lnTo>
                  <a:lnTo>
                    <a:pt x="7326501" y="3846115"/>
                  </a:lnTo>
                  <a:lnTo>
                    <a:pt x="7314501" y="3848099"/>
                  </a:lnTo>
                  <a:lnTo>
                    <a:pt x="7310436" y="3848099"/>
                  </a:lnTo>
                  <a:lnTo>
                    <a:pt x="61912" y="3848099"/>
                  </a:lnTo>
                  <a:lnTo>
                    <a:pt x="57847" y="3848099"/>
                  </a:lnTo>
                  <a:lnTo>
                    <a:pt x="53821" y="3847702"/>
                  </a:lnTo>
                  <a:lnTo>
                    <a:pt x="49833" y="3846909"/>
                  </a:lnTo>
                  <a:lnTo>
                    <a:pt x="45846" y="3846115"/>
                  </a:lnTo>
                  <a:lnTo>
                    <a:pt x="41975" y="3844939"/>
                  </a:lnTo>
                  <a:lnTo>
                    <a:pt x="38219" y="3843383"/>
                  </a:lnTo>
                  <a:lnTo>
                    <a:pt x="34463" y="3841828"/>
                  </a:lnTo>
                  <a:lnTo>
                    <a:pt x="6268" y="3813631"/>
                  </a:lnTo>
                  <a:lnTo>
                    <a:pt x="0" y="3790249"/>
                  </a:lnTo>
                  <a:lnTo>
                    <a:pt x="0" y="378618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8674" y="990600"/>
              <a:ext cx="6715124" cy="3724274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495299" y="4286248"/>
            <a:ext cx="11201400" cy="2576830"/>
            <a:chOff x="495299" y="4286248"/>
            <a:chExt cx="11201400" cy="2576830"/>
          </a:xfrm>
        </p:grpSpPr>
        <p:sp>
          <p:nvSpPr>
            <p:cNvPr id="10" name="object 10" descr=""/>
            <p:cNvSpPr/>
            <p:nvPr/>
          </p:nvSpPr>
          <p:spPr>
            <a:xfrm>
              <a:off x="500062" y="4881562"/>
              <a:ext cx="7372350" cy="1976755"/>
            </a:xfrm>
            <a:custGeom>
              <a:avLst/>
              <a:gdLst/>
              <a:ahLst/>
              <a:cxnLst/>
              <a:rect l="l" t="t" r="r" b="b"/>
              <a:pathLst>
                <a:path w="7372350" h="1976754">
                  <a:moveTo>
                    <a:pt x="7372349" y="1976436"/>
                  </a:moveTo>
                  <a:lnTo>
                    <a:pt x="0" y="1976436"/>
                  </a:lnTo>
                  <a:lnTo>
                    <a:pt x="0" y="57843"/>
                  </a:lnTo>
                  <a:lnTo>
                    <a:pt x="15259" y="20998"/>
                  </a:lnTo>
                  <a:lnTo>
                    <a:pt x="53821" y="395"/>
                  </a:lnTo>
                  <a:lnTo>
                    <a:pt x="57847" y="0"/>
                  </a:lnTo>
                  <a:lnTo>
                    <a:pt x="7314501" y="0"/>
                  </a:lnTo>
                  <a:lnTo>
                    <a:pt x="7351340" y="15253"/>
                  </a:lnTo>
                  <a:lnTo>
                    <a:pt x="7371952" y="53815"/>
                  </a:lnTo>
                  <a:lnTo>
                    <a:pt x="7372349" y="57843"/>
                  </a:lnTo>
                  <a:lnTo>
                    <a:pt x="7372349" y="1976436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00062" y="4881560"/>
              <a:ext cx="7372350" cy="1976755"/>
            </a:xfrm>
            <a:custGeom>
              <a:avLst/>
              <a:gdLst/>
              <a:ahLst/>
              <a:cxnLst/>
              <a:rect l="l" t="t" r="r" b="b"/>
              <a:pathLst>
                <a:path w="7372350" h="1976754">
                  <a:moveTo>
                    <a:pt x="0" y="1976438"/>
                  </a:moveTo>
                  <a:lnTo>
                    <a:pt x="0" y="61912"/>
                  </a:lnTo>
                  <a:lnTo>
                    <a:pt x="0" y="57845"/>
                  </a:lnTo>
                  <a:lnTo>
                    <a:pt x="396" y="53817"/>
                  </a:lnTo>
                  <a:lnTo>
                    <a:pt x="10434" y="27510"/>
                  </a:lnTo>
                  <a:lnTo>
                    <a:pt x="12692" y="24128"/>
                  </a:lnTo>
                  <a:lnTo>
                    <a:pt x="15259" y="21000"/>
                  </a:lnTo>
                  <a:lnTo>
                    <a:pt x="18133" y="18128"/>
                  </a:lnTo>
                  <a:lnTo>
                    <a:pt x="21008" y="15255"/>
                  </a:lnTo>
                  <a:lnTo>
                    <a:pt x="57847" y="1"/>
                  </a:lnTo>
                  <a:lnTo>
                    <a:pt x="61912" y="0"/>
                  </a:lnTo>
                  <a:lnTo>
                    <a:pt x="7310436" y="0"/>
                  </a:lnTo>
                  <a:lnTo>
                    <a:pt x="7348213" y="12690"/>
                  </a:lnTo>
                  <a:lnTo>
                    <a:pt x="7354215" y="18128"/>
                  </a:lnTo>
                  <a:lnTo>
                    <a:pt x="7357089" y="21000"/>
                  </a:lnTo>
                  <a:lnTo>
                    <a:pt x="7359656" y="24128"/>
                  </a:lnTo>
                  <a:lnTo>
                    <a:pt x="7361914" y="27510"/>
                  </a:lnTo>
                  <a:lnTo>
                    <a:pt x="7364173" y="30888"/>
                  </a:lnTo>
                  <a:lnTo>
                    <a:pt x="7366080" y="34458"/>
                  </a:lnTo>
                  <a:lnTo>
                    <a:pt x="7367635" y="38214"/>
                  </a:lnTo>
                  <a:lnTo>
                    <a:pt x="7369191" y="41970"/>
                  </a:lnTo>
                  <a:lnTo>
                    <a:pt x="7370365" y="45840"/>
                  </a:lnTo>
                  <a:lnTo>
                    <a:pt x="7371159" y="49829"/>
                  </a:lnTo>
                  <a:lnTo>
                    <a:pt x="7371952" y="53817"/>
                  </a:lnTo>
                  <a:lnTo>
                    <a:pt x="7372349" y="57845"/>
                  </a:lnTo>
                  <a:lnTo>
                    <a:pt x="7372349" y="61912"/>
                  </a:lnTo>
                  <a:lnTo>
                    <a:pt x="7372349" y="1976438"/>
                  </a:lnTo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974" y="5133974"/>
              <a:ext cx="7248524" cy="172402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010523" y="4286248"/>
              <a:ext cx="3686175" cy="2571750"/>
            </a:xfrm>
            <a:custGeom>
              <a:avLst/>
              <a:gdLst/>
              <a:ahLst/>
              <a:cxnLst/>
              <a:rect l="l" t="t" r="r" b="b"/>
              <a:pathLst>
                <a:path w="3686175" h="2571750">
                  <a:moveTo>
                    <a:pt x="3686175" y="2571751"/>
                  </a:moveTo>
                  <a:lnTo>
                    <a:pt x="0" y="2571751"/>
                  </a:lnTo>
                  <a:lnTo>
                    <a:pt x="0" y="71195"/>
                  </a:lnTo>
                  <a:lnTo>
                    <a:pt x="15621" y="29702"/>
                  </a:lnTo>
                  <a:lnTo>
                    <a:pt x="51661" y="3883"/>
                  </a:lnTo>
                  <a:lnTo>
                    <a:pt x="71196" y="0"/>
                  </a:lnTo>
                  <a:lnTo>
                    <a:pt x="3614978" y="0"/>
                  </a:lnTo>
                  <a:lnTo>
                    <a:pt x="3656467" y="15620"/>
                  </a:lnTo>
                  <a:lnTo>
                    <a:pt x="3682289" y="51656"/>
                  </a:lnTo>
                  <a:lnTo>
                    <a:pt x="3686175" y="71195"/>
                  </a:lnTo>
                  <a:lnTo>
                    <a:pt x="3686175" y="2571751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8010523" y="923923"/>
            <a:ext cx="3686175" cy="2000250"/>
            <a:chOff x="8010523" y="923923"/>
            <a:chExt cx="3686175" cy="2000250"/>
          </a:xfrm>
        </p:grpSpPr>
        <p:sp>
          <p:nvSpPr>
            <p:cNvPr id="15" name="object 15" descr=""/>
            <p:cNvSpPr/>
            <p:nvPr/>
          </p:nvSpPr>
          <p:spPr>
            <a:xfrm>
              <a:off x="8015285" y="928686"/>
              <a:ext cx="3676650" cy="1990725"/>
            </a:xfrm>
            <a:custGeom>
              <a:avLst/>
              <a:gdLst/>
              <a:ahLst/>
              <a:cxnLst/>
              <a:rect l="l" t="t" r="r" b="b"/>
              <a:pathLst>
                <a:path w="3676650" h="1990725">
                  <a:moveTo>
                    <a:pt x="3609902" y="1990722"/>
                  </a:moveTo>
                  <a:lnTo>
                    <a:pt x="66747" y="1990722"/>
                  </a:lnTo>
                  <a:lnTo>
                    <a:pt x="62100" y="1990264"/>
                  </a:lnTo>
                  <a:lnTo>
                    <a:pt x="24239" y="1973114"/>
                  </a:lnTo>
                  <a:lnTo>
                    <a:pt x="2286" y="1937821"/>
                  </a:lnTo>
                  <a:lnTo>
                    <a:pt x="0" y="1923977"/>
                  </a:lnTo>
                  <a:lnTo>
                    <a:pt x="0" y="1919287"/>
                  </a:lnTo>
                  <a:lnTo>
                    <a:pt x="0" y="66747"/>
                  </a:lnTo>
                  <a:lnTo>
                    <a:pt x="14644" y="27844"/>
                  </a:lnTo>
                  <a:lnTo>
                    <a:pt x="48432" y="3639"/>
                  </a:lnTo>
                  <a:lnTo>
                    <a:pt x="66747" y="0"/>
                  </a:lnTo>
                  <a:lnTo>
                    <a:pt x="3609902" y="0"/>
                  </a:lnTo>
                  <a:lnTo>
                    <a:pt x="3648799" y="14640"/>
                  </a:lnTo>
                  <a:lnTo>
                    <a:pt x="3673006" y="48429"/>
                  </a:lnTo>
                  <a:lnTo>
                    <a:pt x="3676649" y="66747"/>
                  </a:lnTo>
                  <a:lnTo>
                    <a:pt x="3676649" y="1923977"/>
                  </a:lnTo>
                  <a:lnTo>
                    <a:pt x="3662004" y="1962872"/>
                  </a:lnTo>
                  <a:lnTo>
                    <a:pt x="3628216" y="1987078"/>
                  </a:lnTo>
                  <a:lnTo>
                    <a:pt x="3614547" y="1990264"/>
                  </a:lnTo>
                  <a:lnTo>
                    <a:pt x="3609902" y="1990722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15285" y="928686"/>
              <a:ext cx="3676650" cy="1990725"/>
            </a:xfrm>
            <a:custGeom>
              <a:avLst/>
              <a:gdLst/>
              <a:ahLst/>
              <a:cxnLst/>
              <a:rect l="l" t="t" r="r" b="b"/>
              <a:pathLst>
                <a:path w="3676650" h="1990725">
                  <a:moveTo>
                    <a:pt x="0" y="191928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098"/>
                  </a:lnTo>
                  <a:lnTo>
                    <a:pt x="12038" y="31744"/>
                  </a:lnTo>
                  <a:lnTo>
                    <a:pt x="14644" y="27844"/>
                  </a:lnTo>
                  <a:lnTo>
                    <a:pt x="17605" y="24235"/>
                  </a:lnTo>
                  <a:lnTo>
                    <a:pt x="20923" y="20919"/>
                  </a:lnTo>
                  <a:lnTo>
                    <a:pt x="24239" y="17601"/>
                  </a:lnTo>
                  <a:lnTo>
                    <a:pt x="57500" y="1369"/>
                  </a:lnTo>
                  <a:lnTo>
                    <a:pt x="62100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605212" y="0"/>
                  </a:lnTo>
                  <a:lnTo>
                    <a:pt x="3609902" y="0"/>
                  </a:lnTo>
                  <a:lnTo>
                    <a:pt x="3614547" y="456"/>
                  </a:lnTo>
                  <a:lnTo>
                    <a:pt x="3652408" y="17601"/>
                  </a:lnTo>
                  <a:lnTo>
                    <a:pt x="3655725" y="20919"/>
                  </a:lnTo>
                  <a:lnTo>
                    <a:pt x="3659043" y="24235"/>
                  </a:lnTo>
                  <a:lnTo>
                    <a:pt x="3662004" y="27844"/>
                  </a:lnTo>
                  <a:lnTo>
                    <a:pt x="3664610" y="31744"/>
                  </a:lnTo>
                  <a:lnTo>
                    <a:pt x="3667215" y="35644"/>
                  </a:lnTo>
                  <a:lnTo>
                    <a:pt x="3676650" y="71437"/>
                  </a:lnTo>
                  <a:lnTo>
                    <a:pt x="3676650" y="1919287"/>
                  </a:lnTo>
                  <a:lnTo>
                    <a:pt x="3664610" y="1958971"/>
                  </a:lnTo>
                  <a:lnTo>
                    <a:pt x="3662004" y="1962872"/>
                  </a:lnTo>
                  <a:lnTo>
                    <a:pt x="3628216" y="1987078"/>
                  </a:lnTo>
                  <a:lnTo>
                    <a:pt x="3619147" y="1989348"/>
                  </a:lnTo>
                  <a:lnTo>
                    <a:pt x="3614547" y="1990264"/>
                  </a:lnTo>
                  <a:lnTo>
                    <a:pt x="3609902" y="1990722"/>
                  </a:lnTo>
                  <a:lnTo>
                    <a:pt x="3605212" y="1990724"/>
                  </a:lnTo>
                  <a:lnTo>
                    <a:pt x="71438" y="1990724"/>
                  </a:lnTo>
                  <a:lnTo>
                    <a:pt x="66747" y="1990722"/>
                  </a:lnTo>
                  <a:lnTo>
                    <a:pt x="62100" y="1990264"/>
                  </a:lnTo>
                  <a:lnTo>
                    <a:pt x="57499" y="1989348"/>
                  </a:lnTo>
                  <a:lnTo>
                    <a:pt x="52899" y="1988434"/>
                  </a:lnTo>
                  <a:lnTo>
                    <a:pt x="31748" y="1978679"/>
                  </a:lnTo>
                  <a:lnTo>
                    <a:pt x="27848" y="1976074"/>
                  </a:lnTo>
                  <a:lnTo>
                    <a:pt x="12038" y="1958973"/>
                  </a:lnTo>
                  <a:lnTo>
                    <a:pt x="9432" y="1955073"/>
                  </a:lnTo>
                  <a:lnTo>
                    <a:pt x="7231" y="1950957"/>
                  </a:lnTo>
                  <a:lnTo>
                    <a:pt x="5436" y="1946623"/>
                  </a:lnTo>
                  <a:lnTo>
                    <a:pt x="3641" y="1942288"/>
                  </a:lnTo>
                  <a:lnTo>
                    <a:pt x="2286" y="1937821"/>
                  </a:lnTo>
                  <a:lnTo>
                    <a:pt x="1371" y="1933223"/>
                  </a:lnTo>
                  <a:lnTo>
                    <a:pt x="457" y="1928621"/>
                  </a:lnTo>
                  <a:lnTo>
                    <a:pt x="0" y="1923977"/>
                  </a:lnTo>
                  <a:lnTo>
                    <a:pt x="0" y="191928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128049" y="1027239"/>
            <a:ext cx="89217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400">
                <a:solidFill>
                  <a:srgbClr val="1A1A1A"/>
                </a:solidFill>
                <a:latin typeface="Segoe UI Symbol"/>
                <a:cs typeface="Segoe UI Symbol"/>
              </a:rPr>
              <a:t>📁</a:t>
            </a:r>
            <a:r>
              <a:rPr dirty="0" sz="1000" spc="25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모듈별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1A1A1A"/>
                </a:solidFill>
                <a:latin typeface="맑은 고딕"/>
                <a:cs typeface="맑은 고딕"/>
              </a:rPr>
              <a:t>역할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8162923" y="1409698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546714" y="190498"/>
                </a:moveTo>
                <a:lnTo>
                  <a:pt x="24785" y="190498"/>
                </a:lnTo>
                <a:lnTo>
                  <a:pt x="21139" y="189772"/>
                </a:lnTo>
                <a:lnTo>
                  <a:pt x="0" y="165713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546714" y="0"/>
                </a:lnTo>
                <a:lnTo>
                  <a:pt x="571499" y="24785"/>
                </a:lnTo>
                <a:lnTo>
                  <a:pt x="571499" y="165713"/>
                </a:lnTo>
                <a:lnTo>
                  <a:pt x="550359" y="189772"/>
                </a:lnTo>
                <a:lnTo>
                  <a:pt x="546714" y="190498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223299" y="1419488"/>
            <a:ext cx="44767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 b="1">
                <a:solidFill>
                  <a:srgbClr val="FFFFFF"/>
                </a:solidFill>
                <a:latin typeface="Noto Sans KR"/>
                <a:cs typeface="Noto Sans KR"/>
              </a:rPr>
              <a:t>main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900" spc="-10" b="1">
                <a:solidFill>
                  <a:srgbClr val="FFFFFF"/>
                </a:solidFill>
                <a:latin typeface="Noto Sans KR"/>
                <a:cs typeface="Noto Sans KR"/>
              </a:rPr>
              <a:t>py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807598" y="1263059"/>
            <a:ext cx="210248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진입점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루프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제어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각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85">
                <a:solidFill>
                  <a:srgbClr val="444444"/>
                </a:solidFill>
                <a:latin typeface="휴먼아미체"/>
                <a:cs typeface="휴먼아미체"/>
              </a:rPr>
              <a:t>클래스 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orchestrate</a:t>
            </a:r>
            <a:endParaRPr sz="1100">
              <a:latin typeface="Noto Sans KR"/>
              <a:cs typeface="Noto Sans KR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162923" y="1771648"/>
            <a:ext cx="1104900" cy="1019175"/>
            <a:chOff x="8162923" y="1771648"/>
            <a:chExt cx="1104900" cy="1019175"/>
          </a:xfrm>
        </p:grpSpPr>
        <p:sp>
          <p:nvSpPr>
            <p:cNvPr id="22" name="object 22" descr=""/>
            <p:cNvSpPr/>
            <p:nvPr/>
          </p:nvSpPr>
          <p:spPr>
            <a:xfrm>
              <a:off x="8162912" y="1771649"/>
              <a:ext cx="1000125" cy="466725"/>
            </a:xfrm>
            <a:custGeom>
              <a:avLst/>
              <a:gdLst/>
              <a:ahLst/>
              <a:cxnLst/>
              <a:rect l="l" t="t" r="r" b="b"/>
              <a:pathLst>
                <a:path w="1000125" h="466725">
                  <a:moveTo>
                    <a:pt x="542925" y="301015"/>
                  </a:moveTo>
                  <a:lnTo>
                    <a:pt x="518147" y="276225"/>
                  </a:lnTo>
                  <a:lnTo>
                    <a:pt x="24790" y="276225"/>
                  </a:lnTo>
                  <a:lnTo>
                    <a:pt x="0" y="301015"/>
                  </a:lnTo>
                  <a:lnTo>
                    <a:pt x="0" y="438150"/>
                  </a:lnTo>
                  <a:lnTo>
                    <a:pt x="0" y="441947"/>
                  </a:lnTo>
                  <a:lnTo>
                    <a:pt x="24790" y="466725"/>
                  </a:lnTo>
                  <a:lnTo>
                    <a:pt x="518147" y="466725"/>
                  </a:lnTo>
                  <a:lnTo>
                    <a:pt x="542925" y="441947"/>
                  </a:lnTo>
                  <a:lnTo>
                    <a:pt x="542925" y="301015"/>
                  </a:lnTo>
                  <a:close/>
                </a:path>
                <a:path w="1000125" h="466725">
                  <a:moveTo>
                    <a:pt x="1000125" y="24790"/>
                  </a:moveTo>
                  <a:lnTo>
                    <a:pt x="975347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161925"/>
                  </a:lnTo>
                  <a:lnTo>
                    <a:pt x="0" y="165722"/>
                  </a:lnTo>
                  <a:lnTo>
                    <a:pt x="24790" y="190500"/>
                  </a:lnTo>
                  <a:lnTo>
                    <a:pt x="975347" y="190500"/>
                  </a:lnTo>
                  <a:lnTo>
                    <a:pt x="1000125" y="165722"/>
                  </a:lnTo>
                  <a:lnTo>
                    <a:pt x="1000125" y="24790"/>
                  </a:lnTo>
                  <a:close/>
                </a:path>
              </a:pathLst>
            </a:custGeom>
            <a:solidFill>
              <a:srgbClr val="EF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62923" y="2324098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737214" y="190498"/>
                  </a:moveTo>
                  <a:lnTo>
                    <a:pt x="24785" y="190498"/>
                  </a:lnTo>
                  <a:lnTo>
                    <a:pt x="21139" y="189769"/>
                  </a:lnTo>
                  <a:lnTo>
                    <a:pt x="0" y="165713"/>
                  </a:lnTo>
                  <a:lnTo>
                    <a:pt x="0" y="16192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737214" y="0"/>
                  </a:lnTo>
                  <a:lnTo>
                    <a:pt x="761999" y="24785"/>
                  </a:lnTo>
                  <a:lnTo>
                    <a:pt x="761999" y="165713"/>
                  </a:lnTo>
                  <a:lnTo>
                    <a:pt x="740858" y="189769"/>
                  </a:lnTo>
                  <a:lnTo>
                    <a:pt x="737214" y="190498"/>
                  </a:lnTo>
                  <a:close/>
                </a:path>
              </a:pathLst>
            </a:custGeom>
            <a:solidFill>
              <a:srgbClr val="1F3F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162923" y="2600323"/>
              <a:ext cx="1104900" cy="190500"/>
            </a:xfrm>
            <a:custGeom>
              <a:avLst/>
              <a:gdLst/>
              <a:ahLst/>
              <a:cxnLst/>
              <a:rect l="l" t="t" r="r" b="b"/>
              <a:pathLst>
                <a:path w="1104900" h="190500">
                  <a:moveTo>
                    <a:pt x="1080114" y="190498"/>
                  </a:moveTo>
                  <a:lnTo>
                    <a:pt x="24785" y="190498"/>
                  </a:lnTo>
                  <a:lnTo>
                    <a:pt x="21139" y="189772"/>
                  </a:lnTo>
                  <a:lnTo>
                    <a:pt x="0" y="165711"/>
                  </a:lnTo>
                  <a:lnTo>
                    <a:pt x="0" y="16192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1080114" y="0"/>
                  </a:lnTo>
                  <a:lnTo>
                    <a:pt x="1104899" y="24785"/>
                  </a:lnTo>
                  <a:lnTo>
                    <a:pt x="1104899" y="165711"/>
                  </a:lnTo>
                  <a:lnTo>
                    <a:pt x="1083758" y="189772"/>
                  </a:lnTo>
                  <a:lnTo>
                    <a:pt x="1080114" y="190498"/>
                  </a:lnTo>
                  <a:close/>
                </a:path>
              </a:pathLst>
            </a:custGeom>
            <a:solidFill>
              <a:srgbClr val="EF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8010523" y="3019423"/>
            <a:ext cx="3686175" cy="1171575"/>
            <a:chOff x="8010523" y="3019423"/>
            <a:chExt cx="3686175" cy="1171575"/>
          </a:xfrm>
        </p:grpSpPr>
        <p:sp>
          <p:nvSpPr>
            <p:cNvPr id="26" name="object 26" descr=""/>
            <p:cNvSpPr/>
            <p:nvPr/>
          </p:nvSpPr>
          <p:spPr>
            <a:xfrm>
              <a:off x="8015285" y="3024186"/>
              <a:ext cx="3676650" cy="1162050"/>
            </a:xfrm>
            <a:custGeom>
              <a:avLst/>
              <a:gdLst/>
              <a:ahLst/>
              <a:cxnLst/>
              <a:rect l="l" t="t" r="r" b="b"/>
              <a:pathLst>
                <a:path w="3676650" h="1162050">
                  <a:moveTo>
                    <a:pt x="3609902" y="1162049"/>
                  </a:moveTo>
                  <a:lnTo>
                    <a:pt x="66747" y="1162049"/>
                  </a:lnTo>
                  <a:lnTo>
                    <a:pt x="62100" y="1161591"/>
                  </a:lnTo>
                  <a:lnTo>
                    <a:pt x="24239" y="1144439"/>
                  </a:lnTo>
                  <a:lnTo>
                    <a:pt x="2286" y="1109146"/>
                  </a:lnTo>
                  <a:lnTo>
                    <a:pt x="0" y="1095302"/>
                  </a:lnTo>
                  <a:lnTo>
                    <a:pt x="0" y="1090612"/>
                  </a:lnTo>
                  <a:lnTo>
                    <a:pt x="0" y="66744"/>
                  </a:lnTo>
                  <a:lnTo>
                    <a:pt x="14644" y="27844"/>
                  </a:lnTo>
                  <a:lnTo>
                    <a:pt x="48432" y="3641"/>
                  </a:lnTo>
                  <a:lnTo>
                    <a:pt x="66747" y="0"/>
                  </a:lnTo>
                  <a:lnTo>
                    <a:pt x="3609902" y="0"/>
                  </a:lnTo>
                  <a:lnTo>
                    <a:pt x="3648799" y="14643"/>
                  </a:lnTo>
                  <a:lnTo>
                    <a:pt x="3673006" y="48429"/>
                  </a:lnTo>
                  <a:lnTo>
                    <a:pt x="3676649" y="66744"/>
                  </a:lnTo>
                  <a:lnTo>
                    <a:pt x="3676649" y="1095302"/>
                  </a:lnTo>
                  <a:lnTo>
                    <a:pt x="3662004" y="1134197"/>
                  </a:lnTo>
                  <a:lnTo>
                    <a:pt x="3628216" y="1158405"/>
                  </a:lnTo>
                  <a:lnTo>
                    <a:pt x="3614547" y="1161591"/>
                  </a:lnTo>
                  <a:lnTo>
                    <a:pt x="3609902" y="1162049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015285" y="3024186"/>
              <a:ext cx="3676650" cy="1162050"/>
            </a:xfrm>
            <a:custGeom>
              <a:avLst/>
              <a:gdLst/>
              <a:ahLst/>
              <a:cxnLst/>
              <a:rect l="l" t="t" r="r" b="b"/>
              <a:pathLst>
                <a:path w="3676650" h="1162050">
                  <a:moveTo>
                    <a:pt x="0" y="10906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6"/>
                  </a:lnTo>
                  <a:lnTo>
                    <a:pt x="1371" y="57493"/>
                  </a:lnTo>
                  <a:lnTo>
                    <a:pt x="2286" y="52897"/>
                  </a:lnTo>
                  <a:lnTo>
                    <a:pt x="3641" y="48429"/>
                  </a:lnTo>
                  <a:lnTo>
                    <a:pt x="5436" y="44095"/>
                  </a:lnTo>
                  <a:lnTo>
                    <a:pt x="7231" y="39760"/>
                  </a:lnTo>
                  <a:lnTo>
                    <a:pt x="9431" y="35644"/>
                  </a:lnTo>
                  <a:lnTo>
                    <a:pt x="12038" y="31744"/>
                  </a:lnTo>
                  <a:lnTo>
                    <a:pt x="14644" y="27844"/>
                  </a:lnTo>
                  <a:lnTo>
                    <a:pt x="17605" y="24235"/>
                  </a:lnTo>
                  <a:lnTo>
                    <a:pt x="20923" y="20919"/>
                  </a:lnTo>
                  <a:lnTo>
                    <a:pt x="24239" y="17603"/>
                  </a:lnTo>
                  <a:lnTo>
                    <a:pt x="62100" y="458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605212" y="0"/>
                  </a:lnTo>
                  <a:lnTo>
                    <a:pt x="3609902" y="0"/>
                  </a:lnTo>
                  <a:lnTo>
                    <a:pt x="3614547" y="458"/>
                  </a:lnTo>
                  <a:lnTo>
                    <a:pt x="3652408" y="17603"/>
                  </a:lnTo>
                  <a:lnTo>
                    <a:pt x="3655725" y="20919"/>
                  </a:lnTo>
                  <a:lnTo>
                    <a:pt x="3659043" y="24235"/>
                  </a:lnTo>
                  <a:lnTo>
                    <a:pt x="3662004" y="27842"/>
                  </a:lnTo>
                  <a:lnTo>
                    <a:pt x="3664610" y="31742"/>
                  </a:lnTo>
                  <a:lnTo>
                    <a:pt x="3667215" y="35641"/>
                  </a:lnTo>
                  <a:lnTo>
                    <a:pt x="3676650" y="71437"/>
                  </a:lnTo>
                  <a:lnTo>
                    <a:pt x="3676650" y="1090612"/>
                  </a:lnTo>
                  <a:lnTo>
                    <a:pt x="3676649" y="1095302"/>
                  </a:lnTo>
                  <a:lnTo>
                    <a:pt x="3676192" y="1099946"/>
                  </a:lnTo>
                  <a:lnTo>
                    <a:pt x="3675277" y="1104546"/>
                  </a:lnTo>
                  <a:lnTo>
                    <a:pt x="3674362" y="1109146"/>
                  </a:lnTo>
                  <a:lnTo>
                    <a:pt x="3664610" y="1130296"/>
                  </a:lnTo>
                  <a:lnTo>
                    <a:pt x="3662004" y="1134197"/>
                  </a:lnTo>
                  <a:lnTo>
                    <a:pt x="3632549" y="1156608"/>
                  </a:lnTo>
                  <a:lnTo>
                    <a:pt x="3628216" y="1158405"/>
                  </a:lnTo>
                  <a:lnTo>
                    <a:pt x="3623748" y="1159759"/>
                  </a:lnTo>
                  <a:lnTo>
                    <a:pt x="3619147" y="1160673"/>
                  </a:lnTo>
                  <a:lnTo>
                    <a:pt x="3614547" y="1161591"/>
                  </a:lnTo>
                  <a:lnTo>
                    <a:pt x="3609902" y="1162049"/>
                  </a:lnTo>
                  <a:lnTo>
                    <a:pt x="3605212" y="1162049"/>
                  </a:lnTo>
                  <a:lnTo>
                    <a:pt x="71438" y="1162049"/>
                  </a:lnTo>
                  <a:lnTo>
                    <a:pt x="66747" y="1162049"/>
                  </a:lnTo>
                  <a:lnTo>
                    <a:pt x="62100" y="1161591"/>
                  </a:lnTo>
                  <a:lnTo>
                    <a:pt x="57499" y="1160675"/>
                  </a:lnTo>
                  <a:lnTo>
                    <a:pt x="52899" y="1159762"/>
                  </a:lnTo>
                  <a:lnTo>
                    <a:pt x="48432" y="1158405"/>
                  </a:lnTo>
                  <a:lnTo>
                    <a:pt x="44098" y="1156608"/>
                  </a:lnTo>
                  <a:lnTo>
                    <a:pt x="39764" y="1154812"/>
                  </a:lnTo>
                  <a:lnTo>
                    <a:pt x="35648" y="1152610"/>
                  </a:lnTo>
                  <a:lnTo>
                    <a:pt x="31748" y="1150004"/>
                  </a:lnTo>
                  <a:lnTo>
                    <a:pt x="27848" y="1147399"/>
                  </a:lnTo>
                  <a:lnTo>
                    <a:pt x="12038" y="1130298"/>
                  </a:lnTo>
                  <a:lnTo>
                    <a:pt x="9432" y="1126398"/>
                  </a:lnTo>
                  <a:lnTo>
                    <a:pt x="7231" y="1122283"/>
                  </a:lnTo>
                  <a:lnTo>
                    <a:pt x="5436" y="1117948"/>
                  </a:lnTo>
                  <a:lnTo>
                    <a:pt x="3641" y="1113613"/>
                  </a:lnTo>
                  <a:lnTo>
                    <a:pt x="2286" y="1109146"/>
                  </a:lnTo>
                  <a:lnTo>
                    <a:pt x="1371" y="1104546"/>
                  </a:lnTo>
                  <a:lnTo>
                    <a:pt x="457" y="1099946"/>
                  </a:lnTo>
                  <a:lnTo>
                    <a:pt x="0" y="1095302"/>
                  </a:lnTo>
                  <a:lnTo>
                    <a:pt x="0" y="1090612"/>
                  </a:lnTo>
                  <a:close/>
                </a:path>
              </a:pathLst>
            </a:custGeom>
            <a:ln w="9524">
              <a:solidFill>
                <a:srgbClr val="B8D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124812" y="3438524"/>
              <a:ext cx="47625" cy="523875"/>
            </a:xfrm>
            <a:custGeom>
              <a:avLst/>
              <a:gdLst/>
              <a:ahLst/>
              <a:cxnLst/>
              <a:rect l="l" t="t" r="r" b="b"/>
              <a:pathLst>
                <a:path w="47625" h="523875">
                  <a:moveTo>
                    <a:pt x="47625" y="496912"/>
                  </a:moveTo>
                  <a:lnTo>
                    <a:pt x="26974" y="476250"/>
                  </a:lnTo>
                  <a:lnTo>
                    <a:pt x="20662" y="476250"/>
                  </a:lnTo>
                  <a:lnTo>
                    <a:pt x="0" y="496912"/>
                  </a:lnTo>
                  <a:lnTo>
                    <a:pt x="0" y="503224"/>
                  </a:lnTo>
                  <a:lnTo>
                    <a:pt x="20662" y="523875"/>
                  </a:lnTo>
                  <a:lnTo>
                    <a:pt x="26974" y="523875"/>
                  </a:lnTo>
                  <a:lnTo>
                    <a:pt x="47625" y="503224"/>
                  </a:lnTo>
                  <a:lnTo>
                    <a:pt x="47625" y="500062"/>
                  </a:lnTo>
                  <a:lnTo>
                    <a:pt x="47625" y="496912"/>
                  </a:lnTo>
                  <a:close/>
                </a:path>
                <a:path w="47625" h="523875">
                  <a:moveTo>
                    <a:pt x="47625" y="258787"/>
                  </a:moveTo>
                  <a:lnTo>
                    <a:pt x="26974" y="238125"/>
                  </a:lnTo>
                  <a:lnTo>
                    <a:pt x="20662" y="238125"/>
                  </a:lnTo>
                  <a:lnTo>
                    <a:pt x="0" y="258787"/>
                  </a:lnTo>
                  <a:lnTo>
                    <a:pt x="0" y="265099"/>
                  </a:lnTo>
                  <a:lnTo>
                    <a:pt x="20662" y="285750"/>
                  </a:lnTo>
                  <a:lnTo>
                    <a:pt x="26974" y="285750"/>
                  </a:lnTo>
                  <a:lnTo>
                    <a:pt x="47625" y="265099"/>
                  </a:lnTo>
                  <a:lnTo>
                    <a:pt x="47625" y="261937"/>
                  </a:lnTo>
                  <a:lnTo>
                    <a:pt x="47625" y="258787"/>
                  </a:lnTo>
                  <a:close/>
                </a:path>
                <a:path w="47625" h="52387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128049" y="1760912"/>
            <a:ext cx="3296285" cy="3462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10"/>
              </a:spcBef>
              <a:tabLst>
                <a:tab pos="1116330" algn="l"/>
              </a:tabLst>
            </a:pP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rainbow_dqn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.</a:t>
            </a: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py</a:t>
            </a:r>
            <a:r>
              <a:rPr dirty="0" sz="900" b="1">
                <a:solidFill>
                  <a:srgbClr val="444444"/>
                </a:solidFill>
                <a:latin typeface="Noto Sans KR"/>
                <a:cs typeface="Noto Sans KR"/>
              </a:rPr>
              <a:t>	</a:t>
            </a:r>
            <a:r>
              <a:rPr dirty="0" sz="1100" spc="-80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 spc="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에이전트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05">
                <a:solidFill>
                  <a:srgbClr val="444444"/>
                </a:solidFill>
                <a:latin typeface="Arial"/>
                <a:cs typeface="Arial"/>
              </a:rPr>
              <a:t>·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Q</a:t>
            </a:r>
            <a:r>
              <a:rPr dirty="0" sz="1100" spc="-70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80">
                <a:solidFill>
                  <a:srgbClr val="444444"/>
                </a:solidFill>
                <a:latin typeface="Noto Sans KR"/>
                <a:cs typeface="Noto Sans KR"/>
              </a:rPr>
              <a:t>Network</a:t>
            </a:r>
            <a:r>
              <a:rPr dirty="0" sz="1100" spc="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75">
                <a:solidFill>
                  <a:srgbClr val="444444"/>
                </a:solidFill>
                <a:latin typeface="휴먼아미체"/>
                <a:cs typeface="휴먼아미체"/>
              </a:rPr>
              <a:t>학습</a:t>
            </a:r>
            <a:endParaRPr sz="1100">
              <a:latin typeface="휴먼아미체"/>
              <a:cs typeface="휴먼아미체"/>
            </a:endParaRPr>
          </a:p>
          <a:p>
            <a:pPr marL="107314">
              <a:lnSpc>
                <a:spcPct val="100000"/>
              </a:lnSpc>
              <a:spcBef>
                <a:spcPts val="855"/>
              </a:spcBef>
              <a:tabLst>
                <a:tab pos="663575" algn="l"/>
              </a:tabLst>
            </a:pP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twin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.</a:t>
            </a: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py</a:t>
            </a:r>
            <a:r>
              <a:rPr dirty="0" sz="900" b="1">
                <a:solidFill>
                  <a:srgbClr val="444444"/>
                </a:solidFill>
                <a:latin typeface="Noto Sans KR"/>
                <a:cs typeface="Noto Sans KR"/>
              </a:rPr>
              <a:t>	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환경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인터페이스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상태</a:t>
            </a:r>
            <a:r>
              <a:rPr dirty="0" sz="1100" spc="210">
                <a:solidFill>
                  <a:srgbClr val="444444"/>
                </a:solidFill>
                <a:latin typeface="Arial"/>
                <a:cs typeface="Arial"/>
              </a:rPr>
              <a:t>/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보상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60">
                <a:solidFill>
                  <a:srgbClr val="444444"/>
                </a:solidFill>
                <a:latin typeface="휴먼아미체"/>
                <a:cs typeface="휴먼아미체"/>
              </a:rPr>
              <a:t>계산</a:t>
            </a:r>
            <a:endParaRPr sz="1100">
              <a:latin typeface="휴먼아미체"/>
              <a:cs typeface="휴먼아미체"/>
            </a:endParaRPr>
          </a:p>
          <a:p>
            <a:pPr marL="107314">
              <a:lnSpc>
                <a:spcPct val="100000"/>
              </a:lnSpc>
              <a:spcBef>
                <a:spcPts val="855"/>
              </a:spcBef>
              <a:tabLst>
                <a:tab pos="886460" algn="l"/>
              </a:tabLst>
            </a:pPr>
            <a:r>
              <a:rPr dirty="0" sz="900" spc="-10" b="1">
                <a:solidFill>
                  <a:srgbClr val="FFFFFF"/>
                </a:solidFill>
                <a:latin typeface="Noto Sans KR"/>
                <a:cs typeface="Noto Sans KR"/>
              </a:rPr>
              <a:t>plantsim</a:t>
            </a:r>
            <a:r>
              <a:rPr dirty="0" sz="950" spc="-1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dirty="0" sz="900" spc="-10" b="1">
                <a:solidFill>
                  <a:srgbClr val="FFFFFF"/>
                </a:solidFill>
                <a:latin typeface="Noto Sans KR"/>
                <a:cs typeface="Noto Sans KR"/>
              </a:rPr>
              <a:t>py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	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Siemens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Plant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Simulation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10">
                <a:solidFill>
                  <a:srgbClr val="444444"/>
                </a:solidFill>
                <a:latin typeface="Noto Sans KR"/>
                <a:cs typeface="Noto Sans KR"/>
              </a:rPr>
              <a:t>COM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API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래퍼</a:t>
            </a:r>
            <a:endParaRPr sz="1100">
              <a:latin typeface="휴먼아미체"/>
              <a:cs typeface="휴먼아미체"/>
            </a:endParaRPr>
          </a:p>
          <a:p>
            <a:pPr marL="107314">
              <a:lnSpc>
                <a:spcPct val="100000"/>
              </a:lnSpc>
              <a:spcBef>
                <a:spcPts val="855"/>
              </a:spcBef>
              <a:tabLst>
                <a:tab pos="1221740" algn="l"/>
              </a:tabLst>
            </a:pP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data_generator</a:t>
            </a:r>
            <a:r>
              <a:rPr dirty="0" sz="950" spc="-10">
                <a:solidFill>
                  <a:srgbClr val="444444"/>
                </a:solidFill>
                <a:latin typeface="Arial Black"/>
                <a:cs typeface="Arial Black"/>
              </a:rPr>
              <a:t>.</a:t>
            </a:r>
            <a:r>
              <a:rPr dirty="0" sz="900" spc="-10" b="1">
                <a:solidFill>
                  <a:srgbClr val="444444"/>
                </a:solidFill>
                <a:latin typeface="Noto Sans KR"/>
                <a:cs typeface="Noto Sans KR"/>
              </a:rPr>
              <a:t>py</a:t>
            </a:r>
            <a:r>
              <a:rPr dirty="0" sz="900" b="1">
                <a:solidFill>
                  <a:srgbClr val="444444"/>
                </a:solidFill>
                <a:latin typeface="Noto Sans KR"/>
                <a:cs typeface="Noto Sans KR"/>
              </a:rPr>
              <a:t>	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실험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444444"/>
                </a:solidFill>
                <a:latin typeface="휴먼아미체"/>
                <a:cs typeface="휴먼아미체"/>
              </a:rPr>
              <a:t>데이터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관리</a:t>
            </a: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🔑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설계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원칙</a:t>
            </a:r>
            <a:endParaRPr sz="1150">
              <a:latin typeface="맑은 고딕"/>
              <a:cs typeface="맑은 고딕"/>
            </a:endParaRPr>
          </a:p>
          <a:p>
            <a:pPr marL="154940" marR="1321435">
              <a:lnSpc>
                <a:spcPts val="1870"/>
              </a:lnSpc>
              <a:spcBef>
                <a:spcPts val="60"/>
              </a:spcBef>
            </a:pP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각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10">
                <a:solidFill>
                  <a:srgbClr val="444444"/>
                </a:solidFill>
                <a:latin typeface="휴먼아미체"/>
                <a:cs typeface="휴먼아미체"/>
              </a:rPr>
              <a:t>클래스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간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의존성</a:t>
            </a:r>
            <a:r>
              <a:rPr dirty="0" sz="1100" spc="-110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2D6A2D"/>
                </a:solidFill>
                <a:latin typeface="맑은 고딕"/>
                <a:cs typeface="맑은 고딕"/>
              </a:rPr>
              <a:t>최소화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main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py</a:t>
            </a:r>
            <a:r>
              <a:rPr dirty="0" sz="1100" spc="5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6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단방향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orchestration</a:t>
            </a:r>
            <a:endParaRPr sz="1100">
              <a:latin typeface="Noto Sans KR"/>
              <a:cs typeface="Noto Sans KR"/>
            </a:endParaRPr>
          </a:p>
          <a:p>
            <a:pPr marL="154940">
              <a:lnSpc>
                <a:spcPct val="100000"/>
              </a:lnSpc>
              <a:spcBef>
                <a:spcPts val="409"/>
              </a:spcBef>
            </a:pP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plantsim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py</a:t>
            </a:r>
            <a:r>
              <a:rPr dirty="0" sz="110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↔</a:t>
            </a:r>
            <a:r>
              <a:rPr dirty="0" sz="1100" spc="3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DT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실시간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10">
                <a:solidFill>
                  <a:srgbClr val="444444"/>
                </a:solidFill>
                <a:latin typeface="Noto Sans KR"/>
                <a:cs typeface="Noto Sans KR"/>
              </a:rPr>
              <a:t>COM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통신</a:t>
            </a: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</a:pPr>
            <a:r>
              <a:rPr dirty="0" sz="1150" spc="-55" b="1">
                <a:solidFill>
                  <a:srgbClr val="FFFFFF"/>
                </a:solidFill>
                <a:latin typeface="Noto Sans KR"/>
                <a:cs typeface="Noto Sans KR"/>
              </a:rPr>
              <a:t>LLM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150" spc="-50" b="1">
                <a:solidFill>
                  <a:srgbClr val="FFFFFF"/>
                </a:solidFill>
                <a:latin typeface="Noto Sans KR"/>
                <a:cs typeface="Noto Sans KR"/>
              </a:rPr>
              <a:t>HRL</a:t>
            </a:r>
            <a:r>
              <a:rPr dirty="0" sz="1150" spc="2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확장</a:t>
            </a:r>
            <a:r>
              <a:rPr dirty="0" sz="1150" spc="-114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포인트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기존</a:t>
            </a:r>
            <a:r>
              <a:rPr dirty="0" sz="1100" spc="-6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구조에</a:t>
            </a:r>
            <a:r>
              <a:rPr dirty="0" sz="1100" spc="-6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60" b="1">
                <a:solidFill>
                  <a:srgbClr val="DF592A"/>
                </a:solidFill>
                <a:latin typeface="Noto Sans KR"/>
                <a:cs typeface="Noto Sans KR"/>
              </a:rPr>
              <a:t>llm_agent</a:t>
            </a:r>
            <a:r>
              <a:rPr dirty="0" sz="1100" spc="-60" b="1">
                <a:solidFill>
                  <a:srgbClr val="DF592A"/>
                </a:solidFill>
                <a:latin typeface="Arial"/>
                <a:cs typeface="Arial"/>
              </a:rPr>
              <a:t>.</a:t>
            </a:r>
            <a:r>
              <a:rPr dirty="0" sz="1100" spc="-60" b="1">
                <a:solidFill>
                  <a:srgbClr val="DF592A"/>
                </a:solidFill>
                <a:latin typeface="Noto Sans KR"/>
                <a:cs typeface="Noto Sans KR"/>
              </a:rPr>
              <a:t>py</a:t>
            </a:r>
            <a:r>
              <a:rPr dirty="0" sz="1100" spc="-60" b="1">
                <a:solidFill>
                  <a:srgbClr val="BABABA"/>
                </a:solidFill>
                <a:latin typeface="Arial"/>
                <a:cs typeface="Arial"/>
              </a:rPr>
              <a:t>(</a:t>
            </a:r>
            <a:r>
              <a:rPr dirty="0" sz="1100" spc="-60" b="1">
                <a:solidFill>
                  <a:srgbClr val="BABABA"/>
                </a:solidFill>
                <a:latin typeface="Noto Sans KR"/>
                <a:cs typeface="Noto Sans KR"/>
              </a:rPr>
              <a:t>L2</a:t>
            </a:r>
            <a:r>
              <a:rPr dirty="0" sz="1100" spc="-60" b="1">
                <a:solidFill>
                  <a:srgbClr val="BABABA"/>
                </a:solidFill>
                <a:latin typeface="Arial"/>
                <a:cs typeface="Arial"/>
              </a:rPr>
              <a:t>)</a:t>
            </a:r>
            <a:r>
              <a:rPr dirty="0" sz="1100" spc="15" b="1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100" spc="-60" b="1">
                <a:solidFill>
                  <a:srgbClr val="BABABA"/>
                </a:solidFill>
                <a:latin typeface="Arial"/>
                <a:cs typeface="Arial"/>
              </a:rPr>
              <a:t>·</a:t>
            </a:r>
            <a:r>
              <a:rPr dirty="0" sz="1100" spc="15" b="1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100" spc="-65" b="1">
                <a:solidFill>
                  <a:srgbClr val="79DF79"/>
                </a:solidFill>
                <a:latin typeface="Noto Sans KR"/>
                <a:cs typeface="Noto Sans KR"/>
              </a:rPr>
              <a:t>safety_agent</a:t>
            </a:r>
            <a:r>
              <a:rPr dirty="0" sz="1100" spc="-65" b="1">
                <a:solidFill>
                  <a:srgbClr val="79DF79"/>
                </a:solidFill>
                <a:latin typeface="Arial"/>
                <a:cs typeface="Arial"/>
              </a:rPr>
              <a:t>.</a:t>
            </a:r>
            <a:r>
              <a:rPr dirty="0" sz="1100" spc="-65" b="1">
                <a:solidFill>
                  <a:srgbClr val="79DF79"/>
                </a:solidFill>
                <a:latin typeface="Noto Sans KR"/>
                <a:cs typeface="Noto Sans KR"/>
              </a:rPr>
              <a:t>py</a:t>
            </a:r>
            <a:r>
              <a:rPr dirty="0" sz="1100" spc="-65" b="1">
                <a:solidFill>
                  <a:srgbClr val="BABABA"/>
                </a:solidFill>
                <a:latin typeface="Arial"/>
                <a:cs typeface="Arial"/>
              </a:rPr>
              <a:t>(</a:t>
            </a:r>
            <a:r>
              <a:rPr dirty="0" sz="1100" spc="-65" b="1">
                <a:solidFill>
                  <a:srgbClr val="BABABA"/>
                </a:solidFill>
                <a:latin typeface="Noto Sans KR"/>
                <a:cs typeface="Noto Sans KR"/>
              </a:rPr>
              <a:t>L1</a:t>
            </a:r>
            <a:r>
              <a:rPr dirty="0" sz="1100" spc="-65" b="1">
                <a:solidFill>
                  <a:srgbClr val="BABABA"/>
                </a:solidFill>
                <a:latin typeface="Arial"/>
                <a:cs typeface="Arial"/>
              </a:rPr>
              <a:t>)</a:t>
            </a:r>
            <a:r>
              <a:rPr dirty="0" sz="1100" spc="15" b="1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BABABA"/>
                </a:solidFill>
                <a:latin typeface="맑은 고딕"/>
                <a:cs typeface="맑은 고딕"/>
              </a:rPr>
              <a:t>추가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 spc="-140" b="1">
                <a:solidFill>
                  <a:srgbClr val="BABABA"/>
                </a:solidFill>
                <a:latin typeface="Arial"/>
                <a:cs typeface="Arial"/>
              </a:rPr>
              <a:t>→</a:t>
            </a:r>
            <a:r>
              <a:rPr dirty="0" sz="1100" spc="-20" b="1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100" spc="-60" b="1">
                <a:solidFill>
                  <a:srgbClr val="BABABA"/>
                </a:solidFill>
                <a:latin typeface="Noto Sans KR"/>
                <a:cs typeface="Noto Sans KR"/>
              </a:rPr>
              <a:t>twin</a:t>
            </a:r>
            <a:r>
              <a:rPr dirty="0" sz="1100" spc="-60" b="1">
                <a:solidFill>
                  <a:srgbClr val="BABABA"/>
                </a:solidFill>
                <a:latin typeface="Arial"/>
                <a:cs typeface="Arial"/>
              </a:rPr>
              <a:t>.</a:t>
            </a:r>
            <a:r>
              <a:rPr dirty="0" sz="1100" spc="-60" b="1">
                <a:solidFill>
                  <a:srgbClr val="BABABA"/>
                </a:solidFill>
                <a:latin typeface="Noto Sans KR"/>
                <a:cs typeface="Noto Sans KR"/>
              </a:rPr>
              <a:t>py</a:t>
            </a:r>
            <a:r>
              <a:rPr dirty="0" sz="1100" spc="40" b="1">
                <a:solidFill>
                  <a:srgbClr val="BABABA"/>
                </a:solidFill>
                <a:latin typeface="Noto Sans KR"/>
                <a:cs typeface="Noto Sans KR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인터페이스</a:t>
            </a:r>
            <a:r>
              <a:rPr dirty="0" sz="1100" spc="-9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변경</a:t>
            </a:r>
            <a:r>
              <a:rPr dirty="0" sz="1100" spc="-9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BABABA"/>
                </a:solidFill>
                <a:latin typeface="맑은 고딕"/>
                <a:cs typeface="맑은 고딕"/>
              </a:rPr>
              <a:t>최소화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 spc="-140" b="1">
                <a:solidFill>
                  <a:srgbClr val="BABABA"/>
                </a:solidFill>
                <a:latin typeface="Arial"/>
                <a:cs typeface="Arial"/>
              </a:rPr>
              <a:t>→</a:t>
            </a:r>
            <a:r>
              <a:rPr dirty="0" sz="1100" spc="-10" b="1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dirty="0" sz="1100" spc="-105" b="1">
                <a:solidFill>
                  <a:srgbClr val="BABABA"/>
                </a:solidFill>
                <a:latin typeface="Noto Sans KR"/>
                <a:cs typeface="Noto Sans KR"/>
              </a:rPr>
              <a:t>main</a:t>
            </a:r>
            <a:r>
              <a:rPr dirty="0" sz="1100" spc="-105" b="1">
                <a:solidFill>
                  <a:srgbClr val="BABABA"/>
                </a:solidFill>
                <a:latin typeface="Arial"/>
                <a:cs typeface="Arial"/>
              </a:rPr>
              <a:t>.</a:t>
            </a:r>
            <a:r>
              <a:rPr dirty="0" sz="1100" spc="-105" b="1">
                <a:solidFill>
                  <a:srgbClr val="BABABA"/>
                </a:solidFill>
                <a:latin typeface="Noto Sans KR"/>
                <a:cs typeface="Noto Sans KR"/>
              </a:rPr>
              <a:t>py</a:t>
            </a:r>
            <a:r>
              <a:rPr dirty="0" sz="1100" spc="-105" b="1">
                <a:solidFill>
                  <a:srgbClr val="BABABA"/>
                </a:solidFill>
                <a:latin typeface="맑은 고딕"/>
                <a:cs typeface="맑은 고딕"/>
              </a:rPr>
              <a:t>에서</a:t>
            </a:r>
            <a:r>
              <a:rPr dirty="0" sz="1100" spc="-8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두</a:t>
            </a:r>
            <a:r>
              <a:rPr dirty="0" sz="1100" spc="-9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에이전트</a:t>
            </a:r>
            <a:r>
              <a:rPr dirty="0" sz="1100" spc="-8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추가</a:t>
            </a:r>
            <a:r>
              <a:rPr dirty="0" sz="1100" spc="-9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호출만으로</a:t>
            </a:r>
            <a:r>
              <a:rPr dirty="0" sz="1100" spc="-8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BABABA"/>
                </a:solidFill>
                <a:latin typeface="맑은 고딕"/>
                <a:cs typeface="맑은 고딕"/>
              </a:rPr>
              <a:t>구현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0" y="6819898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8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23"/>
                </a:moveTo>
                <a:lnTo>
                  <a:pt x="33047" y="200023"/>
                </a:lnTo>
                <a:lnTo>
                  <a:pt x="28187" y="199052"/>
                </a:lnTo>
                <a:lnTo>
                  <a:pt x="966" y="171830"/>
                </a:lnTo>
                <a:lnTo>
                  <a:pt x="0" y="166973"/>
                </a:lnTo>
                <a:lnTo>
                  <a:pt x="0" y="161924"/>
                </a:lnTo>
                <a:lnTo>
                  <a:pt x="0" y="33046"/>
                </a:lnTo>
                <a:lnTo>
                  <a:pt x="28187" y="964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84"/>
                </a:lnTo>
                <a:lnTo>
                  <a:pt x="600074" y="33046"/>
                </a:lnTo>
                <a:lnTo>
                  <a:pt x="600074" y="166973"/>
                </a:lnTo>
                <a:lnTo>
                  <a:pt x="571887" y="199052"/>
                </a:lnTo>
                <a:lnTo>
                  <a:pt x="567027" y="200023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핵심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문제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2600" y="534263"/>
            <a:ext cx="2077085" cy="615950"/>
          </a:xfrm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425"/>
              </a:spcBef>
            </a:pPr>
            <a:r>
              <a:rPr dirty="0" spc="-360"/>
              <a:t>동일</a:t>
            </a:r>
            <a:r>
              <a:rPr dirty="0" spc="-195"/>
              <a:t> </a:t>
            </a:r>
            <a:r>
              <a:rPr dirty="0" spc="-240"/>
              <a:t>설정</a:t>
            </a:r>
            <a:r>
              <a:rPr dirty="0" sz="2050" spc="-240">
                <a:latin typeface="Arial"/>
                <a:cs typeface="Arial"/>
              </a:rPr>
              <a:t>,</a:t>
            </a:r>
            <a:r>
              <a:rPr dirty="0" sz="2050" spc="-65">
                <a:latin typeface="Arial"/>
                <a:cs typeface="Arial"/>
              </a:rPr>
              <a:t> </a:t>
            </a:r>
            <a:r>
              <a:rPr dirty="0" spc="-360"/>
              <a:t>다른</a:t>
            </a:r>
            <a:r>
              <a:rPr dirty="0" spc="-195"/>
              <a:t> </a:t>
            </a:r>
            <a:r>
              <a:rPr dirty="0" spc="-385"/>
              <a:t>결과 </a:t>
            </a:r>
            <a:r>
              <a:rPr dirty="0" spc="-185">
                <a:solidFill>
                  <a:srgbClr val="DF592A"/>
                </a:solidFill>
                <a:latin typeface="Noto Sans KR"/>
                <a:cs typeface="Noto Sans KR"/>
              </a:rPr>
              <a:t>DRL</a:t>
            </a:r>
            <a:r>
              <a:rPr dirty="0" spc="-185">
                <a:solidFill>
                  <a:srgbClr val="DF592A"/>
                </a:solidFill>
              </a:rPr>
              <a:t>의</a:t>
            </a:r>
            <a:r>
              <a:rPr dirty="0" spc="-190">
                <a:solidFill>
                  <a:srgbClr val="DF592A"/>
                </a:solidFill>
              </a:rPr>
              <a:t> </a:t>
            </a:r>
            <a:r>
              <a:rPr dirty="0" spc="-360">
                <a:solidFill>
                  <a:srgbClr val="DF592A"/>
                </a:solidFill>
              </a:rPr>
              <a:t>비결정적</a:t>
            </a:r>
            <a:r>
              <a:rPr dirty="0" spc="-185">
                <a:solidFill>
                  <a:srgbClr val="DF592A"/>
                </a:solidFill>
              </a:rPr>
              <a:t> </a:t>
            </a:r>
            <a:r>
              <a:rPr dirty="0" spc="-385">
                <a:solidFill>
                  <a:srgbClr val="DF592A"/>
                </a:solidFill>
              </a:rPr>
              <a:t>실패</a:t>
            </a:r>
            <a:endParaRPr sz="2050">
              <a:latin typeface="Noto Sans KR"/>
              <a:cs typeface="Noto Sans KR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2600" y="1201503"/>
            <a:ext cx="2324100" cy="442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120"/>
              </a:spcBef>
            </a:pPr>
            <a:r>
              <a:rPr dirty="0" sz="1150" spc="295">
                <a:solidFill>
                  <a:srgbClr val="444444"/>
                </a:solidFill>
                <a:latin typeface="휴먼아미체"/>
                <a:cs typeface="휴먼아미체"/>
              </a:rPr>
              <a:t>완전히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35">
                <a:solidFill>
                  <a:srgbClr val="444444"/>
                </a:solidFill>
                <a:latin typeface="휴먼아미체"/>
                <a:cs typeface="휴먼아미체"/>
              </a:rPr>
              <a:t>동일한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150" spc="31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50" spc="315">
                <a:solidFill>
                  <a:srgbClr val="444444"/>
                </a:solidFill>
                <a:latin typeface="휴먼아미체"/>
                <a:cs typeface="휴먼아미체"/>
              </a:rPr>
              <a:t>설정으로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130">
                <a:solidFill>
                  <a:srgbClr val="444444"/>
                </a:solidFill>
                <a:latin typeface="Noto Sans KR"/>
                <a:cs typeface="Noto Sans KR"/>
              </a:rPr>
              <a:t>5</a:t>
            </a:r>
            <a:r>
              <a:rPr dirty="0" sz="1150" spc="130">
                <a:solidFill>
                  <a:srgbClr val="444444"/>
                </a:solidFill>
                <a:latin typeface="휴먼아미체"/>
                <a:cs typeface="휴먼아미체"/>
              </a:rPr>
              <a:t>회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50">
                <a:solidFill>
                  <a:srgbClr val="444444"/>
                </a:solidFill>
                <a:latin typeface="휴먼아미체"/>
                <a:cs typeface="휴먼아미체"/>
              </a:rPr>
              <a:t>실행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65">
                <a:solidFill>
                  <a:srgbClr val="444444"/>
                </a:solidFill>
                <a:latin typeface="휴먼아미체"/>
                <a:cs typeface="휴먼아미체"/>
              </a:rPr>
              <a:t>시 </a:t>
            </a:r>
            <a:r>
              <a:rPr dirty="0" sz="1150" spc="-125" b="1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150" spc="-125" b="1">
                <a:solidFill>
                  <a:srgbClr val="444444"/>
                </a:solidFill>
                <a:latin typeface="맑은 고딕"/>
                <a:cs typeface="맑은 고딕"/>
              </a:rPr>
              <a:t>회</a:t>
            </a:r>
            <a:r>
              <a:rPr dirty="0" sz="1150" spc="-110" b="1">
                <a:solidFill>
                  <a:srgbClr val="444444"/>
                </a:solidFill>
                <a:latin typeface="맑은 고딕"/>
                <a:cs typeface="맑은 고딕"/>
              </a:rPr>
              <a:t> 실패</a:t>
            </a:r>
            <a:r>
              <a:rPr dirty="0" sz="1200" spc="-110" b="1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50" spc="-110" b="1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150" spc="40" b="1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b="1">
                <a:solidFill>
                  <a:srgbClr val="444444"/>
                </a:solidFill>
                <a:latin typeface="Noto Sans KR"/>
                <a:cs typeface="Noto Sans KR"/>
              </a:rPr>
              <a:t>&gt;</a:t>
            </a:r>
            <a:r>
              <a:rPr dirty="0" sz="1150" spc="40" b="1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-35" b="1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200" spc="-35" b="1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50" spc="-35" b="1">
                <a:solidFill>
                  <a:srgbClr val="444444"/>
                </a:solidFill>
                <a:latin typeface="Noto Sans KR"/>
                <a:cs typeface="Noto Sans KR"/>
              </a:rPr>
              <a:t>500s</a:t>
            </a:r>
            <a:r>
              <a:rPr dirty="0" sz="1200" spc="-35" b="1">
                <a:solidFill>
                  <a:srgbClr val="444444"/>
                </a:solidFill>
                <a:latin typeface="Arial"/>
                <a:cs typeface="Arial"/>
              </a:rPr>
              <a:t>),</a:t>
            </a:r>
            <a:r>
              <a:rPr dirty="0" sz="1200" spc="-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50" spc="-150" b="1">
                <a:solidFill>
                  <a:srgbClr val="444444"/>
                </a:solidFill>
                <a:latin typeface="Noto Sans KR"/>
                <a:cs typeface="Noto Sans KR"/>
              </a:rPr>
              <a:t>2</a:t>
            </a:r>
            <a:r>
              <a:rPr dirty="0" sz="1150" spc="-150" b="1">
                <a:solidFill>
                  <a:srgbClr val="444444"/>
                </a:solidFill>
                <a:latin typeface="맑은 고딕"/>
                <a:cs typeface="맑은 고딕"/>
              </a:rPr>
              <a:t>회만</a:t>
            </a:r>
            <a:r>
              <a:rPr dirty="0" sz="1150" spc="-11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444444"/>
                </a:solidFill>
                <a:latin typeface="맑은 고딕"/>
                <a:cs typeface="맑은 고딕"/>
              </a:rPr>
              <a:t>성공</a:t>
            </a:r>
            <a:endParaRPr sz="1150">
              <a:latin typeface="맑은 고딕"/>
              <a:cs typeface="맑은 고딕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95299" y="1743073"/>
            <a:ext cx="5486400" cy="4867275"/>
            <a:chOff x="495299" y="1743073"/>
            <a:chExt cx="5486400" cy="4867275"/>
          </a:xfrm>
        </p:grpSpPr>
        <p:sp>
          <p:nvSpPr>
            <p:cNvPr id="7" name="object 7" descr=""/>
            <p:cNvSpPr/>
            <p:nvPr/>
          </p:nvSpPr>
          <p:spPr>
            <a:xfrm>
              <a:off x="495299" y="1743073"/>
              <a:ext cx="5486400" cy="4867275"/>
            </a:xfrm>
            <a:custGeom>
              <a:avLst/>
              <a:gdLst/>
              <a:ahLst/>
              <a:cxnLst/>
              <a:rect l="l" t="t" r="r" b="b"/>
              <a:pathLst>
                <a:path w="5486400" h="4867275">
                  <a:moveTo>
                    <a:pt x="5406302" y="4867274"/>
                  </a:moveTo>
                  <a:lnTo>
                    <a:pt x="80096" y="4867274"/>
                  </a:lnTo>
                  <a:lnTo>
                    <a:pt x="74521" y="4866725"/>
                  </a:lnTo>
                  <a:lnTo>
                    <a:pt x="33418" y="4849694"/>
                  </a:lnTo>
                  <a:lnTo>
                    <a:pt x="8679" y="4819547"/>
                  </a:lnTo>
                  <a:lnTo>
                    <a:pt x="0" y="4787172"/>
                  </a:lnTo>
                  <a:lnTo>
                    <a:pt x="0" y="4781549"/>
                  </a:lnTo>
                  <a:lnTo>
                    <a:pt x="0" y="80094"/>
                  </a:lnTo>
                  <a:lnTo>
                    <a:pt x="11320" y="42773"/>
                  </a:lnTo>
                  <a:lnTo>
                    <a:pt x="42778" y="11315"/>
                  </a:lnTo>
                  <a:lnTo>
                    <a:pt x="80096" y="0"/>
                  </a:lnTo>
                  <a:lnTo>
                    <a:pt x="5406302" y="0"/>
                  </a:lnTo>
                  <a:lnTo>
                    <a:pt x="5443619" y="11315"/>
                  </a:lnTo>
                  <a:lnTo>
                    <a:pt x="5475078" y="42773"/>
                  </a:lnTo>
                  <a:lnTo>
                    <a:pt x="5486399" y="80094"/>
                  </a:lnTo>
                  <a:lnTo>
                    <a:pt x="5486399" y="4787172"/>
                  </a:lnTo>
                  <a:lnTo>
                    <a:pt x="5475078" y="4824486"/>
                  </a:lnTo>
                  <a:lnTo>
                    <a:pt x="5443619" y="4855949"/>
                  </a:lnTo>
                  <a:lnTo>
                    <a:pt x="5411877" y="4866725"/>
                  </a:lnTo>
                  <a:lnTo>
                    <a:pt x="5406302" y="486727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6749" y="3000373"/>
              <a:ext cx="5143500" cy="333375"/>
            </a:xfrm>
            <a:custGeom>
              <a:avLst/>
              <a:gdLst/>
              <a:ahLst/>
              <a:cxnLst/>
              <a:rect l="l" t="t" r="r" b="b"/>
              <a:pathLst>
                <a:path w="5143500" h="333375">
                  <a:moveTo>
                    <a:pt x="5102189" y="333373"/>
                  </a:moveTo>
                  <a:lnTo>
                    <a:pt x="41309" y="333373"/>
                  </a:lnTo>
                  <a:lnTo>
                    <a:pt x="35234" y="332163"/>
                  </a:lnTo>
                  <a:lnTo>
                    <a:pt x="1208" y="298137"/>
                  </a:lnTo>
                  <a:lnTo>
                    <a:pt x="0" y="292063"/>
                  </a:lnTo>
                  <a:lnTo>
                    <a:pt x="0" y="285749"/>
                  </a:lnTo>
                  <a:lnTo>
                    <a:pt x="0" y="41307"/>
                  </a:lnTo>
                  <a:lnTo>
                    <a:pt x="23564" y="6038"/>
                  </a:lnTo>
                  <a:lnTo>
                    <a:pt x="41309" y="0"/>
                  </a:lnTo>
                  <a:lnTo>
                    <a:pt x="5102189" y="0"/>
                  </a:lnTo>
                  <a:lnTo>
                    <a:pt x="5137457" y="23561"/>
                  </a:lnTo>
                  <a:lnTo>
                    <a:pt x="5143499" y="41307"/>
                  </a:lnTo>
                  <a:lnTo>
                    <a:pt x="5143499" y="292063"/>
                  </a:lnTo>
                  <a:lnTo>
                    <a:pt x="5119933" y="327328"/>
                  </a:lnTo>
                  <a:lnTo>
                    <a:pt x="5108265" y="332163"/>
                  </a:lnTo>
                  <a:lnTo>
                    <a:pt x="5102189" y="333373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54049" y="1884489"/>
            <a:ext cx="1847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55" b="1">
                <a:solidFill>
                  <a:srgbClr val="FFFFFF"/>
                </a:solidFill>
                <a:latin typeface="Noto Sans KR"/>
                <a:cs typeface="Noto Sans KR"/>
              </a:rPr>
              <a:t>Fault</a:t>
            </a:r>
            <a:r>
              <a:rPr dirty="0" sz="1150" spc="-1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11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40" b="1">
                <a:solidFill>
                  <a:srgbClr val="FFFFFF"/>
                </a:solidFill>
                <a:latin typeface="Noto Sans KR"/>
                <a:cs typeface="Noto Sans KR"/>
              </a:rPr>
              <a:t>Error</a:t>
            </a:r>
            <a:r>
              <a:rPr dirty="0" sz="1150" spc="1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11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50" b="1">
                <a:solidFill>
                  <a:srgbClr val="FFFFFF"/>
                </a:solidFill>
                <a:latin typeface="Noto Sans KR"/>
                <a:cs typeface="Noto Sans KR"/>
              </a:rPr>
              <a:t>Failure</a:t>
            </a:r>
            <a:r>
              <a:rPr dirty="0" sz="1150" spc="1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연쇄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66749" y="2181223"/>
            <a:ext cx="1514475" cy="723900"/>
          </a:xfrm>
          <a:custGeom>
            <a:avLst/>
            <a:gdLst/>
            <a:ahLst/>
            <a:cxnLst/>
            <a:rect l="l" t="t" r="r" b="b"/>
            <a:pathLst>
              <a:path w="1514475" h="723900">
                <a:moveTo>
                  <a:pt x="1461077" y="723898"/>
                </a:moveTo>
                <a:lnTo>
                  <a:pt x="53397" y="723898"/>
                </a:lnTo>
                <a:lnTo>
                  <a:pt x="49680" y="723530"/>
                </a:lnTo>
                <a:lnTo>
                  <a:pt x="14085" y="704506"/>
                </a:lnTo>
                <a:lnTo>
                  <a:pt x="0" y="670500"/>
                </a:lnTo>
                <a:lnTo>
                  <a:pt x="0" y="666749"/>
                </a:lnTo>
                <a:lnTo>
                  <a:pt x="0" y="53394"/>
                </a:lnTo>
                <a:lnTo>
                  <a:pt x="19392" y="14082"/>
                </a:lnTo>
                <a:lnTo>
                  <a:pt x="53397" y="0"/>
                </a:lnTo>
                <a:lnTo>
                  <a:pt x="1461077" y="0"/>
                </a:lnTo>
                <a:lnTo>
                  <a:pt x="1500389" y="19389"/>
                </a:lnTo>
                <a:lnTo>
                  <a:pt x="1514474" y="53394"/>
                </a:lnTo>
                <a:lnTo>
                  <a:pt x="1514474" y="670500"/>
                </a:lnTo>
                <a:lnTo>
                  <a:pt x="1495082" y="709812"/>
                </a:lnTo>
                <a:lnTo>
                  <a:pt x="1464793" y="723530"/>
                </a:lnTo>
                <a:lnTo>
                  <a:pt x="1461077" y="723898"/>
                </a:lnTo>
                <a:close/>
              </a:path>
            </a:pathLst>
          </a:custGeom>
          <a:solidFill>
            <a:srgbClr val="291A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58824" y="2216424"/>
            <a:ext cx="793750" cy="6038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900" spc="-20" b="1">
                <a:solidFill>
                  <a:srgbClr val="F0A060"/>
                </a:solidFill>
                <a:latin typeface="Noto Sans KR"/>
                <a:cs typeface="Noto Sans KR"/>
              </a:rPr>
              <a:t>FAULT</a:t>
            </a:r>
            <a:endParaRPr sz="900">
              <a:latin typeface="Noto Sans KR"/>
              <a:cs typeface="Noto Sans KR"/>
            </a:endParaRPr>
          </a:p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000" spc="260">
                <a:solidFill>
                  <a:srgbClr val="CCA080"/>
                </a:solidFill>
                <a:latin typeface="휴먼아미체"/>
                <a:cs typeface="휴먼아미체"/>
              </a:rPr>
              <a:t>시뮬레이터</a:t>
            </a:r>
            <a:r>
              <a:rPr dirty="0" sz="1000" spc="-155">
                <a:solidFill>
                  <a:srgbClr val="CCA080"/>
                </a:solidFill>
                <a:latin typeface="휴먼아미체"/>
                <a:cs typeface="휴먼아미체"/>
              </a:rPr>
              <a:t> </a:t>
            </a:r>
            <a:r>
              <a:rPr dirty="0" sz="1000" spc="330">
                <a:solidFill>
                  <a:srgbClr val="CCA080"/>
                </a:solidFill>
                <a:latin typeface="휴먼아미체"/>
                <a:cs typeface="휴먼아미체"/>
              </a:rPr>
              <a:t>수준 </a:t>
            </a:r>
            <a:r>
              <a:rPr dirty="0" sz="1000" spc="240">
                <a:solidFill>
                  <a:srgbClr val="CCA080"/>
                </a:solidFill>
                <a:latin typeface="휴먼아미체"/>
                <a:cs typeface="휴먼아미체"/>
              </a:rPr>
              <a:t>비결정성</a:t>
            </a:r>
            <a:endParaRPr sz="1000">
              <a:latin typeface="휴먼아미체"/>
              <a:cs typeface="휴먼아미체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241450" y="2424938"/>
            <a:ext cx="177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65">
                <a:solidFill>
                  <a:srgbClr val="666666"/>
                </a:solidFill>
                <a:latin typeface="Cambria"/>
                <a:cs typeface="Cambria"/>
              </a:rPr>
              <a:t>→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486024" y="2181223"/>
            <a:ext cx="1504950" cy="723900"/>
          </a:xfrm>
          <a:custGeom>
            <a:avLst/>
            <a:gdLst/>
            <a:ahLst/>
            <a:cxnLst/>
            <a:rect l="l" t="t" r="r" b="b"/>
            <a:pathLst>
              <a:path w="1504950" h="723900">
                <a:moveTo>
                  <a:pt x="1451552" y="723898"/>
                </a:moveTo>
                <a:lnTo>
                  <a:pt x="53397" y="723898"/>
                </a:lnTo>
                <a:lnTo>
                  <a:pt x="49680" y="723530"/>
                </a:lnTo>
                <a:lnTo>
                  <a:pt x="14085" y="704506"/>
                </a:lnTo>
                <a:lnTo>
                  <a:pt x="0" y="670500"/>
                </a:lnTo>
                <a:lnTo>
                  <a:pt x="0" y="666749"/>
                </a:lnTo>
                <a:lnTo>
                  <a:pt x="0" y="53394"/>
                </a:lnTo>
                <a:lnTo>
                  <a:pt x="19392" y="14082"/>
                </a:lnTo>
                <a:lnTo>
                  <a:pt x="53397" y="0"/>
                </a:lnTo>
                <a:lnTo>
                  <a:pt x="1451552" y="0"/>
                </a:lnTo>
                <a:lnTo>
                  <a:pt x="1490864" y="19389"/>
                </a:lnTo>
                <a:lnTo>
                  <a:pt x="1504949" y="53394"/>
                </a:lnTo>
                <a:lnTo>
                  <a:pt x="1504949" y="670500"/>
                </a:lnTo>
                <a:lnTo>
                  <a:pt x="1485557" y="709812"/>
                </a:lnTo>
                <a:lnTo>
                  <a:pt x="1455268" y="723530"/>
                </a:lnTo>
                <a:lnTo>
                  <a:pt x="1451552" y="723898"/>
                </a:lnTo>
                <a:close/>
              </a:path>
            </a:pathLst>
          </a:custGeom>
          <a:solidFill>
            <a:srgbClr val="091A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574825" y="2216424"/>
            <a:ext cx="583565" cy="6038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900" spc="-20" b="1">
                <a:solidFill>
                  <a:srgbClr val="608FF0"/>
                </a:solidFill>
                <a:latin typeface="Noto Sans KR"/>
                <a:cs typeface="Noto Sans KR"/>
              </a:rPr>
              <a:t>ERROR</a:t>
            </a:r>
            <a:endParaRPr sz="900">
              <a:latin typeface="Noto Sans KR"/>
              <a:cs typeface="Noto Sans KR"/>
            </a:endParaRPr>
          </a:p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1000" spc="315">
                <a:solidFill>
                  <a:srgbClr val="8080BF"/>
                </a:solidFill>
                <a:latin typeface="휴먼아미체"/>
                <a:cs typeface="휴먼아미체"/>
              </a:rPr>
              <a:t>긴급</a:t>
            </a:r>
            <a:r>
              <a:rPr dirty="0" sz="1000" spc="-160">
                <a:solidFill>
                  <a:srgbClr val="8080BF"/>
                </a:solidFill>
                <a:latin typeface="휴먼아미체"/>
                <a:cs typeface="휴먼아미체"/>
              </a:rPr>
              <a:t> </a:t>
            </a:r>
            <a:r>
              <a:rPr dirty="0" sz="1000" spc="340">
                <a:solidFill>
                  <a:srgbClr val="8080BF"/>
                </a:solidFill>
                <a:latin typeface="휴먼아미체"/>
                <a:cs typeface="휴먼아미체"/>
              </a:rPr>
              <a:t>로트 </a:t>
            </a:r>
            <a:r>
              <a:rPr dirty="0" sz="1000" spc="285">
                <a:solidFill>
                  <a:srgbClr val="8080BF"/>
                </a:solidFill>
                <a:latin typeface="휴먼아미체"/>
                <a:cs typeface="휴먼아미체"/>
              </a:rPr>
              <a:t>과소</a:t>
            </a:r>
            <a:r>
              <a:rPr dirty="0" sz="1000" spc="-155">
                <a:solidFill>
                  <a:srgbClr val="8080BF"/>
                </a:solidFill>
                <a:latin typeface="휴먼아미체"/>
                <a:cs typeface="휴먼아미체"/>
              </a:rPr>
              <a:t> </a:t>
            </a:r>
            <a:r>
              <a:rPr dirty="0" sz="1000" spc="254">
                <a:solidFill>
                  <a:srgbClr val="8080BF"/>
                </a:solidFill>
                <a:latin typeface="휴먼아미체"/>
                <a:cs typeface="휴먼아미체"/>
              </a:rPr>
              <a:t>우선화</a:t>
            </a:r>
            <a:endParaRPr sz="1000">
              <a:latin typeface="휴먼아미체"/>
              <a:cs typeface="휴먼아미체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57600" y="2424938"/>
            <a:ext cx="177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65">
                <a:solidFill>
                  <a:srgbClr val="666666"/>
                </a:solidFill>
                <a:latin typeface="Cambria"/>
                <a:cs typeface="Cambria"/>
              </a:rPr>
              <a:t>→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295774" y="2181223"/>
            <a:ext cx="1514475" cy="723900"/>
          </a:xfrm>
          <a:custGeom>
            <a:avLst/>
            <a:gdLst/>
            <a:ahLst/>
            <a:cxnLst/>
            <a:rect l="l" t="t" r="r" b="b"/>
            <a:pathLst>
              <a:path w="1514475" h="723900">
                <a:moveTo>
                  <a:pt x="1461077" y="723898"/>
                </a:moveTo>
                <a:lnTo>
                  <a:pt x="53397" y="723898"/>
                </a:lnTo>
                <a:lnTo>
                  <a:pt x="49680" y="723530"/>
                </a:lnTo>
                <a:lnTo>
                  <a:pt x="14085" y="704506"/>
                </a:lnTo>
                <a:lnTo>
                  <a:pt x="0" y="670500"/>
                </a:lnTo>
                <a:lnTo>
                  <a:pt x="0" y="666749"/>
                </a:lnTo>
                <a:lnTo>
                  <a:pt x="0" y="53394"/>
                </a:lnTo>
                <a:lnTo>
                  <a:pt x="19392" y="14082"/>
                </a:lnTo>
                <a:lnTo>
                  <a:pt x="53397" y="0"/>
                </a:lnTo>
                <a:lnTo>
                  <a:pt x="1461077" y="0"/>
                </a:lnTo>
                <a:lnTo>
                  <a:pt x="1500389" y="19389"/>
                </a:lnTo>
                <a:lnTo>
                  <a:pt x="1514475" y="53394"/>
                </a:lnTo>
                <a:lnTo>
                  <a:pt x="1514475" y="670500"/>
                </a:lnTo>
                <a:lnTo>
                  <a:pt x="1495082" y="709812"/>
                </a:lnTo>
                <a:lnTo>
                  <a:pt x="1464793" y="723530"/>
                </a:lnTo>
                <a:lnTo>
                  <a:pt x="1461077" y="723898"/>
                </a:lnTo>
                <a:close/>
              </a:path>
            </a:pathLst>
          </a:custGeom>
          <a:solidFill>
            <a:srgbClr val="29090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90975" y="2217560"/>
            <a:ext cx="631190" cy="60261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900" spc="-10" b="1">
                <a:solidFill>
                  <a:srgbClr val="F06060"/>
                </a:solidFill>
                <a:latin typeface="Noto Sans KR"/>
                <a:cs typeface="Noto Sans KR"/>
              </a:rPr>
              <a:t>FAILURE</a:t>
            </a:r>
            <a:endParaRPr sz="9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000" spc="-65">
                <a:solidFill>
                  <a:srgbClr val="BF8080"/>
                </a:solidFill>
                <a:latin typeface="Noto Sans KR"/>
                <a:cs typeface="Noto Sans KR"/>
              </a:rPr>
              <a:t>CT</a:t>
            </a:r>
            <a:r>
              <a:rPr dirty="0" sz="1000" spc="10">
                <a:solidFill>
                  <a:srgbClr val="BF8080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BF8080"/>
                </a:solidFill>
                <a:latin typeface="Noto Sans KR"/>
                <a:cs typeface="Noto Sans KR"/>
              </a:rPr>
              <a:t>&gt;</a:t>
            </a:r>
            <a:r>
              <a:rPr dirty="0" sz="1000" spc="-30">
                <a:solidFill>
                  <a:srgbClr val="BF8080"/>
                </a:solidFill>
                <a:latin typeface="Noto Sans KR"/>
                <a:cs typeface="Noto Sans KR"/>
              </a:rPr>
              <a:t> </a:t>
            </a:r>
            <a:r>
              <a:rPr dirty="0" sz="1000" spc="-10">
                <a:solidFill>
                  <a:srgbClr val="BF8080"/>
                </a:solidFill>
                <a:latin typeface="Noto Sans KR"/>
                <a:cs typeface="Noto Sans KR"/>
              </a:rPr>
              <a:t>3</a:t>
            </a:r>
            <a:r>
              <a:rPr dirty="0" sz="1000" spc="-10">
                <a:solidFill>
                  <a:srgbClr val="BF8080"/>
                </a:solidFill>
                <a:latin typeface="Arial"/>
                <a:cs typeface="Arial"/>
              </a:rPr>
              <a:t>,</a:t>
            </a:r>
            <a:r>
              <a:rPr dirty="0" sz="1000" spc="-10">
                <a:solidFill>
                  <a:srgbClr val="BF8080"/>
                </a:solidFill>
                <a:latin typeface="Noto Sans KR"/>
                <a:cs typeface="Noto Sans KR"/>
              </a:rPr>
              <a:t>500s</a:t>
            </a:r>
            <a:endParaRPr sz="10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000" spc="235">
                <a:solidFill>
                  <a:srgbClr val="BF8080"/>
                </a:solidFill>
                <a:latin typeface="휴먼아미체"/>
                <a:cs typeface="휴먼아미체"/>
              </a:rPr>
              <a:t>납기</a:t>
            </a:r>
            <a:r>
              <a:rPr dirty="0" sz="1000" spc="-160">
                <a:solidFill>
                  <a:srgbClr val="BF8080"/>
                </a:solidFill>
                <a:latin typeface="휴먼아미체"/>
                <a:cs typeface="휴먼아미체"/>
              </a:rPr>
              <a:t> </a:t>
            </a:r>
            <a:r>
              <a:rPr dirty="0" sz="1000" spc="210">
                <a:solidFill>
                  <a:srgbClr val="BF8080"/>
                </a:solidFill>
                <a:latin typeface="휴먼아미체"/>
                <a:cs typeface="휴먼아미체"/>
              </a:rPr>
              <a:t>위반</a:t>
            </a:r>
            <a:endParaRPr sz="1000">
              <a:latin typeface="휴먼아미체"/>
              <a:cs typeface="휴먼아미체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68349" y="3075419"/>
            <a:ext cx="341312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50">
                <a:solidFill>
                  <a:srgbClr val="AAAAAA"/>
                </a:solidFill>
                <a:latin typeface="Noto Sans KR"/>
                <a:cs typeface="Noto Sans KR"/>
              </a:rPr>
              <a:t>LLM</a:t>
            </a:r>
            <a:r>
              <a:rPr dirty="0" sz="1000" spc="-5">
                <a:solidFill>
                  <a:srgbClr val="AAAAAA"/>
                </a:solidFill>
                <a:latin typeface="Noto Sans KR"/>
                <a:cs typeface="Noto Sans KR"/>
              </a:rPr>
              <a:t> </a:t>
            </a:r>
            <a:r>
              <a:rPr dirty="0" sz="1000" spc="290">
                <a:solidFill>
                  <a:srgbClr val="AAAAAA"/>
                </a:solidFill>
                <a:latin typeface="휴먼아미체"/>
                <a:cs typeface="휴먼아미체"/>
              </a:rPr>
              <a:t>거버넌스</a:t>
            </a:r>
            <a:r>
              <a:rPr dirty="0" sz="1000" spc="-160">
                <a:solidFill>
                  <a:srgbClr val="AAAAAA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AAAAAA"/>
                </a:solidFill>
                <a:latin typeface="Noto Sans KR"/>
                <a:cs typeface="Noto Sans KR"/>
              </a:rPr>
              <a:t>=</a:t>
            </a:r>
            <a:r>
              <a:rPr dirty="0" sz="1000" spc="20">
                <a:solidFill>
                  <a:srgbClr val="AAAAAA"/>
                </a:solidFill>
                <a:latin typeface="Noto Sans KR"/>
                <a:cs typeface="Noto Sans KR"/>
              </a:rPr>
              <a:t> </a:t>
            </a:r>
            <a:r>
              <a:rPr dirty="0" sz="1000" spc="-75" b="1">
                <a:solidFill>
                  <a:srgbClr val="DF592A"/>
                </a:solidFill>
                <a:latin typeface="Noto Sans KR"/>
                <a:cs typeface="Noto Sans KR"/>
              </a:rPr>
              <a:t>F</a:t>
            </a:r>
            <a:r>
              <a:rPr dirty="0" sz="1000" spc="-75" b="1">
                <a:solidFill>
                  <a:srgbClr val="DF592A"/>
                </a:solidFill>
                <a:latin typeface="Arial"/>
                <a:cs typeface="Arial"/>
              </a:rPr>
              <a:t>→</a:t>
            </a:r>
            <a:r>
              <a:rPr dirty="0" sz="1000" spc="-75" b="1">
                <a:solidFill>
                  <a:srgbClr val="DF592A"/>
                </a:solidFill>
                <a:latin typeface="Noto Sans KR"/>
                <a:cs typeface="Noto Sans KR"/>
              </a:rPr>
              <a:t>E</a:t>
            </a:r>
            <a:r>
              <a:rPr dirty="0" sz="1000" spc="-75" b="1">
                <a:solidFill>
                  <a:srgbClr val="DF592A"/>
                </a:solidFill>
                <a:latin typeface="Arial"/>
                <a:cs typeface="Arial"/>
              </a:rPr>
              <a:t>→</a:t>
            </a:r>
            <a:r>
              <a:rPr dirty="0" sz="1000" spc="-75" b="1">
                <a:solidFill>
                  <a:srgbClr val="DF592A"/>
                </a:solidFill>
                <a:latin typeface="Noto Sans KR"/>
                <a:cs typeface="Noto Sans KR"/>
              </a:rPr>
              <a:t>F</a:t>
            </a:r>
            <a:r>
              <a:rPr dirty="0" sz="1000" spc="2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연쇄를</a:t>
            </a:r>
            <a:r>
              <a:rPr dirty="0" sz="100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180" b="1">
                <a:solidFill>
                  <a:srgbClr val="DF592A"/>
                </a:solidFill>
                <a:latin typeface="맑은 고딕"/>
                <a:cs typeface="맑은 고딕"/>
              </a:rPr>
              <a:t>차단하는</a:t>
            </a:r>
            <a:r>
              <a:rPr dirty="0" sz="100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000" spc="-50" b="1">
                <a:solidFill>
                  <a:srgbClr val="DF592A"/>
                </a:solidFill>
                <a:latin typeface="Noto Sans KR"/>
                <a:cs typeface="Noto Sans KR"/>
              </a:rPr>
              <a:t>Fault</a:t>
            </a:r>
            <a:r>
              <a:rPr dirty="0" sz="1000" spc="-50" b="1">
                <a:solidFill>
                  <a:srgbClr val="DF592A"/>
                </a:solidFill>
                <a:latin typeface="Arial"/>
                <a:cs typeface="Arial"/>
              </a:rPr>
              <a:t>-</a:t>
            </a:r>
            <a:r>
              <a:rPr dirty="0" sz="1000" spc="-65" b="1">
                <a:solidFill>
                  <a:srgbClr val="DF592A"/>
                </a:solidFill>
                <a:latin typeface="Noto Sans KR"/>
                <a:cs typeface="Noto Sans KR"/>
              </a:rPr>
              <a:t>Tolerance</a:t>
            </a:r>
            <a:r>
              <a:rPr dirty="0" sz="1000" spc="2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000" spc="-20" b="1">
                <a:solidFill>
                  <a:srgbClr val="DF592A"/>
                </a:solidFill>
                <a:latin typeface="맑은 고딕"/>
                <a:cs typeface="맑은 고딕"/>
              </a:rPr>
              <a:t>메커니즘</a:t>
            </a:r>
            <a:endParaRPr sz="1000">
              <a:latin typeface="맑은 고딕"/>
              <a:cs typeface="맑은 고딕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210299" y="581023"/>
            <a:ext cx="5486400" cy="5400675"/>
            <a:chOff x="6210299" y="581023"/>
            <a:chExt cx="5486400" cy="5400675"/>
          </a:xfrm>
        </p:grpSpPr>
        <p:sp>
          <p:nvSpPr>
            <p:cNvPr id="20" name="object 20" descr=""/>
            <p:cNvSpPr/>
            <p:nvPr/>
          </p:nvSpPr>
          <p:spPr>
            <a:xfrm>
              <a:off x="6215062" y="585786"/>
              <a:ext cx="5476875" cy="5391150"/>
            </a:xfrm>
            <a:custGeom>
              <a:avLst/>
              <a:gdLst/>
              <a:ahLst/>
              <a:cxnLst/>
              <a:rect l="l" t="t" r="r" b="b"/>
              <a:pathLst>
                <a:path w="5476875" h="5391150">
                  <a:moveTo>
                    <a:pt x="5401226" y="5391149"/>
                  </a:moveTo>
                  <a:lnTo>
                    <a:pt x="75646" y="5391149"/>
                  </a:lnTo>
                  <a:lnTo>
                    <a:pt x="70381" y="5390628"/>
                  </a:lnTo>
                  <a:lnTo>
                    <a:pt x="31560" y="5374545"/>
                  </a:lnTo>
                  <a:lnTo>
                    <a:pt x="4128" y="5336255"/>
                  </a:lnTo>
                  <a:lnTo>
                    <a:pt x="0" y="5315502"/>
                  </a:lnTo>
                  <a:lnTo>
                    <a:pt x="0" y="5310187"/>
                  </a:lnTo>
                  <a:lnTo>
                    <a:pt x="0" y="75644"/>
                  </a:lnTo>
                  <a:lnTo>
                    <a:pt x="16597" y="31558"/>
                  </a:lnTo>
                  <a:lnTo>
                    <a:pt x="54890" y="4125"/>
                  </a:lnTo>
                  <a:lnTo>
                    <a:pt x="75646" y="0"/>
                  </a:lnTo>
                  <a:lnTo>
                    <a:pt x="5401226" y="0"/>
                  </a:lnTo>
                  <a:lnTo>
                    <a:pt x="5445311" y="16594"/>
                  </a:lnTo>
                  <a:lnTo>
                    <a:pt x="5472744" y="54887"/>
                  </a:lnTo>
                  <a:lnTo>
                    <a:pt x="5476873" y="75644"/>
                  </a:lnTo>
                  <a:lnTo>
                    <a:pt x="5476873" y="5315502"/>
                  </a:lnTo>
                  <a:lnTo>
                    <a:pt x="5460275" y="5359583"/>
                  </a:lnTo>
                  <a:lnTo>
                    <a:pt x="5421982" y="5387019"/>
                  </a:lnTo>
                  <a:lnTo>
                    <a:pt x="5406491" y="5390628"/>
                  </a:lnTo>
                  <a:lnTo>
                    <a:pt x="5401226" y="5391149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15062" y="585786"/>
              <a:ext cx="5476875" cy="5391150"/>
            </a:xfrm>
            <a:custGeom>
              <a:avLst/>
              <a:gdLst/>
              <a:ahLst/>
              <a:cxnLst/>
              <a:rect l="l" t="t" r="r" b="b"/>
              <a:pathLst>
                <a:path w="5476875" h="5391150">
                  <a:moveTo>
                    <a:pt x="0" y="5310187"/>
                  </a:moveTo>
                  <a:lnTo>
                    <a:pt x="0" y="80962"/>
                  </a:lnTo>
                  <a:lnTo>
                    <a:pt x="0" y="75644"/>
                  </a:lnTo>
                  <a:lnTo>
                    <a:pt x="518" y="70377"/>
                  </a:lnTo>
                  <a:lnTo>
                    <a:pt x="13643" y="35978"/>
                  </a:lnTo>
                  <a:lnTo>
                    <a:pt x="16597" y="31558"/>
                  </a:lnTo>
                  <a:lnTo>
                    <a:pt x="19954" y="27468"/>
                  </a:lnTo>
                  <a:lnTo>
                    <a:pt x="23713" y="23710"/>
                  </a:lnTo>
                  <a:lnTo>
                    <a:pt x="27471" y="19950"/>
                  </a:lnTo>
                  <a:lnTo>
                    <a:pt x="31560" y="16594"/>
                  </a:lnTo>
                  <a:lnTo>
                    <a:pt x="35980" y="13640"/>
                  </a:lnTo>
                  <a:lnTo>
                    <a:pt x="40401" y="10685"/>
                  </a:lnTo>
                  <a:lnTo>
                    <a:pt x="65167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5395912" y="0"/>
                  </a:lnTo>
                  <a:lnTo>
                    <a:pt x="5401226" y="0"/>
                  </a:lnTo>
                  <a:lnTo>
                    <a:pt x="5406491" y="518"/>
                  </a:lnTo>
                  <a:lnTo>
                    <a:pt x="5411706" y="1555"/>
                  </a:lnTo>
                  <a:lnTo>
                    <a:pt x="5416920" y="2590"/>
                  </a:lnTo>
                  <a:lnTo>
                    <a:pt x="5453160" y="23710"/>
                  </a:lnTo>
                  <a:lnTo>
                    <a:pt x="5456919" y="27468"/>
                  </a:lnTo>
                  <a:lnTo>
                    <a:pt x="5475317" y="65163"/>
                  </a:lnTo>
                  <a:lnTo>
                    <a:pt x="5476874" y="80962"/>
                  </a:lnTo>
                  <a:lnTo>
                    <a:pt x="5476874" y="5310187"/>
                  </a:lnTo>
                  <a:lnTo>
                    <a:pt x="5466182" y="5350742"/>
                  </a:lnTo>
                  <a:lnTo>
                    <a:pt x="5463228" y="5355161"/>
                  </a:lnTo>
                  <a:lnTo>
                    <a:pt x="5460275" y="5359583"/>
                  </a:lnTo>
                  <a:lnTo>
                    <a:pt x="5440891" y="5377499"/>
                  </a:lnTo>
                  <a:lnTo>
                    <a:pt x="5436471" y="5380456"/>
                  </a:lnTo>
                  <a:lnTo>
                    <a:pt x="5431805" y="5382950"/>
                  </a:lnTo>
                  <a:lnTo>
                    <a:pt x="5426893" y="5384982"/>
                  </a:lnTo>
                  <a:lnTo>
                    <a:pt x="5421982" y="5387019"/>
                  </a:lnTo>
                  <a:lnTo>
                    <a:pt x="5416920" y="5388554"/>
                  </a:lnTo>
                  <a:lnTo>
                    <a:pt x="5411706" y="5389591"/>
                  </a:lnTo>
                  <a:lnTo>
                    <a:pt x="5406491" y="5390628"/>
                  </a:lnTo>
                  <a:lnTo>
                    <a:pt x="5401226" y="5391149"/>
                  </a:lnTo>
                  <a:lnTo>
                    <a:pt x="5395912" y="5391149"/>
                  </a:lnTo>
                  <a:lnTo>
                    <a:pt x="80962" y="5391149"/>
                  </a:lnTo>
                  <a:lnTo>
                    <a:pt x="75646" y="5391149"/>
                  </a:lnTo>
                  <a:lnTo>
                    <a:pt x="70381" y="5390628"/>
                  </a:lnTo>
                  <a:lnTo>
                    <a:pt x="65167" y="5389591"/>
                  </a:lnTo>
                  <a:lnTo>
                    <a:pt x="59953" y="5388554"/>
                  </a:lnTo>
                  <a:lnTo>
                    <a:pt x="54890" y="5387019"/>
                  </a:lnTo>
                  <a:lnTo>
                    <a:pt x="49978" y="5384982"/>
                  </a:lnTo>
                  <a:lnTo>
                    <a:pt x="45067" y="5382950"/>
                  </a:lnTo>
                  <a:lnTo>
                    <a:pt x="40401" y="5380456"/>
                  </a:lnTo>
                  <a:lnTo>
                    <a:pt x="35980" y="5377499"/>
                  </a:lnTo>
                  <a:lnTo>
                    <a:pt x="31560" y="5374545"/>
                  </a:lnTo>
                  <a:lnTo>
                    <a:pt x="13643" y="5355161"/>
                  </a:lnTo>
                  <a:lnTo>
                    <a:pt x="10690" y="5350742"/>
                  </a:lnTo>
                  <a:lnTo>
                    <a:pt x="8196" y="5346078"/>
                  </a:lnTo>
                  <a:lnTo>
                    <a:pt x="6162" y="5341166"/>
                  </a:lnTo>
                  <a:lnTo>
                    <a:pt x="4128" y="5336255"/>
                  </a:lnTo>
                  <a:lnTo>
                    <a:pt x="2592" y="5331195"/>
                  </a:lnTo>
                  <a:lnTo>
                    <a:pt x="1555" y="5325981"/>
                  </a:lnTo>
                  <a:lnTo>
                    <a:pt x="518" y="5320767"/>
                  </a:lnTo>
                  <a:lnTo>
                    <a:pt x="0" y="5315502"/>
                  </a:lnTo>
                  <a:lnTo>
                    <a:pt x="0" y="531018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6024" y="1314449"/>
              <a:ext cx="5314949" cy="3933824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6210298" y="6076948"/>
            <a:ext cx="5486400" cy="533400"/>
          </a:xfrm>
          <a:custGeom>
            <a:avLst/>
            <a:gdLst/>
            <a:ahLst/>
            <a:cxnLst/>
            <a:rect l="l" t="t" r="r" b="b"/>
            <a:pathLst>
              <a:path w="5486400" h="533400">
                <a:moveTo>
                  <a:pt x="5424102" y="533399"/>
                </a:moveTo>
                <a:lnTo>
                  <a:pt x="62297" y="533399"/>
                </a:lnTo>
                <a:lnTo>
                  <a:pt x="57960" y="532972"/>
                </a:lnTo>
                <a:lnTo>
                  <a:pt x="22624" y="516958"/>
                </a:lnTo>
                <a:lnTo>
                  <a:pt x="2134" y="484021"/>
                </a:lnTo>
                <a:lnTo>
                  <a:pt x="0" y="471101"/>
                </a:lnTo>
                <a:lnTo>
                  <a:pt x="0" y="466724"/>
                </a:lnTo>
                <a:lnTo>
                  <a:pt x="0" y="62298"/>
                </a:lnTo>
                <a:lnTo>
                  <a:pt x="13668" y="25988"/>
                </a:lnTo>
                <a:lnTo>
                  <a:pt x="45204" y="3399"/>
                </a:lnTo>
                <a:lnTo>
                  <a:pt x="62297" y="0"/>
                </a:lnTo>
                <a:lnTo>
                  <a:pt x="5424102" y="0"/>
                </a:lnTo>
                <a:lnTo>
                  <a:pt x="5460407" y="13669"/>
                </a:lnTo>
                <a:lnTo>
                  <a:pt x="5482999" y="45201"/>
                </a:lnTo>
                <a:lnTo>
                  <a:pt x="5486400" y="62298"/>
                </a:lnTo>
                <a:lnTo>
                  <a:pt x="5486400" y="471101"/>
                </a:lnTo>
                <a:lnTo>
                  <a:pt x="5472730" y="507406"/>
                </a:lnTo>
                <a:lnTo>
                  <a:pt x="5441193" y="530000"/>
                </a:lnTo>
                <a:lnTo>
                  <a:pt x="5428437" y="532972"/>
                </a:lnTo>
                <a:lnTo>
                  <a:pt x="5424102" y="533399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7872511" y="6137889"/>
            <a:ext cx="2162175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 marR="5080" indent="-4445">
              <a:lnSpc>
                <a:spcPct val="118700"/>
              </a:lnSpc>
              <a:spcBef>
                <a:spcPts val="95"/>
              </a:spcBef>
            </a:pP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동일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60">
                <a:solidFill>
                  <a:srgbClr val="444444"/>
                </a:solidFill>
                <a:latin typeface="휴먼아미체"/>
                <a:cs typeface="휴먼아미체"/>
              </a:rPr>
              <a:t>설정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105">
                <a:solidFill>
                  <a:srgbClr val="444444"/>
                </a:solidFill>
                <a:latin typeface="Noto Sans KR"/>
                <a:cs typeface="Noto Sans KR"/>
              </a:rPr>
              <a:t>2</a:t>
            </a:r>
            <a:r>
              <a:rPr dirty="0" sz="1000" spc="105">
                <a:solidFill>
                  <a:srgbClr val="444444"/>
                </a:solidFill>
                <a:latin typeface="휴먼아미체"/>
                <a:cs typeface="휴먼아미체"/>
              </a:rPr>
              <a:t>회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실행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85">
                <a:solidFill>
                  <a:srgbClr val="444444"/>
                </a:solidFill>
                <a:latin typeface="휴먼아미체"/>
                <a:cs typeface="휴먼아미체"/>
              </a:rPr>
              <a:t>초반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궤적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85">
                <a:solidFill>
                  <a:srgbClr val="444444"/>
                </a:solidFill>
                <a:latin typeface="휴먼아미체"/>
                <a:cs typeface="휴먼아미체"/>
              </a:rPr>
              <a:t>유사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65">
                <a:solidFill>
                  <a:srgbClr val="444444"/>
                </a:solidFill>
                <a:latin typeface="휴먼아미체"/>
                <a:cs typeface="휴먼아미체"/>
              </a:rPr>
              <a:t>후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180">
                <a:solidFill>
                  <a:srgbClr val="444444"/>
                </a:solidFill>
                <a:latin typeface="휴먼아미체"/>
                <a:cs typeface="휴먼아미체"/>
              </a:rPr>
              <a:t>발산 </a:t>
            </a:r>
            <a:r>
              <a:rPr dirty="0" sz="1000" spc="-65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00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340">
                <a:solidFill>
                  <a:srgbClr val="444444"/>
                </a:solidFill>
                <a:latin typeface="Cambria"/>
                <a:cs typeface="Cambria"/>
              </a:rPr>
              <a:t>≈</a:t>
            </a:r>
            <a:r>
              <a:rPr dirty="0" sz="1000" spc="2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2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274s</a:t>
            </a:r>
            <a:r>
              <a:rPr dirty="0" sz="10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14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140">
                <a:solidFill>
                  <a:srgbClr val="444444"/>
                </a:solidFill>
                <a:latin typeface="휴먼아미체"/>
                <a:cs typeface="휴먼아미체"/>
              </a:rPr>
              <a:t>성공</a:t>
            </a:r>
            <a:r>
              <a:rPr dirty="0" sz="1000" spc="140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00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444444"/>
                </a:solidFill>
                <a:latin typeface="Noto Sans KR"/>
                <a:cs typeface="Noto Sans KR"/>
              </a:rPr>
              <a:t>vs</a:t>
            </a:r>
            <a:r>
              <a:rPr dirty="0" sz="10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65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00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340">
                <a:solidFill>
                  <a:srgbClr val="444444"/>
                </a:solidFill>
                <a:latin typeface="Cambria"/>
                <a:cs typeface="Cambria"/>
              </a:rPr>
              <a:t>≈</a:t>
            </a:r>
            <a:r>
              <a:rPr dirty="0" sz="1000" spc="3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706s</a:t>
            </a:r>
            <a:r>
              <a:rPr dirty="0" sz="100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6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65">
                <a:solidFill>
                  <a:srgbClr val="444444"/>
                </a:solidFill>
                <a:latin typeface="휴먼아미체"/>
                <a:cs typeface="휴먼아미체"/>
              </a:rPr>
              <a:t>실패</a:t>
            </a:r>
            <a:r>
              <a:rPr dirty="0" sz="1000" spc="65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0" y="6819898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7849" y="30829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연구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제안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05">
                <a:latin typeface="Noto Sans KR"/>
                <a:cs typeface="Noto Sans KR"/>
              </a:rPr>
              <a:t>LLM</a:t>
            </a:r>
            <a:r>
              <a:rPr dirty="0" spc="65">
                <a:latin typeface="Noto Sans KR"/>
                <a:cs typeface="Noto Sans KR"/>
              </a:rPr>
              <a:t> </a:t>
            </a:r>
            <a:r>
              <a:rPr dirty="0" spc="-360"/>
              <a:t>거버넌스를</a:t>
            </a:r>
            <a:r>
              <a:rPr dirty="0" spc="-185"/>
              <a:t> </a:t>
            </a:r>
            <a:r>
              <a:rPr dirty="0" spc="-100">
                <a:solidFill>
                  <a:srgbClr val="DF592A"/>
                </a:solidFill>
                <a:latin typeface="Noto Sans KR"/>
                <a:cs typeface="Noto Sans KR"/>
              </a:rPr>
              <a:t>Fault</a:t>
            </a:r>
            <a:r>
              <a:rPr dirty="0" sz="2050" spc="-100">
                <a:solidFill>
                  <a:srgbClr val="DF592A"/>
                </a:solidFill>
                <a:latin typeface="Arial"/>
                <a:cs typeface="Arial"/>
              </a:rPr>
              <a:t>-</a:t>
            </a:r>
            <a:r>
              <a:rPr dirty="0" spc="-135">
                <a:solidFill>
                  <a:srgbClr val="DF592A"/>
                </a:solidFill>
                <a:latin typeface="Noto Sans KR"/>
                <a:cs typeface="Noto Sans KR"/>
              </a:rPr>
              <a:t>Tolerance</a:t>
            </a:r>
            <a:r>
              <a:rPr dirty="0" spc="65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pc="-370">
                <a:solidFill>
                  <a:srgbClr val="DF592A"/>
                </a:solidFill>
              </a:rPr>
              <a:t>메커니즘</a:t>
            </a:r>
            <a:r>
              <a:rPr dirty="0" spc="-370"/>
              <a:t>으로</a:t>
            </a:r>
            <a:endParaRPr sz="2050">
              <a:latin typeface="Noto Sans KR"/>
              <a:cs typeface="Noto Sans KR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495299" y="971548"/>
            <a:ext cx="5534025" cy="866775"/>
            <a:chOff x="495299" y="971548"/>
            <a:chExt cx="5534025" cy="866775"/>
          </a:xfrm>
        </p:grpSpPr>
        <p:sp>
          <p:nvSpPr>
            <p:cNvPr id="5" name="object 5" descr=""/>
            <p:cNvSpPr/>
            <p:nvPr/>
          </p:nvSpPr>
          <p:spPr>
            <a:xfrm>
              <a:off x="500062" y="976310"/>
              <a:ext cx="5524500" cy="857250"/>
            </a:xfrm>
            <a:custGeom>
              <a:avLst/>
              <a:gdLst/>
              <a:ahLst/>
              <a:cxnLst/>
              <a:rect l="l" t="t" r="r" b="b"/>
              <a:pathLst>
                <a:path w="5524500" h="857250">
                  <a:moveTo>
                    <a:pt x="5457751" y="857245"/>
                  </a:moveTo>
                  <a:lnTo>
                    <a:pt x="66746" y="857245"/>
                  </a:lnTo>
                  <a:lnTo>
                    <a:pt x="62101" y="856789"/>
                  </a:lnTo>
                  <a:lnTo>
                    <a:pt x="24240" y="839642"/>
                  </a:lnTo>
                  <a:lnTo>
                    <a:pt x="2287" y="804341"/>
                  </a:lnTo>
                  <a:lnTo>
                    <a:pt x="0" y="790500"/>
                  </a:lnTo>
                  <a:lnTo>
                    <a:pt x="0" y="785812"/>
                  </a:lnTo>
                  <a:lnTo>
                    <a:pt x="0" y="66744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5457751" y="0"/>
                  </a:lnTo>
                  <a:lnTo>
                    <a:pt x="5496650" y="14636"/>
                  </a:lnTo>
                  <a:lnTo>
                    <a:pt x="5520855" y="48429"/>
                  </a:lnTo>
                  <a:lnTo>
                    <a:pt x="5524499" y="66744"/>
                  </a:lnTo>
                  <a:lnTo>
                    <a:pt x="5524499" y="790500"/>
                  </a:lnTo>
                  <a:lnTo>
                    <a:pt x="5509853" y="829400"/>
                  </a:lnTo>
                  <a:lnTo>
                    <a:pt x="5476065" y="853603"/>
                  </a:lnTo>
                  <a:lnTo>
                    <a:pt x="5462397" y="856789"/>
                  </a:lnTo>
                  <a:lnTo>
                    <a:pt x="5457751" y="857245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0062" y="976310"/>
              <a:ext cx="5524500" cy="857250"/>
            </a:xfrm>
            <a:custGeom>
              <a:avLst/>
              <a:gdLst/>
              <a:ahLst/>
              <a:cxnLst/>
              <a:rect l="l" t="t" r="r" b="b"/>
              <a:pathLst>
                <a:path w="5524500" h="857250">
                  <a:moveTo>
                    <a:pt x="0" y="7858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98"/>
                  </a:lnTo>
                  <a:lnTo>
                    <a:pt x="3642" y="48429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9433" y="35639"/>
                  </a:lnTo>
                  <a:lnTo>
                    <a:pt x="12039" y="31742"/>
                  </a:lnTo>
                  <a:lnTo>
                    <a:pt x="14645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27848" y="14636"/>
                  </a:lnTo>
                  <a:lnTo>
                    <a:pt x="31748" y="12031"/>
                  </a:lnTo>
                  <a:lnTo>
                    <a:pt x="35648" y="942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53062" y="0"/>
                  </a:lnTo>
                  <a:lnTo>
                    <a:pt x="5457751" y="0"/>
                  </a:lnTo>
                  <a:lnTo>
                    <a:pt x="5462397" y="456"/>
                  </a:lnTo>
                  <a:lnTo>
                    <a:pt x="5492749" y="12031"/>
                  </a:lnTo>
                  <a:lnTo>
                    <a:pt x="5496650" y="14636"/>
                  </a:lnTo>
                  <a:lnTo>
                    <a:pt x="5500258" y="17599"/>
                  </a:lnTo>
                  <a:lnTo>
                    <a:pt x="5503575" y="20919"/>
                  </a:lnTo>
                  <a:lnTo>
                    <a:pt x="5506891" y="24235"/>
                  </a:lnTo>
                  <a:lnTo>
                    <a:pt x="5523126" y="57498"/>
                  </a:lnTo>
                  <a:lnTo>
                    <a:pt x="5524042" y="62098"/>
                  </a:lnTo>
                  <a:lnTo>
                    <a:pt x="5524499" y="66744"/>
                  </a:lnTo>
                  <a:lnTo>
                    <a:pt x="5524499" y="71437"/>
                  </a:lnTo>
                  <a:lnTo>
                    <a:pt x="5524499" y="785812"/>
                  </a:lnTo>
                  <a:lnTo>
                    <a:pt x="5524499" y="790500"/>
                  </a:lnTo>
                  <a:lnTo>
                    <a:pt x="5524042" y="795142"/>
                  </a:lnTo>
                  <a:lnTo>
                    <a:pt x="5523126" y="799741"/>
                  </a:lnTo>
                  <a:lnTo>
                    <a:pt x="5522210" y="804341"/>
                  </a:lnTo>
                  <a:lnTo>
                    <a:pt x="5503575" y="836325"/>
                  </a:lnTo>
                  <a:lnTo>
                    <a:pt x="5500258" y="839642"/>
                  </a:lnTo>
                  <a:lnTo>
                    <a:pt x="5496650" y="842599"/>
                  </a:lnTo>
                  <a:lnTo>
                    <a:pt x="5492749" y="845199"/>
                  </a:lnTo>
                  <a:lnTo>
                    <a:pt x="5488849" y="847808"/>
                  </a:lnTo>
                  <a:lnTo>
                    <a:pt x="5484732" y="850008"/>
                  </a:lnTo>
                  <a:lnTo>
                    <a:pt x="5480399" y="851803"/>
                  </a:lnTo>
                  <a:lnTo>
                    <a:pt x="5476065" y="853603"/>
                  </a:lnTo>
                  <a:lnTo>
                    <a:pt x="5471598" y="854957"/>
                  </a:lnTo>
                  <a:lnTo>
                    <a:pt x="5466997" y="855873"/>
                  </a:lnTo>
                  <a:lnTo>
                    <a:pt x="5462397" y="856789"/>
                  </a:lnTo>
                  <a:lnTo>
                    <a:pt x="5457751" y="857245"/>
                  </a:lnTo>
                  <a:lnTo>
                    <a:pt x="5453062" y="857249"/>
                  </a:lnTo>
                  <a:lnTo>
                    <a:pt x="71437" y="857249"/>
                  </a:lnTo>
                  <a:lnTo>
                    <a:pt x="44099" y="851803"/>
                  </a:lnTo>
                  <a:lnTo>
                    <a:pt x="39765" y="850008"/>
                  </a:lnTo>
                  <a:lnTo>
                    <a:pt x="35648" y="847808"/>
                  </a:lnTo>
                  <a:lnTo>
                    <a:pt x="31748" y="845199"/>
                  </a:lnTo>
                  <a:lnTo>
                    <a:pt x="27848" y="842599"/>
                  </a:lnTo>
                  <a:lnTo>
                    <a:pt x="24240" y="839642"/>
                  </a:lnTo>
                  <a:lnTo>
                    <a:pt x="20923" y="836325"/>
                  </a:lnTo>
                  <a:lnTo>
                    <a:pt x="17606" y="833009"/>
                  </a:lnTo>
                  <a:lnTo>
                    <a:pt x="5437" y="813145"/>
                  </a:lnTo>
                  <a:lnTo>
                    <a:pt x="3642" y="808811"/>
                  </a:lnTo>
                  <a:lnTo>
                    <a:pt x="2287" y="804341"/>
                  </a:lnTo>
                  <a:lnTo>
                    <a:pt x="1372" y="799741"/>
                  </a:lnTo>
                  <a:lnTo>
                    <a:pt x="457" y="795142"/>
                  </a:lnTo>
                  <a:lnTo>
                    <a:pt x="0" y="790500"/>
                  </a:lnTo>
                  <a:lnTo>
                    <a:pt x="0" y="78581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495299" y="1933573"/>
            <a:ext cx="5534025" cy="4676775"/>
            <a:chOff x="495299" y="1933573"/>
            <a:chExt cx="5534025" cy="4676775"/>
          </a:xfrm>
        </p:grpSpPr>
        <p:sp>
          <p:nvSpPr>
            <p:cNvPr id="8" name="object 8" descr=""/>
            <p:cNvSpPr/>
            <p:nvPr/>
          </p:nvSpPr>
          <p:spPr>
            <a:xfrm>
              <a:off x="500062" y="1938335"/>
              <a:ext cx="5524500" cy="4667250"/>
            </a:xfrm>
            <a:custGeom>
              <a:avLst/>
              <a:gdLst/>
              <a:ahLst/>
              <a:cxnLst/>
              <a:rect l="l" t="t" r="r" b="b"/>
              <a:pathLst>
                <a:path w="5524500" h="4667250">
                  <a:moveTo>
                    <a:pt x="5457751" y="4667244"/>
                  </a:moveTo>
                  <a:lnTo>
                    <a:pt x="66746" y="4667244"/>
                  </a:lnTo>
                  <a:lnTo>
                    <a:pt x="62101" y="4666789"/>
                  </a:lnTo>
                  <a:lnTo>
                    <a:pt x="24240" y="4649641"/>
                  </a:lnTo>
                  <a:lnTo>
                    <a:pt x="2287" y="4614345"/>
                  </a:lnTo>
                  <a:lnTo>
                    <a:pt x="0" y="4600500"/>
                  </a:lnTo>
                  <a:lnTo>
                    <a:pt x="0" y="4595812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5457751" y="0"/>
                  </a:lnTo>
                  <a:lnTo>
                    <a:pt x="5496650" y="14645"/>
                  </a:lnTo>
                  <a:lnTo>
                    <a:pt x="5520855" y="48425"/>
                  </a:lnTo>
                  <a:lnTo>
                    <a:pt x="5524499" y="66744"/>
                  </a:lnTo>
                  <a:lnTo>
                    <a:pt x="5524499" y="4600500"/>
                  </a:lnTo>
                  <a:lnTo>
                    <a:pt x="5509853" y="4639395"/>
                  </a:lnTo>
                  <a:lnTo>
                    <a:pt x="5476065" y="4663603"/>
                  </a:lnTo>
                  <a:lnTo>
                    <a:pt x="5462397" y="4666789"/>
                  </a:lnTo>
                  <a:lnTo>
                    <a:pt x="5457751" y="4667244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0062" y="1938335"/>
              <a:ext cx="5524500" cy="4667250"/>
            </a:xfrm>
            <a:custGeom>
              <a:avLst/>
              <a:gdLst/>
              <a:ahLst/>
              <a:cxnLst/>
              <a:rect l="l" t="t" r="r" b="b"/>
              <a:pathLst>
                <a:path w="5524500" h="4667250">
                  <a:moveTo>
                    <a:pt x="0" y="45958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5"/>
                  </a:lnTo>
                  <a:lnTo>
                    <a:pt x="7232" y="39760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44099" y="5436"/>
                  </a:lnTo>
                  <a:lnTo>
                    <a:pt x="48433" y="3641"/>
                  </a:lnTo>
                  <a:lnTo>
                    <a:pt x="52900" y="2287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53062" y="0"/>
                  </a:lnTo>
                  <a:lnTo>
                    <a:pt x="5457751" y="0"/>
                  </a:lnTo>
                  <a:lnTo>
                    <a:pt x="5462397" y="456"/>
                  </a:lnTo>
                  <a:lnTo>
                    <a:pt x="5466997" y="1371"/>
                  </a:lnTo>
                  <a:lnTo>
                    <a:pt x="5471598" y="2287"/>
                  </a:lnTo>
                  <a:lnTo>
                    <a:pt x="5476065" y="3641"/>
                  </a:lnTo>
                  <a:lnTo>
                    <a:pt x="5480399" y="5436"/>
                  </a:lnTo>
                  <a:lnTo>
                    <a:pt x="5484732" y="7227"/>
                  </a:lnTo>
                  <a:lnTo>
                    <a:pt x="5488849" y="9426"/>
                  </a:lnTo>
                  <a:lnTo>
                    <a:pt x="5492749" y="12036"/>
                  </a:lnTo>
                  <a:lnTo>
                    <a:pt x="5496650" y="14645"/>
                  </a:lnTo>
                  <a:lnTo>
                    <a:pt x="5500258" y="17603"/>
                  </a:lnTo>
                  <a:lnTo>
                    <a:pt x="5503575" y="20919"/>
                  </a:lnTo>
                  <a:lnTo>
                    <a:pt x="5506891" y="24235"/>
                  </a:lnTo>
                  <a:lnTo>
                    <a:pt x="5519060" y="44095"/>
                  </a:lnTo>
                  <a:lnTo>
                    <a:pt x="5520855" y="48425"/>
                  </a:lnTo>
                  <a:lnTo>
                    <a:pt x="5522210" y="52894"/>
                  </a:lnTo>
                  <a:lnTo>
                    <a:pt x="5523126" y="57493"/>
                  </a:lnTo>
                  <a:lnTo>
                    <a:pt x="5524042" y="62098"/>
                  </a:lnTo>
                  <a:lnTo>
                    <a:pt x="5524499" y="66744"/>
                  </a:lnTo>
                  <a:lnTo>
                    <a:pt x="5524499" y="71437"/>
                  </a:lnTo>
                  <a:lnTo>
                    <a:pt x="5524499" y="4595812"/>
                  </a:lnTo>
                  <a:lnTo>
                    <a:pt x="5524499" y="4600500"/>
                  </a:lnTo>
                  <a:lnTo>
                    <a:pt x="5524042" y="4605146"/>
                  </a:lnTo>
                  <a:lnTo>
                    <a:pt x="5523126" y="4609746"/>
                  </a:lnTo>
                  <a:lnTo>
                    <a:pt x="5522210" y="4614345"/>
                  </a:lnTo>
                  <a:lnTo>
                    <a:pt x="5512459" y="4635493"/>
                  </a:lnTo>
                  <a:lnTo>
                    <a:pt x="5509853" y="4639395"/>
                  </a:lnTo>
                  <a:lnTo>
                    <a:pt x="5506891" y="4643009"/>
                  </a:lnTo>
                  <a:lnTo>
                    <a:pt x="5503575" y="4646325"/>
                  </a:lnTo>
                  <a:lnTo>
                    <a:pt x="5500258" y="4649641"/>
                  </a:lnTo>
                  <a:lnTo>
                    <a:pt x="5496650" y="4652599"/>
                  </a:lnTo>
                  <a:lnTo>
                    <a:pt x="5492749" y="4655204"/>
                  </a:lnTo>
                  <a:lnTo>
                    <a:pt x="5488849" y="4657813"/>
                  </a:lnTo>
                  <a:lnTo>
                    <a:pt x="5466997" y="4665873"/>
                  </a:lnTo>
                  <a:lnTo>
                    <a:pt x="5462397" y="4666789"/>
                  </a:lnTo>
                  <a:lnTo>
                    <a:pt x="5457751" y="4667244"/>
                  </a:lnTo>
                  <a:lnTo>
                    <a:pt x="5453062" y="4667249"/>
                  </a:lnTo>
                  <a:lnTo>
                    <a:pt x="71437" y="4667249"/>
                  </a:lnTo>
                  <a:lnTo>
                    <a:pt x="44099" y="4661807"/>
                  </a:lnTo>
                  <a:lnTo>
                    <a:pt x="39765" y="4660012"/>
                  </a:lnTo>
                  <a:lnTo>
                    <a:pt x="20923" y="4646325"/>
                  </a:lnTo>
                  <a:lnTo>
                    <a:pt x="17606" y="4643009"/>
                  </a:lnTo>
                  <a:lnTo>
                    <a:pt x="14645" y="4639395"/>
                  </a:lnTo>
                  <a:lnTo>
                    <a:pt x="12039" y="4635493"/>
                  </a:lnTo>
                  <a:lnTo>
                    <a:pt x="9433" y="4631595"/>
                  </a:lnTo>
                  <a:lnTo>
                    <a:pt x="7232" y="4627479"/>
                  </a:lnTo>
                  <a:lnTo>
                    <a:pt x="5437" y="4623145"/>
                  </a:lnTo>
                  <a:lnTo>
                    <a:pt x="3642" y="4618811"/>
                  </a:lnTo>
                  <a:lnTo>
                    <a:pt x="2287" y="4614345"/>
                  </a:lnTo>
                  <a:lnTo>
                    <a:pt x="1372" y="4609746"/>
                  </a:lnTo>
                  <a:lnTo>
                    <a:pt x="457" y="4605146"/>
                  </a:lnTo>
                  <a:lnTo>
                    <a:pt x="0" y="4600500"/>
                  </a:lnTo>
                  <a:lnTo>
                    <a:pt x="0" y="4595812"/>
                  </a:lnTo>
                  <a:close/>
                </a:path>
              </a:pathLst>
            </a:custGeom>
            <a:ln w="9524">
              <a:solidFill>
                <a:srgbClr val="B8D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19112" y="2371724"/>
              <a:ext cx="47625" cy="762000"/>
            </a:xfrm>
            <a:custGeom>
              <a:avLst/>
              <a:gdLst/>
              <a:ahLst/>
              <a:cxnLst/>
              <a:rect l="l" t="t" r="r" b="b"/>
              <a:pathLst>
                <a:path w="47625" h="762000">
                  <a:moveTo>
                    <a:pt x="47625" y="735037"/>
                  </a:moveTo>
                  <a:lnTo>
                    <a:pt x="26974" y="714375"/>
                  </a:lnTo>
                  <a:lnTo>
                    <a:pt x="20662" y="714375"/>
                  </a:lnTo>
                  <a:lnTo>
                    <a:pt x="0" y="735037"/>
                  </a:lnTo>
                  <a:lnTo>
                    <a:pt x="0" y="741349"/>
                  </a:lnTo>
                  <a:lnTo>
                    <a:pt x="20662" y="762000"/>
                  </a:lnTo>
                  <a:lnTo>
                    <a:pt x="26974" y="762000"/>
                  </a:lnTo>
                  <a:lnTo>
                    <a:pt x="47625" y="741349"/>
                  </a:lnTo>
                  <a:lnTo>
                    <a:pt x="47625" y="738187"/>
                  </a:lnTo>
                  <a:lnTo>
                    <a:pt x="47625" y="735037"/>
                  </a:lnTo>
                  <a:close/>
                </a:path>
                <a:path w="47625" h="762000">
                  <a:moveTo>
                    <a:pt x="47625" y="496900"/>
                  </a:moveTo>
                  <a:lnTo>
                    <a:pt x="26974" y="476250"/>
                  </a:lnTo>
                  <a:lnTo>
                    <a:pt x="20662" y="476250"/>
                  </a:lnTo>
                  <a:lnTo>
                    <a:pt x="0" y="496900"/>
                  </a:lnTo>
                  <a:lnTo>
                    <a:pt x="0" y="503224"/>
                  </a:lnTo>
                  <a:lnTo>
                    <a:pt x="20662" y="523875"/>
                  </a:lnTo>
                  <a:lnTo>
                    <a:pt x="26974" y="523875"/>
                  </a:lnTo>
                  <a:lnTo>
                    <a:pt x="47625" y="503224"/>
                  </a:lnTo>
                  <a:lnTo>
                    <a:pt x="47625" y="500062"/>
                  </a:lnTo>
                  <a:lnTo>
                    <a:pt x="47625" y="496900"/>
                  </a:lnTo>
                  <a:close/>
                </a:path>
                <a:path w="47625" h="762000">
                  <a:moveTo>
                    <a:pt x="47625" y="258775"/>
                  </a:moveTo>
                  <a:lnTo>
                    <a:pt x="26974" y="238125"/>
                  </a:lnTo>
                  <a:lnTo>
                    <a:pt x="20662" y="238125"/>
                  </a:lnTo>
                  <a:lnTo>
                    <a:pt x="0" y="258775"/>
                  </a:lnTo>
                  <a:lnTo>
                    <a:pt x="0" y="265099"/>
                  </a:lnTo>
                  <a:lnTo>
                    <a:pt x="20662" y="285750"/>
                  </a:lnTo>
                  <a:lnTo>
                    <a:pt x="26974" y="285750"/>
                  </a:lnTo>
                  <a:lnTo>
                    <a:pt x="47625" y="265099"/>
                  </a:lnTo>
                  <a:lnTo>
                    <a:pt x="47625" y="261937"/>
                  </a:lnTo>
                  <a:lnTo>
                    <a:pt x="47625" y="258775"/>
                  </a:lnTo>
                  <a:close/>
                </a:path>
                <a:path w="47625" h="762000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625474" y="1026697"/>
            <a:ext cx="3159760" cy="217678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200" spc="-140">
                <a:solidFill>
                  <a:srgbClr val="1A1A1A"/>
                </a:solidFill>
                <a:latin typeface="Segoe UI Symbol"/>
                <a:cs typeface="Segoe UI Symbol"/>
              </a:rPr>
              <a:t>💡</a:t>
            </a:r>
            <a:r>
              <a:rPr dirty="0" sz="1200" spc="-25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핵심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0" b="1">
                <a:solidFill>
                  <a:srgbClr val="1A1A1A"/>
                </a:solidFill>
                <a:latin typeface="맑은 고딕"/>
                <a:cs typeface="맑은 고딕"/>
              </a:rPr>
              <a:t>아이디어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이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55">
                <a:solidFill>
                  <a:srgbClr val="444444"/>
                </a:solidFill>
                <a:latin typeface="휴먼아미체"/>
                <a:cs typeface="휴먼아미체"/>
              </a:rPr>
              <a:t>매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KPI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를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15">
                <a:solidFill>
                  <a:srgbClr val="444444"/>
                </a:solidFill>
                <a:latin typeface="휴먼아미체"/>
                <a:cs typeface="휴먼아미체"/>
              </a:rPr>
              <a:t>분석하고</a:t>
            </a:r>
            <a:r>
              <a:rPr dirty="0" sz="1100" spc="-14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15" b="1">
                <a:solidFill>
                  <a:srgbClr val="444444"/>
                </a:solidFill>
                <a:latin typeface="맑은 고딕"/>
                <a:cs typeface="맑은 고딕"/>
              </a:rPr>
              <a:t>행동</a:t>
            </a:r>
            <a:r>
              <a:rPr dirty="0" sz="1100" spc="-8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444444"/>
                </a:solidFill>
                <a:latin typeface="맑은 고딕"/>
                <a:cs typeface="맑은 고딕"/>
              </a:rPr>
              <a:t>제약</a:t>
            </a:r>
            <a:r>
              <a:rPr dirty="0" sz="1100" spc="-85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00" spc="85" b="1">
                <a:solidFill>
                  <a:srgbClr val="444444"/>
                </a:solidFill>
                <a:latin typeface="맑은 고딕"/>
                <a:cs typeface="맑은 고딕"/>
              </a:rPr>
              <a:t>룰</a:t>
            </a:r>
            <a:r>
              <a:rPr dirty="0" sz="1100" spc="85">
                <a:solidFill>
                  <a:srgbClr val="444444"/>
                </a:solidFill>
                <a:latin typeface="휴먼아미체"/>
                <a:cs typeface="휴먼아미체"/>
              </a:rPr>
              <a:t>을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동적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endParaRPr sz="110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4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이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5">
                <a:solidFill>
                  <a:srgbClr val="444444"/>
                </a:solidFill>
                <a:latin typeface="휴먼아미체"/>
                <a:cs typeface="휴먼아미체"/>
              </a:rPr>
              <a:t>비결정성에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흔들리지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않도록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학습</a:t>
            </a:r>
            <a:r>
              <a:rPr dirty="0" sz="11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궤적</a:t>
            </a:r>
            <a:r>
              <a:rPr dirty="0" sz="11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DF592A"/>
                </a:solidFill>
                <a:latin typeface="맑은 고딕"/>
                <a:cs typeface="맑은 고딕"/>
              </a:rPr>
              <a:t>안내</a:t>
            </a:r>
            <a:endParaRPr sz="11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🔑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핵심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특성</a:t>
            </a:r>
            <a:endParaRPr sz="1150">
              <a:latin typeface="맑은 고딕"/>
              <a:cs typeface="맑은 고딕"/>
            </a:endParaRPr>
          </a:p>
          <a:p>
            <a:pPr marL="154940" marR="694690">
              <a:lnSpc>
                <a:spcPts val="1880"/>
              </a:lnSpc>
              <a:spcBef>
                <a:spcPts val="130"/>
              </a:spcBef>
            </a:pP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로컬</a:t>
            </a:r>
            <a:r>
              <a:rPr dirty="0" sz="1100" spc="-9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85" b="1">
                <a:solidFill>
                  <a:srgbClr val="2D6A2D"/>
                </a:solidFill>
                <a:latin typeface="Noto Sans KR"/>
                <a:cs typeface="Noto Sans KR"/>
              </a:rPr>
              <a:t>LLM</a:t>
            </a:r>
            <a:r>
              <a:rPr dirty="0" sz="1100" spc="40" b="1">
                <a:solidFill>
                  <a:srgbClr val="2D6A2D"/>
                </a:solidFill>
                <a:latin typeface="Noto Sans KR"/>
                <a:cs typeface="Noto Sans KR"/>
              </a:rPr>
              <a:t> </a:t>
            </a:r>
            <a:r>
              <a:rPr dirty="0" sz="1100" spc="-24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외부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API</a:t>
            </a:r>
            <a:r>
              <a:rPr dirty="0" sz="1100" spc="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45">
                <a:solidFill>
                  <a:srgbClr val="444444"/>
                </a:solidFill>
                <a:latin typeface="휴먼아미체"/>
                <a:cs typeface="휴먼아미체"/>
              </a:rPr>
              <a:t>불필요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Mistral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25">
                <a:solidFill>
                  <a:srgbClr val="444444"/>
                </a:solidFill>
                <a:latin typeface="Noto Sans KR"/>
                <a:cs typeface="Noto Sans KR"/>
              </a:rPr>
              <a:t>7B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)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저빈도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개입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4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단위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(~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2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–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4</a:t>
            </a:r>
            <a:r>
              <a:rPr dirty="0" sz="1100" spc="-10">
                <a:solidFill>
                  <a:srgbClr val="444444"/>
                </a:solidFill>
                <a:latin typeface="휴먼아미체"/>
                <a:cs typeface="휴먼아미체"/>
              </a:rPr>
              <a:t>회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/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step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)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해석</a:t>
            </a:r>
            <a:r>
              <a:rPr dirty="0" sz="1100" spc="-110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가능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4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자연어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근거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포함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5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endParaRPr sz="1100">
              <a:latin typeface="휴먼아미체"/>
              <a:cs typeface="휴먼아미체"/>
            </a:endParaRPr>
          </a:p>
          <a:p>
            <a:pPr marL="154940">
              <a:lnSpc>
                <a:spcPct val="100000"/>
              </a:lnSpc>
              <a:spcBef>
                <a:spcPts val="390"/>
              </a:spcBef>
            </a:pP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감사</a:t>
            </a:r>
            <a:r>
              <a:rPr dirty="0" sz="1100" spc="-110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추적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4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모든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결정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기록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60">
                <a:solidFill>
                  <a:srgbClr val="444444"/>
                </a:solidFill>
                <a:latin typeface="휴먼아미체"/>
                <a:cs typeface="휴먼아미체"/>
              </a:rPr>
              <a:t>보존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162674" y="971553"/>
            <a:ext cx="5534025" cy="695325"/>
            <a:chOff x="6162674" y="971553"/>
            <a:chExt cx="5534025" cy="695325"/>
          </a:xfrm>
        </p:grpSpPr>
        <p:sp>
          <p:nvSpPr>
            <p:cNvPr id="13" name="object 13" descr=""/>
            <p:cNvSpPr/>
            <p:nvPr/>
          </p:nvSpPr>
          <p:spPr>
            <a:xfrm>
              <a:off x="6181724" y="971553"/>
              <a:ext cx="5514975" cy="695325"/>
            </a:xfrm>
            <a:custGeom>
              <a:avLst/>
              <a:gdLst/>
              <a:ahLst/>
              <a:cxnLst/>
              <a:rect l="l" t="t" r="r" b="b"/>
              <a:pathLst>
                <a:path w="5514975" h="695325">
                  <a:moveTo>
                    <a:pt x="5452677" y="695315"/>
                  </a:moveTo>
                  <a:lnTo>
                    <a:pt x="44497" y="695315"/>
                  </a:lnTo>
                  <a:lnTo>
                    <a:pt x="41399" y="694887"/>
                  </a:lnTo>
                  <a:lnTo>
                    <a:pt x="9763" y="669321"/>
                  </a:lnTo>
                  <a:lnTo>
                    <a:pt x="0" y="633021"/>
                  </a:lnTo>
                  <a:lnTo>
                    <a:pt x="0" y="628645"/>
                  </a:lnTo>
                  <a:lnTo>
                    <a:pt x="0" y="62293"/>
                  </a:lnTo>
                  <a:lnTo>
                    <a:pt x="11737" y="22612"/>
                  </a:lnTo>
                  <a:lnTo>
                    <a:pt x="44497" y="0"/>
                  </a:lnTo>
                  <a:lnTo>
                    <a:pt x="5452677" y="0"/>
                  </a:lnTo>
                  <a:lnTo>
                    <a:pt x="5488981" y="13659"/>
                  </a:lnTo>
                  <a:lnTo>
                    <a:pt x="5511573" y="45192"/>
                  </a:lnTo>
                  <a:lnTo>
                    <a:pt x="5514974" y="62293"/>
                  </a:lnTo>
                  <a:lnTo>
                    <a:pt x="5514974" y="633021"/>
                  </a:lnTo>
                  <a:lnTo>
                    <a:pt x="5501304" y="669321"/>
                  </a:lnTo>
                  <a:lnTo>
                    <a:pt x="5469768" y="691915"/>
                  </a:lnTo>
                  <a:lnTo>
                    <a:pt x="5457011" y="694887"/>
                  </a:lnTo>
                  <a:lnTo>
                    <a:pt x="5452677" y="695315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162662" y="971752"/>
              <a:ext cx="457200" cy="695325"/>
            </a:xfrm>
            <a:custGeom>
              <a:avLst/>
              <a:gdLst/>
              <a:ahLst/>
              <a:cxnLst/>
              <a:rect l="l" t="t" r="r" b="b"/>
              <a:pathLst>
                <a:path w="457200" h="695325">
                  <a:moveTo>
                    <a:pt x="62445" y="0"/>
                  </a:moveTo>
                  <a:lnTo>
                    <a:pt x="24396" y="14909"/>
                  </a:lnTo>
                  <a:lnTo>
                    <a:pt x="2857" y="47142"/>
                  </a:lnTo>
                  <a:lnTo>
                    <a:pt x="0" y="66471"/>
                  </a:lnTo>
                  <a:lnTo>
                    <a:pt x="0" y="628446"/>
                  </a:lnTo>
                  <a:lnTo>
                    <a:pt x="11226" y="665492"/>
                  </a:lnTo>
                  <a:lnTo>
                    <a:pt x="41160" y="690041"/>
                  </a:lnTo>
                  <a:lnTo>
                    <a:pt x="62445" y="694918"/>
                  </a:lnTo>
                  <a:lnTo>
                    <a:pt x="59245" y="693432"/>
                  </a:lnTo>
                  <a:lnTo>
                    <a:pt x="52247" y="686663"/>
                  </a:lnTo>
                  <a:lnTo>
                    <a:pt x="39331" y="647776"/>
                  </a:lnTo>
                  <a:lnTo>
                    <a:pt x="38100" y="628446"/>
                  </a:lnTo>
                  <a:lnTo>
                    <a:pt x="38100" y="66471"/>
                  </a:lnTo>
                  <a:lnTo>
                    <a:pt x="43789" y="25577"/>
                  </a:lnTo>
                  <a:lnTo>
                    <a:pt x="59245" y="1485"/>
                  </a:lnTo>
                  <a:lnTo>
                    <a:pt x="62445" y="0"/>
                  </a:lnTo>
                  <a:close/>
                </a:path>
                <a:path w="457200" h="695325">
                  <a:moveTo>
                    <a:pt x="457200" y="167462"/>
                  </a:moveTo>
                  <a:lnTo>
                    <a:pt x="432422" y="142671"/>
                  </a:lnTo>
                  <a:lnTo>
                    <a:pt x="205765" y="142671"/>
                  </a:lnTo>
                  <a:lnTo>
                    <a:pt x="180975" y="167462"/>
                  </a:lnTo>
                  <a:lnTo>
                    <a:pt x="180975" y="304596"/>
                  </a:lnTo>
                  <a:lnTo>
                    <a:pt x="180975" y="308381"/>
                  </a:lnTo>
                  <a:lnTo>
                    <a:pt x="205765" y="333171"/>
                  </a:lnTo>
                  <a:lnTo>
                    <a:pt x="432422" y="333171"/>
                  </a:lnTo>
                  <a:lnTo>
                    <a:pt x="457200" y="308381"/>
                  </a:lnTo>
                  <a:lnTo>
                    <a:pt x="457200" y="167462"/>
                  </a:lnTo>
                  <a:close/>
                </a:path>
              </a:pathLst>
            </a:custGeom>
            <a:solidFill>
              <a:srgbClr val="1F3F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0952360" y="1116679"/>
            <a:ext cx="63309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270">
                <a:solidFill>
                  <a:srgbClr val="777777"/>
                </a:solidFill>
                <a:latin typeface="휴먼아미체"/>
                <a:cs typeface="휴먼아미체"/>
              </a:rPr>
              <a:t>에피소드</a:t>
            </a:r>
            <a:r>
              <a:rPr dirty="0" sz="900" spc="-13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900" spc="200">
                <a:solidFill>
                  <a:srgbClr val="777777"/>
                </a:solidFill>
                <a:latin typeface="휴먼아미체"/>
                <a:cs typeface="휴먼아미체"/>
              </a:rPr>
              <a:t>단위</a:t>
            </a:r>
            <a:endParaRPr sz="900">
              <a:latin typeface="휴먼아미체"/>
              <a:cs typeface="휴먼아미체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11899" y="1012002"/>
            <a:ext cx="2046605" cy="53403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780"/>
              </a:spcBef>
              <a:tabLst>
                <a:tab pos="415925" algn="l"/>
              </a:tabLst>
            </a:pP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L2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	</a:t>
            </a:r>
            <a:r>
              <a:rPr dirty="0" sz="1150" spc="-50" b="1">
                <a:latin typeface="Noto Sans KR"/>
                <a:cs typeface="Noto Sans KR"/>
              </a:rPr>
              <a:t>LLM</a:t>
            </a:r>
            <a:r>
              <a:rPr dirty="0" sz="1150" spc="5" b="1">
                <a:latin typeface="Noto Sans KR"/>
                <a:cs typeface="Noto Sans KR"/>
              </a:rPr>
              <a:t> </a:t>
            </a:r>
            <a:r>
              <a:rPr dirty="0" sz="1150" spc="-190" b="1">
                <a:latin typeface="맑은 고딕"/>
                <a:cs typeface="맑은 고딕"/>
              </a:rPr>
              <a:t>전략</a:t>
            </a:r>
            <a:r>
              <a:rPr dirty="0" sz="1150" spc="-114" b="1">
                <a:latin typeface="맑은 고딕"/>
                <a:cs typeface="맑은 고딕"/>
              </a:rPr>
              <a:t> </a:t>
            </a:r>
            <a:r>
              <a:rPr dirty="0" sz="1150" spc="-20" b="1">
                <a:latin typeface="맑은 고딕"/>
                <a:cs typeface="맑은 고딕"/>
              </a:rPr>
              <a:t>에이전트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KPI</a:t>
            </a:r>
            <a:r>
              <a:rPr dirty="0" sz="1100" spc="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분석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5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r>
              <a:rPr dirty="0" sz="11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Mistral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7B</a:t>
            </a:r>
            <a:r>
              <a:rPr dirty="0" sz="1100" spc="-7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180">
                <a:solidFill>
                  <a:srgbClr val="444444"/>
                </a:solidFill>
                <a:latin typeface="휴먼아미체"/>
                <a:cs typeface="휴먼아미체"/>
              </a:rPr>
              <a:t>로컬</a:t>
            </a:r>
            <a:r>
              <a:rPr dirty="0" sz="1100" spc="180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162674" y="1752598"/>
            <a:ext cx="5534025" cy="685800"/>
            <a:chOff x="6162674" y="1752598"/>
            <a:chExt cx="5534025" cy="685800"/>
          </a:xfrm>
        </p:grpSpPr>
        <p:sp>
          <p:nvSpPr>
            <p:cNvPr id="18" name="object 18" descr=""/>
            <p:cNvSpPr/>
            <p:nvPr/>
          </p:nvSpPr>
          <p:spPr>
            <a:xfrm>
              <a:off x="6181724" y="1752598"/>
              <a:ext cx="5514975" cy="685800"/>
            </a:xfrm>
            <a:custGeom>
              <a:avLst/>
              <a:gdLst/>
              <a:ahLst/>
              <a:cxnLst/>
              <a:rect l="l" t="t" r="r" b="b"/>
              <a:pathLst>
                <a:path w="5514975" h="685800">
                  <a:moveTo>
                    <a:pt x="5452677" y="685799"/>
                  </a:moveTo>
                  <a:lnTo>
                    <a:pt x="44497" y="685799"/>
                  </a:lnTo>
                  <a:lnTo>
                    <a:pt x="41399" y="685372"/>
                  </a:lnTo>
                  <a:lnTo>
                    <a:pt x="9763" y="659806"/>
                  </a:lnTo>
                  <a:lnTo>
                    <a:pt x="0" y="623501"/>
                  </a:lnTo>
                  <a:lnTo>
                    <a:pt x="0" y="619124"/>
                  </a:lnTo>
                  <a:lnTo>
                    <a:pt x="0" y="62293"/>
                  </a:lnTo>
                  <a:lnTo>
                    <a:pt x="11737" y="22617"/>
                  </a:lnTo>
                  <a:lnTo>
                    <a:pt x="44497" y="0"/>
                  </a:lnTo>
                  <a:lnTo>
                    <a:pt x="5452677" y="0"/>
                  </a:lnTo>
                  <a:lnTo>
                    <a:pt x="5488981" y="13664"/>
                  </a:lnTo>
                  <a:lnTo>
                    <a:pt x="5511573" y="45201"/>
                  </a:lnTo>
                  <a:lnTo>
                    <a:pt x="5514974" y="62293"/>
                  </a:lnTo>
                  <a:lnTo>
                    <a:pt x="5514974" y="623501"/>
                  </a:lnTo>
                  <a:lnTo>
                    <a:pt x="5501304" y="659806"/>
                  </a:lnTo>
                  <a:lnTo>
                    <a:pt x="5469768" y="682395"/>
                  </a:lnTo>
                  <a:lnTo>
                    <a:pt x="5457011" y="685372"/>
                  </a:lnTo>
                  <a:lnTo>
                    <a:pt x="5452677" y="685799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62662" y="1752802"/>
              <a:ext cx="457200" cy="685800"/>
            </a:xfrm>
            <a:custGeom>
              <a:avLst/>
              <a:gdLst/>
              <a:ahLst/>
              <a:cxnLst/>
              <a:rect l="l" t="t" r="r" b="b"/>
              <a:pathLst>
                <a:path w="457200" h="685800">
                  <a:moveTo>
                    <a:pt x="62445" y="0"/>
                  </a:moveTo>
                  <a:lnTo>
                    <a:pt x="24396" y="14909"/>
                  </a:lnTo>
                  <a:lnTo>
                    <a:pt x="2857" y="47142"/>
                  </a:lnTo>
                  <a:lnTo>
                    <a:pt x="0" y="66471"/>
                  </a:lnTo>
                  <a:lnTo>
                    <a:pt x="0" y="618921"/>
                  </a:lnTo>
                  <a:lnTo>
                    <a:pt x="11226" y="655967"/>
                  </a:lnTo>
                  <a:lnTo>
                    <a:pt x="41160" y="680516"/>
                  </a:lnTo>
                  <a:lnTo>
                    <a:pt x="62445" y="685393"/>
                  </a:lnTo>
                  <a:lnTo>
                    <a:pt x="59245" y="683907"/>
                  </a:lnTo>
                  <a:lnTo>
                    <a:pt x="52247" y="677138"/>
                  </a:lnTo>
                  <a:lnTo>
                    <a:pt x="39331" y="638251"/>
                  </a:lnTo>
                  <a:lnTo>
                    <a:pt x="38100" y="618921"/>
                  </a:lnTo>
                  <a:lnTo>
                    <a:pt x="38100" y="66471"/>
                  </a:lnTo>
                  <a:lnTo>
                    <a:pt x="43789" y="25577"/>
                  </a:lnTo>
                  <a:lnTo>
                    <a:pt x="59245" y="1485"/>
                  </a:lnTo>
                  <a:lnTo>
                    <a:pt x="62445" y="0"/>
                  </a:lnTo>
                  <a:close/>
                </a:path>
                <a:path w="457200" h="685800">
                  <a:moveTo>
                    <a:pt x="457200" y="167462"/>
                  </a:moveTo>
                  <a:lnTo>
                    <a:pt x="432422" y="142671"/>
                  </a:lnTo>
                  <a:lnTo>
                    <a:pt x="205765" y="142671"/>
                  </a:lnTo>
                  <a:lnTo>
                    <a:pt x="180975" y="167462"/>
                  </a:lnTo>
                  <a:lnTo>
                    <a:pt x="180975" y="304596"/>
                  </a:lnTo>
                  <a:lnTo>
                    <a:pt x="180975" y="308381"/>
                  </a:lnTo>
                  <a:lnTo>
                    <a:pt x="205765" y="333171"/>
                  </a:lnTo>
                  <a:lnTo>
                    <a:pt x="432422" y="333171"/>
                  </a:lnTo>
                  <a:lnTo>
                    <a:pt x="457200" y="308381"/>
                  </a:lnTo>
                  <a:lnTo>
                    <a:pt x="457200" y="167462"/>
                  </a:lnTo>
                  <a:close/>
                </a:path>
              </a:pathLst>
            </a:custGeom>
            <a:solidFill>
              <a:srgbClr val="2D6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1145241" y="1897729"/>
            <a:ext cx="44069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245">
                <a:solidFill>
                  <a:srgbClr val="777777"/>
                </a:solidFill>
                <a:latin typeface="휴먼아미체"/>
                <a:cs typeface="휴먼아미체"/>
              </a:rPr>
              <a:t>스텝</a:t>
            </a:r>
            <a:r>
              <a:rPr dirty="0" sz="900" spc="-14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900" spc="200">
                <a:solidFill>
                  <a:srgbClr val="777777"/>
                </a:solidFill>
                <a:latin typeface="휴먼아미체"/>
                <a:cs typeface="휴먼아미체"/>
              </a:rPr>
              <a:t>단위</a:t>
            </a:r>
            <a:endParaRPr sz="900">
              <a:latin typeface="휴먼아미체"/>
              <a:cs typeface="휴먼아미체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311899" y="1791405"/>
            <a:ext cx="2312035" cy="5353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795"/>
              </a:spcBef>
              <a:tabLst>
                <a:tab pos="415925" algn="l"/>
              </a:tabLst>
            </a:pP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L1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	</a:t>
            </a:r>
            <a:r>
              <a:rPr dirty="0" sz="1150" spc="-190" b="1">
                <a:latin typeface="맑은 고딕"/>
                <a:cs typeface="맑은 고딕"/>
              </a:rPr>
              <a:t>안전</a:t>
            </a:r>
            <a:r>
              <a:rPr dirty="0" sz="1150" spc="-105" b="1">
                <a:latin typeface="맑은 고딕"/>
                <a:cs typeface="맑은 고딕"/>
              </a:rPr>
              <a:t> </a:t>
            </a:r>
            <a:r>
              <a:rPr dirty="0" sz="1150" spc="-20" b="1">
                <a:latin typeface="맑은 고딕"/>
                <a:cs typeface="맑은 고딕"/>
              </a:rPr>
              <a:t>에이전트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해석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4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마스크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00" spc="-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새니타이저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162674" y="2524123"/>
            <a:ext cx="5534025" cy="695325"/>
            <a:chOff x="6162674" y="2524123"/>
            <a:chExt cx="5534025" cy="695325"/>
          </a:xfrm>
        </p:grpSpPr>
        <p:sp>
          <p:nvSpPr>
            <p:cNvPr id="23" name="object 23" descr=""/>
            <p:cNvSpPr/>
            <p:nvPr/>
          </p:nvSpPr>
          <p:spPr>
            <a:xfrm>
              <a:off x="6181724" y="2524123"/>
              <a:ext cx="5514975" cy="695325"/>
            </a:xfrm>
            <a:custGeom>
              <a:avLst/>
              <a:gdLst/>
              <a:ahLst/>
              <a:cxnLst/>
              <a:rect l="l" t="t" r="r" b="b"/>
              <a:pathLst>
                <a:path w="5514975" h="695325">
                  <a:moveTo>
                    <a:pt x="5452677" y="695324"/>
                  </a:moveTo>
                  <a:lnTo>
                    <a:pt x="44497" y="695324"/>
                  </a:lnTo>
                  <a:lnTo>
                    <a:pt x="41399" y="694897"/>
                  </a:lnTo>
                  <a:lnTo>
                    <a:pt x="9763" y="669326"/>
                  </a:lnTo>
                  <a:lnTo>
                    <a:pt x="0" y="633026"/>
                  </a:lnTo>
                  <a:lnTo>
                    <a:pt x="0" y="628649"/>
                  </a:lnTo>
                  <a:lnTo>
                    <a:pt x="0" y="62298"/>
                  </a:lnTo>
                  <a:lnTo>
                    <a:pt x="11737" y="22617"/>
                  </a:lnTo>
                  <a:lnTo>
                    <a:pt x="44497" y="0"/>
                  </a:lnTo>
                  <a:lnTo>
                    <a:pt x="5452677" y="0"/>
                  </a:lnTo>
                  <a:lnTo>
                    <a:pt x="5488981" y="13664"/>
                  </a:lnTo>
                  <a:lnTo>
                    <a:pt x="5511573" y="45197"/>
                  </a:lnTo>
                  <a:lnTo>
                    <a:pt x="5514974" y="62298"/>
                  </a:lnTo>
                  <a:lnTo>
                    <a:pt x="5514974" y="633026"/>
                  </a:lnTo>
                  <a:lnTo>
                    <a:pt x="5501304" y="669326"/>
                  </a:lnTo>
                  <a:lnTo>
                    <a:pt x="5469768" y="691920"/>
                  </a:lnTo>
                  <a:lnTo>
                    <a:pt x="5457011" y="694897"/>
                  </a:lnTo>
                  <a:lnTo>
                    <a:pt x="5452677" y="695324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162662" y="2524328"/>
              <a:ext cx="457200" cy="695325"/>
            </a:xfrm>
            <a:custGeom>
              <a:avLst/>
              <a:gdLst/>
              <a:ahLst/>
              <a:cxnLst/>
              <a:rect l="l" t="t" r="r" b="b"/>
              <a:pathLst>
                <a:path w="457200" h="695325">
                  <a:moveTo>
                    <a:pt x="62445" y="0"/>
                  </a:moveTo>
                  <a:lnTo>
                    <a:pt x="24396" y="14909"/>
                  </a:lnTo>
                  <a:lnTo>
                    <a:pt x="2857" y="47142"/>
                  </a:lnTo>
                  <a:lnTo>
                    <a:pt x="0" y="66471"/>
                  </a:lnTo>
                  <a:lnTo>
                    <a:pt x="0" y="628446"/>
                  </a:lnTo>
                  <a:lnTo>
                    <a:pt x="11226" y="665492"/>
                  </a:lnTo>
                  <a:lnTo>
                    <a:pt x="41160" y="690041"/>
                  </a:lnTo>
                  <a:lnTo>
                    <a:pt x="62445" y="694918"/>
                  </a:lnTo>
                  <a:lnTo>
                    <a:pt x="59245" y="693432"/>
                  </a:lnTo>
                  <a:lnTo>
                    <a:pt x="52247" y="686663"/>
                  </a:lnTo>
                  <a:lnTo>
                    <a:pt x="39331" y="647776"/>
                  </a:lnTo>
                  <a:lnTo>
                    <a:pt x="38100" y="628446"/>
                  </a:lnTo>
                  <a:lnTo>
                    <a:pt x="38100" y="66471"/>
                  </a:lnTo>
                  <a:lnTo>
                    <a:pt x="43789" y="25577"/>
                  </a:lnTo>
                  <a:lnTo>
                    <a:pt x="59245" y="1485"/>
                  </a:lnTo>
                  <a:lnTo>
                    <a:pt x="62445" y="0"/>
                  </a:lnTo>
                  <a:close/>
                </a:path>
                <a:path w="457200" h="695325">
                  <a:moveTo>
                    <a:pt x="457200" y="167462"/>
                  </a:moveTo>
                  <a:lnTo>
                    <a:pt x="432422" y="142671"/>
                  </a:lnTo>
                  <a:lnTo>
                    <a:pt x="205765" y="142671"/>
                  </a:lnTo>
                  <a:lnTo>
                    <a:pt x="180975" y="167462"/>
                  </a:lnTo>
                  <a:lnTo>
                    <a:pt x="180975" y="304596"/>
                  </a:lnTo>
                  <a:lnTo>
                    <a:pt x="180975" y="308381"/>
                  </a:lnTo>
                  <a:lnTo>
                    <a:pt x="205765" y="333171"/>
                  </a:lnTo>
                  <a:lnTo>
                    <a:pt x="432422" y="333171"/>
                  </a:lnTo>
                  <a:lnTo>
                    <a:pt x="457200" y="308381"/>
                  </a:lnTo>
                  <a:lnTo>
                    <a:pt x="457200" y="167462"/>
                  </a:lnTo>
                  <a:close/>
                </a:path>
              </a:pathLst>
            </a:custGeom>
            <a:solidFill>
              <a:srgbClr val="DF59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1145241" y="2669254"/>
            <a:ext cx="44069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245">
                <a:solidFill>
                  <a:srgbClr val="777777"/>
                </a:solidFill>
                <a:latin typeface="휴먼아미체"/>
                <a:cs typeface="휴먼아미체"/>
              </a:rPr>
              <a:t>스텝</a:t>
            </a:r>
            <a:r>
              <a:rPr dirty="0" sz="900" spc="-14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900" spc="200">
                <a:solidFill>
                  <a:srgbClr val="777777"/>
                </a:solidFill>
                <a:latin typeface="휴먼아미체"/>
                <a:cs typeface="휴먼아미체"/>
              </a:rPr>
              <a:t>단위</a:t>
            </a:r>
            <a:endParaRPr sz="900">
              <a:latin typeface="휴먼아미체"/>
              <a:cs typeface="휴먼아미체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311899" y="2559546"/>
            <a:ext cx="2270125" cy="53911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770"/>
              </a:spcBef>
              <a:tabLst>
                <a:tab pos="415925" algn="l"/>
              </a:tabLst>
            </a:pP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L0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	</a:t>
            </a:r>
            <a:r>
              <a:rPr dirty="0" sz="1150" spc="-45" b="1">
                <a:latin typeface="Noto Sans KR"/>
                <a:cs typeface="Noto Sans KR"/>
              </a:rPr>
              <a:t>DRL</a:t>
            </a:r>
            <a:r>
              <a:rPr dirty="0" sz="1150" spc="-10" b="1">
                <a:latin typeface="Noto Sans KR"/>
                <a:cs typeface="Noto Sans KR"/>
              </a:rPr>
              <a:t> </a:t>
            </a:r>
            <a:r>
              <a:rPr dirty="0" sz="1150" spc="-190" b="1">
                <a:latin typeface="맑은 고딕"/>
                <a:cs typeface="맑은 고딕"/>
              </a:rPr>
              <a:t>에이전트</a:t>
            </a:r>
            <a:r>
              <a:rPr dirty="0" sz="1150" spc="-114" b="1">
                <a:latin typeface="맑은 고딕"/>
                <a:cs typeface="맑은 고딕"/>
              </a:rPr>
              <a:t> </a:t>
            </a:r>
            <a:r>
              <a:rPr dirty="0" sz="1200" spc="-50" b="1">
                <a:latin typeface="Arial"/>
                <a:cs typeface="Arial"/>
              </a:rPr>
              <a:t>(</a:t>
            </a:r>
            <a:r>
              <a:rPr dirty="0" sz="1150" spc="-50" b="1">
                <a:latin typeface="Noto Sans KR"/>
                <a:cs typeface="Noto Sans KR"/>
              </a:rPr>
              <a:t>Rainbow</a:t>
            </a:r>
            <a:r>
              <a:rPr dirty="0" sz="1150" spc="10" b="1">
                <a:latin typeface="Noto Sans KR"/>
                <a:cs typeface="Noto Sans KR"/>
              </a:rPr>
              <a:t> </a:t>
            </a:r>
            <a:r>
              <a:rPr dirty="0" sz="1150" spc="-20" b="1">
                <a:latin typeface="Noto Sans KR"/>
                <a:cs typeface="Noto Sans KR"/>
              </a:rPr>
              <a:t>DQN</a:t>
            </a:r>
            <a:r>
              <a:rPr dirty="0" sz="1200" spc="-2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허용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집합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55">
                <a:solidFill>
                  <a:srgbClr val="444444"/>
                </a:solidFill>
                <a:latin typeface="휴먼아미체"/>
                <a:cs typeface="휴먼아미체"/>
              </a:rPr>
              <a:t>내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최적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선택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162674" y="3305173"/>
            <a:ext cx="5534025" cy="352425"/>
          </a:xfrm>
          <a:custGeom>
            <a:avLst/>
            <a:gdLst/>
            <a:ahLst/>
            <a:cxnLst/>
            <a:rect l="l" t="t" r="r" b="b"/>
            <a:pathLst>
              <a:path w="5534025" h="352425">
                <a:moveTo>
                  <a:pt x="5471727" y="352424"/>
                </a:moveTo>
                <a:lnTo>
                  <a:pt x="62296" y="352424"/>
                </a:lnTo>
                <a:lnTo>
                  <a:pt x="57960" y="351997"/>
                </a:lnTo>
                <a:lnTo>
                  <a:pt x="22623" y="335988"/>
                </a:lnTo>
                <a:lnTo>
                  <a:pt x="2134" y="303046"/>
                </a:lnTo>
                <a:lnTo>
                  <a:pt x="0" y="290126"/>
                </a:lnTo>
                <a:lnTo>
                  <a:pt x="0" y="285749"/>
                </a:lnTo>
                <a:lnTo>
                  <a:pt x="0" y="62293"/>
                </a:lnTo>
                <a:lnTo>
                  <a:pt x="13667" y="25984"/>
                </a:lnTo>
                <a:lnTo>
                  <a:pt x="45203" y="3394"/>
                </a:lnTo>
                <a:lnTo>
                  <a:pt x="62296" y="0"/>
                </a:lnTo>
                <a:lnTo>
                  <a:pt x="5471727" y="0"/>
                </a:lnTo>
                <a:lnTo>
                  <a:pt x="5508031" y="13669"/>
                </a:lnTo>
                <a:lnTo>
                  <a:pt x="5530623" y="45197"/>
                </a:lnTo>
                <a:lnTo>
                  <a:pt x="5534024" y="62293"/>
                </a:lnTo>
                <a:lnTo>
                  <a:pt x="5534024" y="290126"/>
                </a:lnTo>
                <a:lnTo>
                  <a:pt x="5520354" y="326431"/>
                </a:lnTo>
                <a:lnTo>
                  <a:pt x="5488818" y="349025"/>
                </a:lnTo>
                <a:lnTo>
                  <a:pt x="5476061" y="351997"/>
                </a:lnTo>
                <a:lnTo>
                  <a:pt x="5471727" y="3524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7536755" y="3391001"/>
            <a:ext cx="278638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260">
                <a:solidFill>
                  <a:srgbClr val="777777"/>
                </a:solidFill>
                <a:latin typeface="휴먼아미체"/>
                <a:cs typeface="휴먼아미체"/>
              </a:rPr>
              <a:t>디지털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315">
                <a:solidFill>
                  <a:srgbClr val="777777"/>
                </a:solidFill>
                <a:latin typeface="휴먼아미체"/>
                <a:cs typeface="휴먼아미체"/>
              </a:rPr>
              <a:t>트윈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777777"/>
                </a:solidFill>
                <a:latin typeface="Arial"/>
                <a:cs typeface="Arial"/>
              </a:rPr>
              <a:t>—</a:t>
            </a:r>
            <a:r>
              <a:rPr dirty="0" sz="1000" spc="-3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777777"/>
                </a:solidFill>
                <a:latin typeface="Noto Sans KR"/>
                <a:cs typeface="Noto Sans KR"/>
              </a:rPr>
              <a:t>Siemens</a:t>
            </a:r>
            <a:r>
              <a:rPr dirty="0" sz="1000" spc="-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-60">
                <a:solidFill>
                  <a:srgbClr val="777777"/>
                </a:solidFill>
                <a:latin typeface="Noto Sans KR"/>
                <a:cs typeface="Noto Sans KR"/>
              </a:rPr>
              <a:t>Tecnomatix</a:t>
            </a:r>
            <a:r>
              <a:rPr dirty="0" sz="1000" spc="10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-40">
                <a:solidFill>
                  <a:srgbClr val="777777"/>
                </a:solidFill>
                <a:latin typeface="Noto Sans KR"/>
                <a:cs typeface="Noto Sans KR"/>
              </a:rPr>
              <a:t>Plant</a:t>
            </a:r>
            <a:r>
              <a:rPr dirty="0" sz="1000" spc="1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-10">
                <a:solidFill>
                  <a:srgbClr val="777777"/>
                </a:solidFill>
                <a:latin typeface="Noto Sans KR"/>
                <a:cs typeface="Noto Sans KR"/>
              </a:rPr>
              <a:t>Simulation</a:t>
            </a:r>
            <a:endParaRPr sz="1000">
              <a:latin typeface="Noto Sans KR"/>
              <a:cs typeface="Noto Sans KR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0" y="6819897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7849" y="308292"/>
            <a:ext cx="71247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35" b="1">
                <a:solidFill>
                  <a:srgbClr val="FFFFFF"/>
                </a:solidFill>
                <a:latin typeface="맑은 고딕"/>
                <a:cs typeface="맑은 고딕"/>
              </a:rPr>
              <a:t>시스템</a:t>
            </a:r>
            <a:r>
              <a:rPr dirty="0" sz="850" spc="3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0" b="1">
                <a:solidFill>
                  <a:srgbClr val="FFFFFF"/>
                </a:solidFill>
                <a:latin typeface="맑은 고딕"/>
                <a:cs typeface="맑은 고딕"/>
              </a:rPr>
              <a:t>아키텍처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60">
                <a:latin typeface="Noto Sans KR"/>
                <a:cs typeface="Noto Sans KR"/>
              </a:rPr>
              <a:t>3</a:t>
            </a:r>
            <a:r>
              <a:rPr dirty="0" sz="1850" spc="-260"/>
              <a:t>계층</a:t>
            </a:r>
            <a:r>
              <a:rPr dirty="0" sz="1850" spc="-185"/>
              <a:t> </a:t>
            </a:r>
            <a:r>
              <a:rPr dirty="0" sz="1850" spc="-105">
                <a:latin typeface="Noto Sans KR"/>
                <a:cs typeface="Noto Sans KR"/>
              </a:rPr>
              <a:t>LLM</a:t>
            </a:r>
            <a:r>
              <a:rPr dirty="0" sz="1900" spc="-105">
                <a:latin typeface="Arial"/>
                <a:cs typeface="Arial"/>
              </a:rPr>
              <a:t>-</a:t>
            </a:r>
            <a:r>
              <a:rPr dirty="0" sz="1850" spc="-114">
                <a:latin typeface="Noto Sans KR"/>
                <a:cs typeface="Noto Sans KR"/>
              </a:rPr>
              <a:t>HRL</a:t>
            </a:r>
            <a:r>
              <a:rPr dirty="0" sz="1850" spc="50">
                <a:latin typeface="Noto Sans KR"/>
                <a:cs typeface="Noto Sans KR"/>
              </a:rPr>
              <a:t> </a:t>
            </a:r>
            <a:r>
              <a:rPr dirty="0" sz="1850" spc="-345"/>
              <a:t>프레임워크</a:t>
            </a:r>
            <a:endParaRPr sz="1850">
              <a:latin typeface="Noto Sans KR"/>
              <a:cs typeface="Noto Sans KR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875" y="1200150"/>
            <a:ext cx="8096249" cy="514349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0" y="6819897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7"/>
            <a:ext cx="1314450" cy="200025"/>
          </a:xfrm>
          <a:custGeom>
            <a:avLst/>
            <a:gdLst/>
            <a:ahLst/>
            <a:cxnLst/>
            <a:rect l="l" t="t" r="r" b="b"/>
            <a:pathLst>
              <a:path w="1314450" h="200025">
                <a:moveTo>
                  <a:pt x="1281402" y="200020"/>
                </a:moveTo>
                <a:lnTo>
                  <a:pt x="33047" y="200020"/>
                </a:lnTo>
                <a:lnTo>
                  <a:pt x="28187" y="199052"/>
                </a:lnTo>
                <a:lnTo>
                  <a:pt x="966" y="171830"/>
                </a:lnTo>
                <a:lnTo>
                  <a:pt x="0" y="166971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7"/>
                </a:lnTo>
                <a:lnTo>
                  <a:pt x="33047" y="0"/>
                </a:lnTo>
                <a:lnTo>
                  <a:pt x="1281402" y="0"/>
                </a:lnTo>
                <a:lnTo>
                  <a:pt x="1313482" y="28184"/>
                </a:lnTo>
                <a:lnTo>
                  <a:pt x="1314449" y="33044"/>
                </a:lnTo>
                <a:lnTo>
                  <a:pt x="1314449" y="166971"/>
                </a:lnTo>
                <a:lnTo>
                  <a:pt x="1286262" y="199052"/>
                </a:lnTo>
                <a:lnTo>
                  <a:pt x="1281402" y="200020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6482"/>
            <a:ext cx="1146175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L2</a:t>
            </a:r>
            <a:r>
              <a:rPr dirty="0" sz="850" spc="2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spc="-18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8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LLM</a:t>
            </a:r>
            <a:r>
              <a:rPr dirty="0" sz="850" spc="8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전략</a:t>
            </a:r>
            <a:r>
              <a:rPr dirty="0" sz="850" spc="1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30" b="1">
                <a:solidFill>
                  <a:srgbClr val="FFFFFF"/>
                </a:solidFill>
                <a:latin typeface="맑은 고딕"/>
                <a:cs typeface="맑은 고딕"/>
              </a:rPr>
              <a:t>에이전트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2600" y="577087"/>
            <a:ext cx="28790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에피소드마다</a:t>
            </a:r>
            <a:r>
              <a:rPr dirty="0" sz="1350" spc="-125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130" b="1">
                <a:solidFill>
                  <a:srgbClr val="1F3F6E"/>
                </a:solidFill>
                <a:latin typeface="Noto Sans KR"/>
                <a:cs typeface="Noto Sans KR"/>
              </a:rPr>
              <a:t>KPI</a:t>
            </a:r>
            <a:r>
              <a:rPr dirty="0" sz="1350" spc="-130" b="1">
                <a:solidFill>
                  <a:srgbClr val="1F3F6E"/>
                </a:solidFill>
                <a:latin typeface="맑은 고딕"/>
                <a:cs typeface="맑은 고딕"/>
              </a:rPr>
              <a:t>를</a:t>
            </a:r>
            <a:r>
              <a:rPr dirty="0" sz="1350" spc="-125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분석하고</a:t>
            </a:r>
            <a:r>
              <a:rPr dirty="0" sz="1350" spc="-125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행동</a:t>
            </a:r>
            <a:r>
              <a:rPr dirty="0" sz="1350" spc="-125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F3F6E"/>
                </a:solidFill>
                <a:latin typeface="맑은 고딕"/>
                <a:cs typeface="맑은 고딕"/>
              </a:rPr>
              <a:t>룰을</a:t>
            </a:r>
            <a:r>
              <a:rPr dirty="0" sz="1350" spc="-125" b="1">
                <a:solidFill>
                  <a:srgbClr val="1F3F6E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F3F6E"/>
                </a:solidFill>
                <a:latin typeface="맑은 고딕"/>
                <a:cs typeface="맑은 고딕"/>
              </a:rPr>
              <a:t>생성</a:t>
            </a:r>
            <a:endParaRPr sz="1350">
              <a:latin typeface="맑은 고딕"/>
              <a:cs typeface="맑은 고딕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62022"/>
            <a:ext cx="5514975" cy="723900"/>
            <a:chOff x="495299" y="962022"/>
            <a:chExt cx="5514975" cy="723900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66785"/>
              <a:ext cx="5505450" cy="714375"/>
            </a:xfrm>
            <a:custGeom>
              <a:avLst/>
              <a:gdLst/>
              <a:ahLst/>
              <a:cxnLst/>
              <a:rect l="l" t="t" r="r" b="b"/>
              <a:pathLst>
                <a:path w="5505450" h="714375">
                  <a:moveTo>
                    <a:pt x="5438703" y="714374"/>
                  </a:moveTo>
                  <a:lnTo>
                    <a:pt x="66746" y="714374"/>
                  </a:lnTo>
                  <a:lnTo>
                    <a:pt x="62101" y="713914"/>
                  </a:lnTo>
                  <a:lnTo>
                    <a:pt x="24240" y="696762"/>
                  </a:lnTo>
                  <a:lnTo>
                    <a:pt x="2287" y="661466"/>
                  </a:lnTo>
                  <a:lnTo>
                    <a:pt x="0" y="647625"/>
                  </a:lnTo>
                  <a:lnTo>
                    <a:pt x="0" y="642937"/>
                  </a:lnTo>
                  <a:lnTo>
                    <a:pt x="0" y="66744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5438703" y="0"/>
                  </a:lnTo>
                  <a:lnTo>
                    <a:pt x="5477600" y="14645"/>
                  </a:lnTo>
                  <a:lnTo>
                    <a:pt x="5501806" y="48425"/>
                  </a:lnTo>
                  <a:lnTo>
                    <a:pt x="5505448" y="66744"/>
                  </a:lnTo>
                  <a:lnTo>
                    <a:pt x="5505448" y="647625"/>
                  </a:lnTo>
                  <a:lnTo>
                    <a:pt x="5490803" y="686516"/>
                  </a:lnTo>
                  <a:lnTo>
                    <a:pt x="5457016" y="710724"/>
                  </a:lnTo>
                  <a:lnTo>
                    <a:pt x="5443348" y="713914"/>
                  </a:lnTo>
                  <a:lnTo>
                    <a:pt x="5438703" y="714374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66785"/>
              <a:ext cx="5505450" cy="714375"/>
            </a:xfrm>
            <a:custGeom>
              <a:avLst/>
              <a:gdLst/>
              <a:ahLst/>
              <a:cxnLst/>
              <a:rect l="l" t="t" r="r" b="b"/>
              <a:pathLst>
                <a:path w="5505450" h="714375">
                  <a:moveTo>
                    <a:pt x="0" y="6429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5"/>
                  </a:lnTo>
                  <a:lnTo>
                    <a:pt x="7232" y="39764"/>
                  </a:lnTo>
                  <a:lnTo>
                    <a:pt x="9433" y="35649"/>
                  </a:lnTo>
                  <a:lnTo>
                    <a:pt x="12039" y="31746"/>
                  </a:lnTo>
                  <a:lnTo>
                    <a:pt x="14645" y="27844"/>
                  </a:lnTo>
                  <a:lnTo>
                    <a:pt x="17606" y="24240"/>
                  </a:lnTo>
                  <a:lnTo>
                    <a:pt x="20923" y="20924"/>
                  </a:lnTo>
                  <a:lnTo>
                    <a:pt x="24240" y="17607"/>
                  </a:lnTo>
                  <a:lnTo>
                    <a:pt x="27848" y="14645"/>
                  </a:lnTo>
                  <a:lnTo>
                    <a:pt x="31748" y="12036"/>
                  </a:lnTo>
                  <a:lnTo>
                    <a:pt x="35648" y="942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38703" y="0"/>
                  </a:lnTo>
                  <a:lnTo>
                    <a:pt x="5443348" y="456"/>
                  </a:lnTo>
                  <a:lnTo>
                    <a:pt x="5447949" y="1371"/>
                  </a:lnTo>
                  <a:lnTo>
                    <a:pt x="5452549" y="2287"/>
                  </a:lnTo>
                  <a:lnTo>
                    <a:pt x="5457016" y="3641"/>
                  </a:lnTo>
                  <a:lnTo>
                    <a:pt x="5461349" y="5436"/>
                  </a:lnTo>
                  <a:lnTo>
                    <a:pt x="5465683" y="7227"/>
                  </a:lnTo>
                  <a:lnTo>
                    <a:pt x="5469800" y="9426"/>
                  </a:lnTo>
                  <a:lnTo>
                    <a:pt x="5473700" y="12036"/>
                  </a:lnTo>
                  <a:lnTo>
                    <a:pt x="5477600" y="14645"/>
                  </a:lnTo>
                  <a:lnTo>
                    <a:pt x="5481209" y="17607"/>
                  </a:lnTo>
                  <a:lnTo>
                    <a:pt x="5484525" y="20924"/>
                  </a:lnTo>
                  <a:lnTo>
                    <a:pt x="5487842" y="24240"/>
                  </a:lnTo>
                  <a:lnTo>
                    <a:pt x="5500010" y="44095"/>
                  </a:lnTo>
                  <a:lnTo>
                    <a:pt x="5501806" y="48425"/>
                  </a:lnTo>
                  <a:lnTo>
                    <a:pt x="5503161" y="52894"/>
                  </a:lnTo>
                  <a:lnTo>
                    <a:pt x="5504076" y="57498"/>
                  </a:lnTo>
                  <a:lnTo>
                    <a:pt x="5504991" y="62098"/>
                  </a:lnTo>
                  <a:lnTo>
                    <a:pt x="5505448" y="66744"/>
                  </a:lnTo>
                  <a:lnTo>
                    <a:pt x="5505449" y="71437"/>
                  </a:lnTo>
                  <a:lnTo>
                    <a:pt x="5505449" y="642937"/>
                  </a:lnTo>
                  <a:lnTo>
                    <a:pt x="5505448" y="647625"/>
                  </a:lnTo>
                  <a:lnTo>
                    <a:pt x="5504991" y="652267"/>
                  </a:lnTo>
                  <a:lnTo>
                    <a:pt x="5504076" y="656866"/>
                  </a:lnTo>
                  <a:lnTo>
                    <a:pt x="5503161" y="661466"/>
                  </a:lnTo>
                  <a:lnTo>
                    <a:pt x="5501806" y="665931"/>
                  </a:lnTo>
                  <a:lnTo>
                    <a:pt x="5500010" y="670265"/>
                  </a:lnTo>
                  <a:lnTo>
                    <a:pt x="5498216" y="674600"/>
                  </a:lnTo>
                  <a:lnTo>
                    <a:pt x="5496015" y="678716"/>
                  </a:lnTo>
                  <a:lnTo>
                    <a:pt x="5493409" y="682613"/>
                  </a:lnTo>
                  <a:lnTo>
                    <a:pt x="5490803" y="686516"/>
                  </a:lnTo>
                  <a:lnTo>
                    <a:pt x="5487842" y="690130"/>
                  </a:lnTo>
                  <a:lnTo>
                    <a:pt x="5484525" y="693445"/>
                  </a:lnTo>
                  <a:lnTo>
                    <a:pt x="5481209" y="696762"/>
                  </a:lnTo>
                  <a:lnTo>
                    <a:pt x="5461349" y="708928"/>
                  </a:lnTo>
                  <a:lnTo>
                    <a:pt x="5457016" y="710724"/>
                  </a:lnTo>
                  <a:lnTo>
                    <a:pt x="5452549" y="712082"/>
                  </a:lnTo>
                  <a:lnTo>
                    <a:pt x="5447949" y="712998"/>
                  </a:lnTo>
                  <a:lnTo>
                    <a:pt x="5443348" y="713914"/>
                  </a:lnTo>
                  <a:lnTo>
                    <a:pt x="5438703" y="714374"/>
                  </a:lnTo>
                  <a:lnTo>
                    <a:pt x="5434012" y="714374"/>
                  </a:lnTo>
                  <a:lnTo>
                    <a:pt x="71437" y="714374"/>
                  </a:lnTo>
                  <a:lnTo>
                    <a:pt x="66746" y="714374"/>
                  </a:lnTo>
                  <a:lnTo>
                    <a:pt x="62101" y="713914"/>
                  </a:lnTo>
                  <a:lnTo>
                    <a:pt x="57500" y="712998"/>
                  </a:lnTo>
                  <a:lnTo>
                    <a:pt x="52900" y="712082"/>
                  </a:lnTo>
                  <a:lnTo>
                    <a:pt x="48433" y="710724"/>
                  </a:lnTo>
                  <a:lnTo>
                    <a:pt x="44099" y="708928"/>
                  </a:lnTo>
                  <a:lnTo>
                    <a:pt x="39765" y="707133"/>
                  </a:lnTo>
                  <a:lnTo>
                    <a:pt x="20923" y="693445"/>
                  </a:lnTo>
                  <a:lnTo>
                    <a:pt x="17606" y="690130"/>
                  </a:lnTo>
                  <a:lnTo>
                    <a:pt x="14645" y="686516"/>
                  </a:lnTo>
                  <a:lnTo>
                    <a:pt x="12039" y="682613"/>
                  </a:lnTo>
                  <a:lnTo>
                    <a:pt x="9433" y="678716"/>
                  </a:lnTo>
                  <a:lnTo>
                    <a:pt x="1372" y="656866"/>
                  </a:lnTo>
                  <a:lnTo>
                    <a:pt x="457" y="652267"/>
                  </a:lnTo>
                  <a:lnTo>
                    <a:pt x="0" y="647625"/>
                  </a:lnTo>
                  <a:lnTo>
                    <a:pt x="0" y="642937"/>
                  </a:lnTo>
                  <a:close/>
                </a:path>
              </a:pathLst>
            </a:custGeom>
            <a:ln w="9524">
              <a:solidFill>
                <a:srgbClr val="B8C7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15949" y="1065339"/>
            <a:ext cx="53276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입력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Noto Sans KR"/>
                <a:cs typeface="Noto Sans KR"/>
              </a:rPr>
              <a:t>KPI</a:t>
            </a:r>
            <a:endParaRPr sz="1150">
              <a:latin typeface="Noto Sans KR"/>
              <a:cs typeface="Noto Sans KR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47699" y="1362072"/>
            <a:ext cx="733425" cy="190500"/>
          </a:xfrm>
          <a:custGeom>
            <a:avLst/>
            <a:gdLst/>
            <a:ahLst/>
            <a:cxnLst/>
            <a:rect l="l" t="t" r="r" b="b"/>
            <a:pathLst>
              <a:path w="733425" h="190500">
                <a:moveTo>
                  <a:pt x="708639" y="190495"/>
                </a:moveTo>
                <a:lnTo>
                  <a:pt x="24785" y="190495"/>
                </a:lnTo>
                <a:lnTo>
                  <a:pt x="21140" y="189769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708639" y="0"/>
                </a:lnTo>
                <a:lnTo>
                  <a:pt x="733424" y="24785"/>
                </a:lnTo>
                <a:lnTo>
                  <a:pt x="733424" y="165711"/>
                </a:lnTo>
                <a:lnTo>
                  <a:pt x="712284" y="189769"/>
                </a:lnTo>
                <a:lnTo>
                  <a:pt x="708639" y="190495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11199" y="1373854"/>
            <a:ext cx="60198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긴급</a:t>
            </a:r>
            <a:r>
              <a:rPr dirty="0" sz="900" spc="-8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로트</a:t>
            </a:r>
            <a:r>
              <a:rPr dirty="0" sz="900" spc="-8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CT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419224" y="1362072"/>
            <a:ext cx="657225" cy="190500"/>
          </a:xfrm>
          <a:custGeom>
            <a:avLst/>
            <a:gdLst/>
            <a:ahLst/>
            <a:cxnLst/>
            <a:rect l="l" t="t" r="r" b="b"/>
            <a:pathLst>
              <a:path w="657225" h="190500">
                <a:moveTo>
                  <a:pt x="632439" y="190495"/>
                </a:moveTo>
                <a:lnTo>
                  <a:pt x="24785" y="190495"/>
                </a:lnTo>
                <a:lnTo>
                  <a:pt x="21140" y="189769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632439" y="0"/>
                </a:lnTo>
                <a:lnTo>
                  <a:pt x="657225" y="24785"/>
                </a:lnTo>
                <a:lnTo>
                  <a:pt x="657225" y="165711"/>
                </a:lnTo>
                <a:lnTo>
                  <a:pt x="636084" y="189769"/>
                </a:lnTo>
                <a:lnTo>
                  <a:pt x="632439" y="190495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478111" y="1373854"/>
            <a:ext cx="53721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생산</a:t>
            </a:r>
            <a:r>
              <a:rPr dirty="0" sz="900" spc="-8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125" b="1">
                <a:solidFill>
                  <a:srgbClr val="FFFFFF"/>
                </a:solidFill>
                <a:latin typeface="맑은 고딕"/>
                <a:cs typeface="맑은 고딕"/>
              </a:rPr>
              <a:t>달성률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114549" y="1362072"/>
            <a:ext cx="819150" cy="190500"/>
          </a:xfrm>
          <a:custGeom>
            <a:avLst/>
            <a:gdLst/>
            <a:ahLst/>
            <a:cxnLst/>
            <a:rect l="l" t="t" r="r" b="b"/>
            <a:pathLst>
              <a:path w="819150" h="190500">
                <a:moveTo>
                  <a:pt x="794364" y="190495"/>
                </a:moveTo>
                <a:lnTo>
                  <a:pt x="24785" y="190495"/>
                </a:lnTo>
                <a:lnTo>
                  <a:pt x="21140" y="189769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5"/>
                </a:lnTo>
                <a:lnTo>
                  <a:pt x="24785" y="0"/>
                </a:lnTo>
                <a:lnTo>
                  <a:pt x="794364" y="0"/>
                </a:lnTo>
                <a:lnTo>
                  <a:pt x="819149" y="24785"/>
                </a:lnTo>
                <a:lnTo>
                  <a:pt x="819149" y="165711"/>
                </a:lnTo>
                <a:lnTo>
                  <a:pt x="798009" y="189769"/>
                </a:lnTo>
                <a:lnTo>
                  <a:pt x="794364" y="190495"/>
                </a:lnTo>
                <a:close/>
              </a:path>
            </a:pathLst>
          </a:custGeom>
          <a:solidFill>
            <a:srgbClr val="1F3F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179984" y="1373854"/>
            <a:ext cx="68580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70" b="1">
                <a:solidFill>
                  <a:srgbClr val="FFFFFF"/>
                </a:solidFill>
                <a:latin typeface="Noto Sans KR"/>
                <a:cs typeface="Noto Sans KR"/>
              </a:rPr>
              <a:t>IPLT</a:t>
            </a:r>
            <a:r>
              <a:rPr dirty="0" sz="900" spc="3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150" b="1">
                <a:solidFill>
                  <a:srgbClr val="FFFFFF"/>
                </a:solidFill>
                <a:latin typeface="맑은 고딕"/>
                <a:cs typeface="맑은 고딕"/>
              </a:rPr>
              <a:t>초과</a:t>
            </a:r>
            <a:r>
              <a:rPr dirty="0" sz="900" spc="-8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맑은 고딕"/>
                <a:cs typeface="맑은 고딕"/>
              </a:rPr>
              <a:t>로트</a:t>
            </a:r>
            <a:endParaRPr sz="900">
              <a:latin typeface="맑은 고딕"/>
              <a:cs typeface="맑은 고딕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5299" y="1781172"/>
            <a:ext cx="5514975" cy="4829175"/>
            <a:chOff x="495299" y="1781172"/>
            <a:chExt cx="5514975" cy="4829175"/>
          </a:xfrm>
        </p:grpSpPr>
        <p:sp>
          <p:nvSpPr>
            <p:cNvPr id="16" name="object 16" descr=""/>
            <p:cNvSpPr/>
            <p:nvPr/>
          </p:nvSpPr>
          <p:spPr>
            <a:xfrm>
              <a:off x="500062" y="1785935"/>
              <a:ext cx="5505450" cy="4819650"/>
            </a:xfrm>
            <a:custGeom>
              <a:avLst/>
              <a:gdLst/>
              <a:ahLst/>
              <a:cxnLst/>
              <a:rect l="l" t="t" r="r" b="b"/>
              <a:pathLst>
                <a:path w="5505450" h="4819650">
                  <a:moveTo>
                    <a:pt x="5438703" y="4819644"/>
                  </a:moveTo>
                  <a:lnTo>
                    <a:pt x="66746" y="4819644"/>
                  </a:lnTo>
                  <a:lnTo>
                    <a:pt x="62101" y="4819184"/>
                  </a:lnTo>
                  <a:lnTo>
                    <a:pt x="24240" y="4802036"/>
                  </a:lnTo>
                  <a:lnTo>
                    <a:pt x="2287" y="4766741"/>
                  </a:lnTo>
                  <a:lnTo>
                    <a:pt x="0" y="4752900"/>
                  </a:lnTo>
                  <a:lnTo>
                    <a:pt x="0" y="4748212"/>
                  </a:lnTo>
                  <a:lnTo>
                    <a:pt x="0" y="66744"/>
                  </a:lnTo>
                  <a:lnTo>
                    <a:pt x="14645" y="27844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5438703" y="0"/>
                  </a:lnTo>
                  <a:lnTo>
                    <a:pt x="5477600" y="14640"/>
                  </a:lnTo>
                  <a:lnTo>
                    <a:pt x="5501806" y="48429"/>
                  </a:lnTo>
                  <a:lnTo>
                    <a:pt x="5505448" y="66744"/>
                  </a:lnTo>
                  <a:lnTo>
                    <a:pt x="5505448" y="4752900"/>
                  </a:lnTo>
                  <a:lnTo>
                    <a:pt x="5490803" y="4791790"/>
                  </a:lnTo>
                  <a:lnTo>
                    <a:pt x="5457016" y="4815998"/>
                  </a:lnTo>
                  <a:lnTo>
                    <a:pt x="5443348" y="4819184"/>
                  </a:lnTo>
                  <a:lnTo>
                    <a:pt x="5438703" y="4819644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0062" y="1785935"/>
              <a:ext cx="5505450" cy="4819650"/>
            </a:xfrm>
            <a:custGeom>
              <a:avLst/>
              <a:gdLst/>
              <a:ahLst/>
              <a:cxnLst/>
              <a:rect l="l" t="t" r="r" b="b"/>
              <a:pathLst>
                <a:path w="5505450" h="4819650">
                  <a:moveTo>
                    <a:pt x="0" y="47482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3"/>
                  </a:lnTo>
                  <a:lnTo>
                    <a:pt x="12039" y="31746"/>
                  </a:lnTo>
                  <a:lnTo>
                    <a:pt x="14645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5"/>
                  </a:lnTo>
                  <a:lnTo>
                    <a:pt x="31748" y="12036"/>
                  </a:lnTo>
                  <a:lnTo>
                    <a:pt x="35648" y="942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38703" y="0"/>
                  </a:lnTo>
                  <a:lnTo>
                    <a:pt x="5443348" y="456"/>
                  </a:lnTo>
                  <a:lnTo>
                    <a:pt x="5481209" y="17603"/>
                  </a:lnTo>
                  <a:lnTo>
                    <a:pt x="5484525" y="20919"/>
                  </a:lnTo>
                  <a:lnTo>
                    <a:pt x="5487842" y="24235"/>
                  </a:lnTo>
                  <a:lnTo>
                    <a:pt x="5490803" y="27844"/>
                  </a:lnTo>
                  <a:lnTo>
                    <a:pt x="5493409" y="31746"/>
                  </a:lnTo>
                  <a:lnTo>
                    <a:pt x="5496015" y="35649"/>
                  </a:lnTo>
                  <a:lnTo>
                    <a:pt x="5504076" y="57493"/>
                  </a:lnTo>
                  <a:lnTo>
                    <a:pt x="5504991" y="62093"/>
                  </a:lnTo>
                  <a:lnTo>
                    <a:pt x="5505448" y="66744"/>
                  </a:lnTo>
                  <a:lnTo>
                    <a:pt x="5505449" y="71437"/>
                  </a:lnTo>
                  <a:lnTo>
                    <a:pt x="5505449" y="4748212"/>
                  </a:lnTo>
                  <a:lnTo>
                    <a:pt x="5505448" y="4752900"/>
                  </a:lnTo>
                  <a:lnTo>
                    <a:pt x="5504991" y="4757541"/>
                  </a:lnTo>
                  <a:lnTo>
                    <a:pt x="5504076" y="4762141"/>
                  </a:lnTo>
                  <a:lnTo>
                    <a:pt x="5503161" y="4766741"/>
                  </a:lnTo>
                  <a:lnTo>
                    <a:pt x="5501806" y="4771206"/>
                  </a:lnTo>
                  <a:lnTo>
                    <a:pt x="5500010" y="4775540"/>
                  </a:lnTo>
                  <a:lnTo>
                    <a:pt x="5498216" y="4779875"/>
                  </a:lnTo>
                  <a:lnTo>
                    <a:pt x="5496015" y="4783990"/>
                  </a:lnTo>
                  <a:lnTo>
                    <a:pt x="5493409" y="4787888"/>
                  </a:lnTo>
                  <a:lnTo>
                    <a:pt x="5490803" y="4791790"/>
                  </a:lnTo>
                  <a:lnTo>
                    <a:pt x="5487842" y="4795404"/>
                  </a:lnTo>
                  <a:lnTo>
                    <a:pt x="5484525" y="4798720"/>
                  </a:lnTo>
                  <a:lnTo>
                    <a:pt x="5481209" y="4802036"/>
                  </a:lnTo>
                  <a:lnTo>
                    <a:pt x="5477600" y="4804994"/>
                  </a:lnTo>
                  <a:lnTo>
                    <a:pt x="5473700" y="4807599"/>
                  </a:lnTo>
                  <a:lnTo>
                    <a:pt x="5469800" y="4810208"/>
                  </a:lnTo>
                  <a:lnTo>
                    <a:pt x="5434012" y="4819649"/>
                  </a:lnTo>
                  <a:lnTo>
                    <a:pt x="71437" y="4819649"/>
                  </a:lnTo>
                  <a:lnTo>
                    <a:pt x="31748" y="4807599"/>
                  </a:lnTo>
                  <a:lnTo>
                    <a:pt x="20923" y="4798720"/>
                  </a:lnTo>
                  <a:lnTo>
                    <a:pt x="17606" y="4795404"/>
                  </a:lnTo>
                  <a:lnTo>
                    <a:pt x="14645" y="4791790"/>
                  </a:lnTo>
                  <a:lnTo>
                    <a:pt x="12039" y="4787888"/>
                  </a:lnTo>
                  <a:lnTo>
                    <a:pt x="9433" y="4783990"/>
                  </a:lnTo>
                  <a:lnTo>
                    <a:pt x="7232" y="4779875"/>
                  </a:lnTo>
                  <a:lnTo>
                    <a:pt x="5437" y="4775540"/>
                  </a:lnTo>
                  <a:lnTo>
                    <a:pt x="3642" y="4771206"/>
                  </a:lnTo>
                  <a:lnTo>
                    <a:pt x="2287" y="4766741"/>
                  </a:lnTo>
                  <a:lnTo>
                    <a:pt x="1372" y="4762141"/>
                  </a:lnTo>
                  <a:lnTo>
                    <a:pt x="457" y="4757541"/>
                  </a:lnTo>
                  <a:lnTo>
                    <a:pt x="0" y="4752900"/>
                  </a:lnTo>
                  <a:lnTo>
                    <a:pt x="0" y="47482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8649" y="2143122"/>
              <a:ext cx="5248275" cy="914400"/>
            </a:xfrm>
            <a:custGeom>
              <a:avLst/>
              <a:gdLst/>
              <a:ahLst/>
              <a:cxnLst/>
              <a:rect l="l" t="t" r="r" b="b"/>
              <a:pathLst>
                <a:path w="5248275" h="914400">
                  <a:moveTo>
                    <a:pt x="5206964" y="914395"/>
                  </a:moveTo>
                  <a:lnTo>
                    <a:pt x="41309" y="914395"/>
                  </a:lnTo>
                  <a:lnTo>
                    <a:pt x="35234" y="913186"/>
                  </a:lnTo>
                  <a:lnTo>
                    <a:pt x="1208" y="879155"/>
                  </a:lnTo>
                  <a:lnTo>
                    <a:pt x="0" y="873086"/>
                  </a:lnTo>
                  <a:lnTo>
                    <a:pt x="0" y="866774"/>
                  </a:lnTo>
                  <a:lnTo>
                    <a:pt x="0" y="41304"/>
                  </a:lnTo>
                  <a:lnTo>
                    <a:pt x="23564" y="6036"/>
                  </a:lnTo>
                  <a:lnTo>
                    <a:pt x="41309" y="0"/>
                  </a:lnTo>
                  <a:lnTo>
                    <a:pt x="5206964" y="0"/>
                  </a:lnTo>
                  <a:lnTo>
                    <a:pt x="5242232" y="23561"/>
                  </a:lnTo>
                  <a:lnTo>
                    <a:pt x="5248274" y="41304"/>
                  </a:lnTo>
                  <a:lnTo>
                    <a:pt x="5248274" y="873086"/>
                  </a:lnTo>
                  <a:lnTo>
                    <a:pt x="5224709" y="908348"/>
                  </a:lnTo>
                  <a:lnTo>
                    <a:pt x="5213039" y="913186"/>
                  </a:lnTo>
                  <a:lnTo>
                    <a:pt x="5206964" y="914395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5949" y="1881955"/>
            <a:ext cx="12134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생성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룰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형식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200" spc="-10" b="1">
                <a:solidFill>
                  <a:srgbClr val="1A1A1A"/>
                </a:solidFill>
                <a:latin typeface="Arial"/>
                <a:cs typeface="Arial"/>
              </a:rPr>
              <a:t>(</a:t>
            </a:r>
            <a:r>
              <a:rPr dirty="0" sz="1150" spc="-10" b="1">
                <a:solidFill>
                  <a:srgbClr val="1A1A1A"/>
                </a:solidFill>
                <a:latin typeface="Noto Sans KR"/>
                <a:cs typeface="Noto Sans KR"/>
              </a:rPr>
              <a:t>JSON</a:t>
            </a:r>
            <a:r>
              <a:rPr dirty="0" sz="1200" spc="-10" b="1">
                <a:solidFill>
                  <a:srgbClr val="1A1A1A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20724" y="2171382"/>
            <a:ext cx="2823845" cy="777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215" marR="920115" indent="-57150">
              <a:lnSpc>
                <a:spcPct val="147100"/>
              </a:lnSpc>
              <a:spcBef>
                <a:spcPts val="95"/>
              </a:spcBef>
            </a:pP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{"metric":</a:t>
            </a:r>
            <a:r>
              <a:rPr dirty="0" sz="850" spc="21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 spc="-10">
                <a:solidFill>
                  <a:srgbClr val="A7D8A7"/>
                </a:solidFill>
                <a:latin typeface="굴림체"/>
                <a:cs typeface="굴림체"/>
              </a:rPr>
              <a:t>"urgent_lot_count",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"operator":</a:t>
            </a:r>
            <a:r>
              <a:rPr dirty="0" sz="850" spc="19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"&gt;",</a:t>
            </a:r>
            <a:r>
              <a:rPr dirty="0" sz="850" spc="200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"threshold":</a:t>
            </a:r>
            <a:r>
              <a:rPr dirty="0" sz="850" spc="19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 spc="-25">
                <a:solidFill>
                  <a:srgbClr val="A7D8A7"/>
                </a:solidFill>
                <a:latin typeface="굴림체"/>
                <a:cs typeface="굴림체"/>
              </a:rPr>
              <a:t>2,</a:t>
            </a:r>
            <a:endParaRPr sz="850">
              <a:latin typeface="굴림체"/>
              <a:cs typeface="굴림체"/>
            </a:endParaRPr>
          </a:p>
          <a:p>
            <a:pPr marL="69215" marR="5080">
              <a:lnSpc>
                <a:spcPts val="1500"/>
              </a:lnSpc>
              <a:spcBef>
                <a:spcPts val="30"/>
              </a:spcBef>
            </a:pP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"forbidden_actions":</a:t>
            </a:r>
            <a:r>
              <a:rPr dirty="0" sz="850" spc="409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 spc="-10">
                <a:solidFill>
                  <a:srgbClr val="A7D8A7"/>
                </a:solidFill>
                <a:latin typeface="굴림체"/>
                <a:cs typeface="굴림체"/>
              </a:rPr>
              <a:t>[0,1,2,3,4,5,6,7,8],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"rationale":</a:t>
            </a:r>
            <a:r>
              <a:rPr dirty="0" sz="850" spc="110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"긴급</a:t>
            </a:r>
            <a:r>
              <a:rPr dirty="0" sz="850" spc="13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로트</a:t>
            </a:r>
            <a:r>
              <a:rPr dirty="0" sz="850" spc="13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&gt;2</a:t>
            </a:r>
            <a:r>
              <a:rPr dirty="0" sz="850" spc="110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시</a:t>
            </a:r>
            <a:r>
              <a:rPr dirty="0" sz="850" spc="13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비우선</a:t>
            </a:r>
            <a:r>
              <a:rPr dirty="0" sz="850" spc="13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>
                <a:solidFill>
                  <a:srgbClr val="A7D8A7"/>
                </a:solidFill>
                <a:latin typeface="굴림체"/>
                <a:cs typeface="굴림체"/>
              </a:rPr>
              <a:t>행동</a:t>
            </a:r>
            <a:r>
              <a:rPr dirty="0" sz="850" spc="135">
                <a:solidFill>
                  <a:srgbClr val="A7D8A7"/>
                </a:solidFill>
                <a:latin typeface="굴림체"/>
                <a:cs typeface="굴림체"/>
              </a:rPr>
              <a:t> </a:t>
            </a:r>
            <a:r>
              <a:rPr dirty="0" sz="850" spc="-20">
                <a:solidFill>
                  <a:srgbClr val="A7D8A7"/>
                </a:solidFill>
                <a:latin typeface="굴림체"/>
                <a:cs typeface="굴림체"/>
              </a:rPr>
              <a:t>금지"}</a:t>
            </a:r>
            <a:endParaRPr sz="850">
              <a:latin typeface="굴림체"/>
              <a:cs typeface="굴림체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6169024" y="574192"/>
            <a:ext cx="2406650" cy="2355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260">
                <a:solidFill>
                  <a:srgbClr val="DF592A"/>
                </a:solidFill>
              </a:rPr>
              <a:t>룰</a:t>
            </a:r>
            <a:r>
              <a:rPr dirty="0" sz="1350" spc="-135">
                <a:solidFill>
                  <a:srgbClr val="DF592A"/>
                </a:solidFill>
              </a:rPr>
              <a:t> </a:t>
            </a:r>
            <a:r>
              <a:rPr dirty="0" sz="1350" spc="-260">
                <a:solidFill>
                  <a:srgbClr val="DF592A"/>
                </a:solidFill>
              </a:rPr>
              <a:t>새니타이저</a:t>
            </a:r>
            <a:r>
              <a:rPr dirty="0" sz="1350" spc="-130">
                <a:solidFill>
                  <a:srgbClr val="DF592A"/>
                </a:solidFill>
              </a:rPr>
              <a:t> </a:t>
            </a:r>
            <a:r>
              <a:rPr dirty="0" sz="1350" spc="-285">
                <a:solidFill>
                  <a:srgbClr val="DF592A"/>
                </a:solidFill>
                <a:latin typeface="Arial"/>
                <a:cs typeface="Arial"/>
              </a:rPr>
              <a:t>—</a:t>
            </a:r>
            <a:r>
              <a:rPr dirty="0" sz="1350" spc="-35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350" spc="-100">
                <a:solidFill>
                  <a:srgbClr val="DF592A"/>
                </a:solidFill>
                <a:latin typeface="Noto Sans KR"/>
                <a:cs typeface="Noto Sans KR"/>
              </a:rPr>
              <a:t>LLM</a:t>
            </a:r>
            <a:r>
              <a:rPr dirty="0" sz="1350" spc="35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350" spc="-260">
                <a:solidFill>
                  <a:srgbClr val="DF592A"/>
                </a:solidFill>
              </a:rPr>
              <a:t>오류</a:t>
            </a:r>
            <a:r>
              <a:rPr dirty="0" sz="1350" spc="-135">
                <a:solidFill>
                  <a:srgbClr val="DF592A"/>
                </a:solidFill>
              </a:rPr>
              <a:t> </a:t>
            </a:r>
            <a:r>
              <a:rPr dirty="0" sz="1350" spc="-260">
                <a:solidFill>
                  <a:srgbClr val="DF592A"/>
                </a:solidFill>
              </a:rPr>
              <a:t>자동</a:t>
            </a:r>
            <a:r>
              <a:rPr dirty="0" sz="1350" spc="-130">
                <a:solidFill>
                  <a:srgbClr val="DF592A"/>
                </a:solidFill>
              </a:rPr>
              <a:t> </a:t>
            </a:r>
            <a:r>
              <a:rPr dirty="0" sz="1350" spc="-285">
                <a:solidFill>
                  <a:srgbClr val="DF592A"/>
                </a:solidFill>
              </a:rPr>
              <a:t>수정</a:t>
            </a:r>
            <a:endParaRPr sz="1350">
              <a:latin typeface="Noto Sans KR"/>
              <a:cs typeface="Noto Sans KR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6181724" y="962022"/>
            <a:ext cx="5514975" cy="1676400"/>
            <a:chOff x="6181724" y="962022"/>
            <a:chExt cx="5514975" cy="1676400"/>
          </a:xfrm>
        </p:grpSpPr>
        <p:sp>
          <p:nvSpPr>
            <p:cNvPr id="23" name="object 23" descr=""/>
            <p:cNvSpPr/>
            <p:nvPr/>
          </p:nvSpPr>
          <p:spPr>
            <a:xfrm>
              <a:off x="6186487" y="966785"/>
              <a:ext cx="5505450" cy="1666875"/>
            </a:xfrm>
            <a:custGeom>
              <a:avLst/>
              <a:gdLst/>
              <a:ahLst/>
              <a:cxnLst/>
              <a:rect l="l" t="t" r="r" b="b"/>
              <a:pathLst>
                <a:path w="5505450" h="1666875">
                  <a:moveTo>
                    <a:pt x="5438701" y="1666870"/>
                  </a:moveTo>
                  <a:lnTo>
                    <a:pt x="66746" y="1666870"/>
                  </a:lnTo>
                  <a:lnTo>
                    <a:pt x="62100" y="1666410"/>
                  </a:lnTo>
                  <a:lnTo>
                    <a:pt x="24239" y="1649266"/>
                  </a:lnTo>
                  <a:lnTo>
                    <a:pt x="2287" y="1613966"/>
                  </a:lnTo>
                  <a:lnTo>
                    <a:pt x="0" y="1600125"/>
                  </a:lnTo>
                  <a:lnTo>
                    <a:pt x="0" y="1595437"/>
                  </a:lnTo>
                  <a:lnTo>
                    <a:pt x="0" y="66744"/>
                  </a:lnTo>
                  <a:lnTo>
                    <a:pt x="14644" y="27844"/>
                  </a:lnTo>
                  <a:lnTo>
                    <a:pt x="48432" y="3641"/>
                  </a:lnTo>
                  <a:lnTo>
                    <a:pt x="66746" y="0"/>
                  </a:lnTo>
                  <a:lnTo>
                    <a:pt x="5438701" y="0"/>
                  </a:lnTo>
                  <a:lnTo>
                    <a:pt x="5477598" y="14645"/>
                  </a:lnTo>
                  <a:lnTo>
                    <a:pt x="5501805" y="48425"/>
                  </a:lnTo>
                  <a:lnTo>
                    <a:pt x="5505448" y="66744"/>
                  </a:lnTo>
                  <a:lnTo>
                    <a:pt x="5505448" y="1600125"/>
                  </a:lnTo>
                  <a:lnTo>
                    <a:pt x="5490803" y="1639025"/>
                  </a:lnTo>
                  <a:lnTo>
                    <a:pt x="5457015" y="1663223"/>
                  </a:lnTo>
                  <a:lnTo>
                    <a:pt x="5443346" y="1666414"/>
                  </a:lnTo>
                  <a:lnTo>
                    <a:pt x="5438701" y="1666870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186487" y="966785"/>
              <a:ext cx="5505450" cy="1666875"/>
            </a:xfrm>
            <a:custGeom>
              <a:avLst/>
              <a:gdLst/>
              <a:ahLst/>
              <a:cxnLst/>
              <a:rect l="l" t="t" r="r" b="b"/>
              <a:pathLst>
                <a:path w="5505450" h="1666875">
                  <a:moveTo>
                    <a:pt x="0" y="15954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1" y="57498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6" y="44095"/>
                  </a:lnTo>
                  <a:lnTo>
                    <a:pt x="7232" y="39764"/>
                  </a:lnTo>
                  <a:lnTo>
                    <a:pt x="9432" y="35649"/>
                  </a:lnTo>
                  <a:lnTo>
                    <a:pt x="12038" y="31746"/>
                  </a:lnTo>
                  <a:lnTo>
                    <a:pt x="14644" y="27844"/>
                  </a:lnTo>
                  <a:lnTo>
                    <a:pt x="17605" y="24240"/>
                  </a:lnTo>
                  <a:lnTo>
                    <a:pt x="20923" y="20924"/>
                  </a:lnTo>
                  <a:lnTo>
                    <a:pt x="24239" y="17607"/>
                  </a:lnTo>
                  <a:lnTo>
                    <a:pt x="27848" y="14645"/>
                  </a:lnTo>
                  <a:lnTo>
                    <a:pt x="31748" y="12036"/>
                  </a:lnTo>
                  <a:lnTo>
                    <a:pt x="35648" y="942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38701" y="0"/>
                  </a:lnTo>
                  <a:lnTo>
                    <a:pt x="5443346" y="456"/>
                  </a:lnTo>
                  <a:lnTo>
                    <a:pt x="5447947" y="1371"/>
                  </a:lnTo>
                  <a:lnTo>
                    <a:pt x="5452548" y="2287"/>
                  </a:lnTo>
                  <a:lnTo>
                    <a:pt x="5457015" y="3641"/>
                  </a:lnTo>
                  <a:lnTo>
                    <a:pt x="5461348" y="5436"/>
                  </a:lnTo>
                  <a:lnTo>
                    <a:pt x="5465682" y="7227"/>
                  </a:lnTo>
                  <a:lnTo>
                    <a:pt x="5469799" y="9426"/>
                  </a:lnTo>
                  <a:lnTo>
                    <a:pt x="5473699" y="12036"/>
                  </a:lnTo>
                  <a:lnTo>
                    <a:pt x="5477598" y="14645"/>
                  </a:lnTo>
                  <a:lnTo>
                    <a:pt x="5481208" y="17607"/>
                  </a:lnTo>
                  <a:lnTo>
                    <a:pt x="5484525" y="20924"/>
                  </a:lnTo>
                  <a:lnTo>
                    <a:pt x="5487842" y="24240"/>
                  </a:lnTo>
                  <a:lnTo>
                    <a:pt x="5504076" y="57498"/>
                  </a:lnTo>
                  <a:lnTo>
                    <a:pt x="5504991" y="62098"/>
                  </a:lnTo>
                  <a:lnTo>
                    <a:pt x="5505448" y="66744"/>
                  </a:lnTo>
                  <a:lnTo>
                    <a:pt x="5505449" y="71437"/>
                  </a:lnTo>
                  <a:lnTo>
                    <a:pt x="5505449" y="1595437"/>
                  </a:lnTo>
                  <a:lnTo>
                    <a:pt x="5505448" y="1600125"/>
                  </a:lnTo>
                  <a:lnTo>
                    <a:pt x="5504991" y="1604767"/>
                  </a:lnTo>
                  <a:lnTo>
                    <a:pt x="5504076" y="1609366"/>
                  </a:lnTo>
                  <a:lnTo>
                    <a:pt x="5503161" y="1613966"/>
                  </a:lnTo>
                  <a:lnTo>
                    <a:pt x="5501805" y="1618436"/>
                  </a:lnTo>
                  <a:lnTo>
                    <a:pt x="5500011" y="1622765"/>
                  </a:lnTo>
                  <a:lnTo>
                    <a:pt x="5498216" y="1627100"/>
                  </a:lnTo>
                  <a:lnTo>
                    <a:pt x="5496015" y="1631220"/>
                  </a:lnTo>
                  <a:lnTo>
                    <a:pt x="5493409" y="1635123"/>
                  </a:lnTo>
                  <a:lnTo>
                    <a:pt x="5490803" y="1639025"/>
                  </a:lnTo>
                  <a:lnTo>
                    <a:pt x="5487842" y="1642634"/>
                  </a:lnTo>
                  <a:lnTo>
                    <a:pt x="5484525" y="1645950"/>
                  </a:lnTo>
                  <a:lnTo>
                    <a:pt x="5481208" y="1649266"/>
                  </a:lnTo>
                  <a:lnTo>
                    <a:pt x="5447947" y="1665498"/>
                  </a:lnTo>
                  <a:lnTo>
                    <a:pt x="5443346" y="1666414"/>
                  </a:lnTo>
                  <a:lnTo>
                    <a:pt x="5438701" y="1666870"/>
                  </a:lnTo>
                  <a:lnTo>
                    <a:pt x="5434012" y="1666874"/>
                  </a:lnTo>
                  <a:lnTo>
                    <a:pt x="71437" y="1666874"/>
                  </a:lnTo>
                  <a:lnTo>
                    <a:pt x="31748" y="1654829"/>
                  </a:lnTo>
                  <a:lnTo>
                    <a:pt x="20923" y="1645950"/>
                  </a:lnTo>
                  <a:lnTo>
                    <a:pt x="17605" y="1642634"/>
                  </a:lnTo>
                  <a:lnTo>
                    <a:pt x="14644" y="1639025"/>
                  </a:lnTo>
                  <a:lnTo>
                    <a:pt x="12038" y="1635123"/>
                  </a:lnTo>
                  <a:lnTo>
                    <a:pt x="9432" y="1631220"/>
                  </a:lnTo>
                  <a:lnTo>
                    <a:pt x="0" y="1600125"/>
                  </a:lnTo>
                  <a:lnTo>
                    <a:pt x="0" y="1595437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302374" y="1062805"/>
            <a:ext cx="285686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95" b="1">
                <a:solidFill>
                  <a:srgbClr val="1A1A1A"/>
                </a:solidFill>
                <a:latin typeface="Noto Sans KR"/>
                <a:cs typeface="Noto Sans KR"/>
              </a:rPr>
              <a:t>608</a:t>
            </a:r>
            <a:r>
              <a:rPr dirty="0" sz="1150" spc="-95" b="1">
                <a:solidFill>
                  <a:srgbClr val="1A1A1A"/>
                </a:solidFill>
                <a:latin typeface="맑은 고딕"/>
                <a:cs typeface="맑은 고딕"/>
              </a:rPr>
              <a:t>개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중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80" b="1">
                <a:solidFill>
                  <a:srgbClr val="1A1A1A"/>
                </a:solidFill>
                <a:latin typeface="Noto Sans KR"/>
                <a:cs typeface="Noto Sans KR"/>
              </a:rPr>
              <a:t>14</a:t>
            </a:r>
            <a:r>
              <a:rPr dirty="0" sz="1200" spc="-80" b="1">
                <a:solidFill>
                  <a:srgbClr val="1A1A1A"/>
                </a:solidFill>
                <a:latin typeface="Arial"/>
                <a:cs typeface="Arial"/>
              </a:rPr>
              <a:t>.</a:t>
            </a:r>
            <a:r>
              <a:rPr dirty="0" sz="1150" spc="-80" b="1">
                <a:solidFill>
                  <a:srgbClr val="1A1A1A"/>
                </a:solidFill>
                <a:latin typeface="Noto Sans KR"/>
                <a:cs typeface="Noto Sans KR"/>
              </a:rPr>
              <a:t>5%</a:t>
            </a:r>
            <a:r>
              <a:rPr dirty="0" sz="1150" spc="-80" b="1">
                <a:solidFill>
                  <a:srgbClr val="1A1A1A"/>
                </a:solidFill>
                <a:latin typeface="맑은 고딕"/>
                <a:cs typeface="맑은 고딕"/>
              </a:rPr>
              <a:t>는</a:t>
            </a:r>
            <a:r>
              <a:rPr dirty="0" sz="1150" spc="-9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오류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포함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10" b="1">
                <a:solidFill>
                  <a:srgbClr val="1A1A1A"/>
                </a:solidFill>
                <a:latin typeface="Arial"/>
                <a:cs typeface="Arial"/>
              </a:rPr>
              <a:t>→</a:t>
            </a:r>
            <a:r>
              <a:rPr dirty="0" sz="1150" spc="-1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집행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전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자동</a:t>
            </a:r>
            <a:r>
              <a:rPr dirty="0" sz="1150" spc="-9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수정</a:t>
            </a:r>
            <a:endParaRPr sz="1150">
              <a:latin typeface="맑은 고딕"/>
              <a:cs typeface="맑은 고딕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315073" y="1343022"/>
            <a:ext cx="5248275" cy="361950"/>
            <a:chOff x="6315073" y="1343022"/>
            <a:chExt cx="5248275" cy="361950"/>
          </a:xfrm>
        </p:grpSpPr>
        <p:sp>
          <p:nvSpPr>
            <p:cNvPr id="27" name="object 27" descr=""/>
            <p:cNvSpPr/>
            <p:nvPr/>
          </p:nvSpPr>
          <p:spPr>
            <a:xfrm>
              <a:off x="6319836" y="1347785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5201571" y="352420"/>
                  </a:moveTo>
                  <a:lnTo>
                    <a:pt x="37179" y="352420"/>
                  </a:lnTo>
                  <a:lnTo>
                    <a:pt x="31710" y="351332"/>
                  </a:lnTo>
                  <a:lnTo>
                    <a:pt x="1087" y="320705"/>
                  </a:lnTo>
                  <a:lnTo>
                    <a:pt x="0" y="315241"/>
                  </a:lnTo>
                  <a:lnTo>
                    <a:pt x="0" y="309562"/>
                  </a:lnTo>
                  <a:lnTo>
                    <a:pt x="0" y="37174"/>
                  </a:lnTo>
                  <a:lnTo>
                    <a:pt x="21207" y="5432"/>
                  </a:lnTo>
                  <a:lnTo>
                    <a:pt x="37179" y="0"/>
                  </a:lnTo>
                  <a:lnTo>
                    <a:pt x="5201571" y="0"/>
                  </a:lnTo>
                  <a:lnTo>
                    <a:pt x="5233310" y="21198"/>
                  </a:lnTo>
                  <a:lnTo>
                    <a:pt x="5238749" y="37174"/>
                  </a:lnTo>
                  <a:lnTo>
                    <a:pt x="5238749" y="315241"/>
                  </a:lnTo>
                  <a:lnTo>
                    <a:pt x="5217538" y="346983"/>
                  </a:lnTo>
                  <a:lnTo>
                    <a:pt x="5207038" y="351332"/>
                  </a:lnTo>
                  <a:lnTo>
                    <a:pt x="5201571" y="352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319836" y="1347785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0" y="309562"/>
                  </a:moveTo>
                  <a:lnTo>
                    <a:pt x="0" y="42862"/>
                  </a:lnTo>
                  <a:lnTo>
                    <a:pt x="0" y="37174"/>
                  </a:lnTo>
                  <a:lnTo>
                    <a:pt x="1087" y="31704"/>
                  </a:lnTo>
                  <a:lnTo>
                    <a:pt x="3262" y="26453"/>
                  </a:lnTo>
                  <a:lnTo>
                    <a:pt x="5437" y="21198"/>
                  </a:lnTo>
                  <a:lnTo>
                    <a:pt x="8534" y="16562"/>
                  </a:lnTo>
                  <a:lnTo>
                    <a:pt x="12553" y="12548"/>
                  </a:lnTo>
                  <a:lnTo>
                    <a:pt x="16572" y="8529"/>
                  </a:lnTo>
                  <a:lnTo>
                    <a:pt x="21207" y="5432"/>
                  </a:lnTo>
                  <a:lnTo>
                    <a:pt x="26459" y="3255"/>
                  </a:lnTo>
                  <a:lnTo>
                    <a:pt x="31710" y="1083"/>
                  </a:lnTo>
                  <a:lnTo>
                    <a:pt x="37179" y="0"/>
                  </a:lnTo>
                  <a:lnTo>
                    <a:pt x="42863" y="0"/>
                  </a:lnTo>
                  <a:lnTo>
                    <a:pt x="5195887" y="0"/>
                  </a:lnTo>
                  <a:lnTo>
                    <a:pt x="5201571" y="0"/>
                  </a:lnTo>
                  <a:lnTo>
                    <a:pt x="5207038" y="1083"/>
                  </a:lnTo>
                  <a:lnTo>
                    <a:pt x="5212287" y="3255"/>
                  </a:lnTo>
                  <a:lnTo>
                    <a:pt x="5217538" y="5432"/>
                  </a:lnTo>
                  <a:lnTo>
                    <a:pt x="5222174" y="8529"/>
                  </a:lnTo>
                  <a:lnTo>
                    <a:pt x="5226195" y="12548"/>
                  </a:lnTo>
                  <a:lnTo>
                    <a:pt x="5230213" y="16562"/>
                  </a:lnTo>
                  <a:lnTo>
                    <a:pt x="5233310" y="21198"/>
                  </a:lnTo>
                  <a:lnTo>
                    <a:pt x="5235486" y="26453"/>
                  </a:lnTo>
                  <a:lnTo>
                    <a:pt x="5237661" y="31704"/>
                  </a:lnTo>
                  <a:lnTo>
                    <a:pt x="5238749" y="37174"/>
                  </a:lnTo>
                  <a:lnTo>
                    <a:pt x="5238750" y="42862"/>
                  </a:lnTo>
                  <a:lnTo>
                    <a:pt x="5238750" y="309562"/>
                  </a:lnTo>
                  <a:lnTo>
                    <a:pt x="5222174" y="343885"/>
                  </a:lnTo>
                  <a:lnTo>
                    <a:pt x="5212287" y="349155"/>
                  </a:lnTo>
                  <a:lnTo>
                    <a:pt x="5207038" y="351332"/>
                  </a:lnTo>
                  <a:lnTo>
                    <a:pt x="5201571" y="352420"/>
                  </a:lnTo>
                  <a:lnTo>
                    <a:pt x="5195887" y="352424"/>
                  </a:lnTo>
                  <a:lnTo>
                    <a:pt x="42863" y="352424"/>
                  </a:lnTo>
                  <a:lnTo>
                    <a:pt x="8534" y="335844"/>
                  </a:lnTo>
                  <a:lnTo>
                    <a:pt x="0" y="315241"/>
                  </a:lnTo>
                  <a:lnTo>
                    <a:pt x="0" y="30956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407149" y="1428527"/>
            <a:ext cx="778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30">
                <a:latin typeface="휴먼아미체"/>
                <a:cs typeface="휴먼아미체"/>
              </a:rPr>
              <a:t>척도</a:t>
            </a:r>
            <a:r>
              <a:rPr dirty="0" sz="1100" spc="-180">
                <a:latin typeface="휴먼아미체"/>
                <a:cs typeface="휴먼아미체"/>
              </a:rPr>
              <a:t> </a:t>
            </a:r>
            <a:r>
              <a:rPr dirty="0" sz="1100" spc="385">
                <a:latin typeface="휴먼아미체"/>
                <a:cs typeface="휴먼아미체"/>
              </a:rPr>
              <a:t>혼동</a:t>
            </a:r>
            <a:r>
              <a:rPr dirty="0" sz="1100" spc="-175">
                <a:latin typeface="휴먼아미체"/>
                <a:cs typeface="휴먼아미체"/>
              </a:rPr>
              <a:t> </a:t>
            </a:r>
            <a:r>
              <a:rPr dirty="0" sz="1100" spc="350">
                <a:latin typeface="휴먼아미체"/>
                <a:cs typeface="휴먼아미체"/>
              </a:rPr>
              <a:t>오류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1202689" y="1405763"/>
            <a:ext cx="26860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 b="1">
                <a:solidFill>
                  <a:srgbClr val="DF592A"/>
                </a:solidFill>
                <a:latin typeface="Noto Sans KR Black"/>
                <a:cs typeface="Noto Sans KR Black"/>
              </a:rPr>
              <a:t>9%</a:t>
            </a:r>
            <a:endParaRPr sz="1350">
              <a:latin typeface="Noto Sans KR Black"/>
              <a:cs typeface="Noto Sans KR Black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315073" y="1752597"/>
            <a:ext cx="5248275" cy="361950"/>
            <a:chOff x="6315073" y="1752597"/>
            <a:chExt cx="5248275" cy="361950"/>
          </a:xfrm>
        </p:grpSpPr>
        <p:sp>
          <p:nvSpPr>
            <p:cNvPr id="32" name="object 32" descr=""/>
            <p:cNvSpPr/>
            <p:nvPr/>
          </p:nvSpPr>
          <p:spPr>
            <a:xfrm>
              <a:off x="6319836" y="1757360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5201571" y="352420"/>
                  </a:moveTo>
                  <a:lnTo>
                    <a:pt x="37179" y="352420"/>
                  </a:lnTo>
                  <a:lnTo>
                    <a:pt x="31710" y="351332"/>
                  </a:lnTo>
                  <a:lnTo>
                    <a:pt x="1087" y="320705"/>
                  </a:lnTo>
                  <a:lnTo>
                    <a:pt x="0" y="315241"/>
                  </a:lnTo>
                  <a:lnTo>
                    <a:pt x="0" y="309562"/>
                  </a:lnTo>
                  <a:lnTo>
                    <a:pt x="0" y="37174"/>
                  </a:lnTo>
                  <a:lnTo>
                    <a:pt x="21207" y="5432"/>
                  </a:lnTo>
                  <a:lnTo>
                    <a:pt x="37179" y="0"/>
                  </a:lnTo>
                  <a:lnTo>
                    <a:pt x="5201571" y="0"/>
                  </a:lnTo>
                  <a:lnTo>
                    <a:pt x="5233310" y="21203"/>
                  </a:lnTo>
                  <a:lnTo>
                    <a:pt x="5238749" y="37174"/>
                  </a:lnTo>
                  <a:lnTo>
                    <a:pt x="5238749" y="315241"/>
                  </a:lnTo>
                  <a:lnTo>
                    <a:pt x="5217538" y="346978"/>
                  </a:lnTo>
                  <a:lnTo>
                    <a:pt x="5207038" y="351332"/>
                  </a:lnTo>
                  <a:lnTo>
                    <a:pt x="5201571" y="352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319836" y="1757360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0" y="309562"/>
                  </a:moveTo>
                  <a:lnTo>
                    <a:pt x="0" y="42862"/>
                  </a:lnTo>
                  <a:lnTo>
                    <a:pt x="0" y="37174"/>
                  </a:lnTo>
                  <a:lnTo>
                    <a:pt x="1087" y="31709"/>
                  </a:lnTo>
                  <a:lnTo>
                    <a:pt x="3262" y="26458"/>
                  </a:lnTo>
                  <a:lnTo>
                    <a:pt x="5437" y="21203"/>
                  </a:lnTo>
                  <a:lnTo>
                    <a:pt x="8534" y="16566"/>
                  </a:lnTo>
                  <a:lnTo>
                    <a:pt x="12553" y="12552"/>
                  </a:lnTo>
                  <a:lnTo>
                    <a:pt x="16572" y="8529"/>
                  </a:lnTo>
                  <a:lnTo>
                    <a:pt x="21207" y="5432"/>
                  </a:lnTo>
                  <a:lnTo>
                    <a:pt x="26459" y="3260"/>
                  </a:lnTo>
                  <a:lnTo>
                    <a:pt x="31710" y="1088"/>
                  </a:lnTo>
                  <a:lnTo>
                    <a:pt x="37179" y="0"/>
                  </a:lnTo>
                  <a:lnTo>
                    <a:pt x="42863" y="0"/>
                  </a:lnTo>
                  <a:lnTo>
                    <a:pt x="5195887" y="0"/>
                  </a:lnTo>
                  <a:lnTo>
                    <a:pt x="5201571" y="0"/>
                  </a:lnTo>
                  <a:lnTo>
                    <a:pt x="5207038" y="1088"/>
                  </a:lnTo>
                  <a:lnTo>
                    <a:pt x="5212287" y="3260"/>
                  </a:lnTo>
                  <a:lnTo>
                    <a:pt x="5217538" y="5432"/>
                  </a:lnTo>
                  <a:lnTo>
                    <a:pt x="5222174" y="8529"/>
                  </a:lnTo>
                  <a:lnTo>
                    <a:pt x="5226195" y="12552"/>
                  </a:lnTo>
                  <a:lnTo>
                    <a:pt x="5230213" y="16566"/>
                  </a:lnTo>
                  <a:lnTo>
                    <a:pt x="5238750" y="42862"/>
                  </a:lnTo>
                  <a:lnTo>
                    <a:pt x="5238750" y="309562"/>
                  </a:lnTo>
                  <a:lnTo>
                    <a:pt x="5222174" y="343881"/>
                  </a:lnTo>
                  <a:lnTo>
                    <a:pt x="5212287" y="349151"/>
                  </a:lnTo>
                  <a:lnTo>
                    <a:pt x="5207038" y="351332"/>
                  </a:lnTo>
                  <a:lnTo>
                    <a:pt x="5201571" y="352420"/>
                  </a:lnTo>
                  <a:lnTo>
                    <a:pt x="5195887" y="352424"/>
                  </a:lnTo>
                  <a:lnTo>
                    <a:pt x="42863" y="352424"/>
                  </a:lnTo>
                  <a:lnTo>
                    <a:pt x="37179" y="352420"/>
                  </a:lnTo>
                  <a:lnTo>
                    <a:pt x="31710" y="351332"/>
                  </a:lnTo>
                  <a:lnTo>
                    <a:pt x="26459" y="349155"/>
                  </a:lnTo>
                  <a:lnTo>
                    <a:pt x="21207" y="346978"/>
                  </a:lnTo>
                  <a:lnTo>
                    <a:pt x="3262" y="325952"/>
                  </a:lnTo>
                  <a:lnTo>
                    <a:pt x="1087" y="320705"/>
                  </a:lnTo>
                  <a:lnTo>
                    <a:pt x="0" y="315241"/>
                  </a:lnTo>
                  <a:lnTo>
                    <a:pt x="0" y="30956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407149" y="1838102"/>
            <a:ext cx="778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270">
                <a:latin typeface="휴먼아미체"/>
                <a:cs typeface="휴먼아미체"/>
              </a:rPr>
              <a:t>역전</a:t>
            </a:r>
            <a:r>
              <a:rPr dirty="0" sz="1100" spc="-180">
                <a:latin typeface="휴먼아미체"/>
                <a:cs typeface="휴먼아미체"/>
              </a:rPr>
              <a:t> </a:t>
            </a:r>
            <a:r>
              <a:rPr dirty="0" sz="1100" spc="330">
                <a:latin typeface="휴먼아미체"/>
                <a:cs typeface="휴먼아미체"/>
              </a:rPr>
              <a:t>논리</a:t>
            </a:r>
            <a:r>
              <a:rPr dirty="0" sz="1100" spc="-175">
                <a:latin typeface="휴먼아미체"/>
                <a:cs typeface="휴먼아미체"/>
              </a:rPr>
              <a:t> </a:t>
            </a:r>
            <a:r>
              <a:rPr dirty="0" sz="1100" spc="350">
                <a:latin typeface="휴먼아미체"/>
                <a:cs typeface="휴먼아미체"/>
              </a:rPr>
              <a:t>오류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1056093" y="1815338"/>
            <a:ext cx="4152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0" b="1">
                <a:solidFill>
                  <a:srgbClr val="DF592A"/>
                </a:solidFill>
                <a:latin typeface="Noto Sans KR Black"/>
                <a:cs typeface="Noto Sans KR Black"/>
              </a:rPr>
              <a:t>6.7%</a:t>
            </a:r>
            <a:endParaRPr sz="1350">
              <a:latin typeface="Noto Sans KR Black"/>
              <a:cs typeface="Noto Sans KR Black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6315073" y="2162172"/>
            <a:ext cx="5248275" cy="361950"/>
            <a:chOff x="6315073" y="2162172"/>
            <a:chExt cx="5248275" cy="361950"/>
          </a:xfrm>
        </p:grpSpPr>
        <p:sp>
          <p:nvSpPr>
            <p:cNvPr id="37" name="object 37" descr=""/>
            <p:cNvSpPr/>
            <p:nvPr/>
          </p:nvSpPr>
          <p:spPr>
            <a:xfrm>
              <a:off x="6319836" y="2166935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5201571" y="352420"/>
                  </a:moveTo>
                  <a:lnTo>
                    <a:pt x="37179" y="352420"/>
                  </a:lnTo>
                  <a:lnTo>
                    <a:pt x="31710" y="351332"/>
                  </a:lnTo>
                  <a:lnTo>
                    <a:pt x="1087" y="320710"/>
                  </a:lnTo>
                  <a:lnTo>
                    <a:pt x="0" y="315241"/>
                  </a:lnTo>
                  <a:lnTo>
                    <a:pt x="0" y="309562"/>
                  </a:lnTo>
                  <a:lnTo>
                    <a:pt x="0" y="37174"/>
                  </a:lnTo>
                  <a:lnTo>
                    <a:pt x="21207" y="5432"/>
                  </a:lnTo>
                  <a:lnTo>
                    <a:pt x="37179" y="0"/>
                  </a:lnTo>
                  <a:lnTo>
                    <a:pt x="5201571" y="0"/>
                  </a:lnTo>
                  <a:lnTo>
                    <a:pt x="5233310" y="21198"/>
                  </a:lnTo>
                  <a:lnTo>
                    <a:pt x="5238749" y="37174"/>
                  </a:lnTo>
                  <a:lnTo>
                    <a:pt x="5238749" y="315241"/>
                  </a:lnTo>
                  <a:lnTo>
                    <a:pt x="5217538" y="346978"/>
                  </a:lnTo>
                  <a:lnTo>
                    <a:pt x="5207038" y="351332"/>
                  </a:lnTo>
                  <a:lnTo>
                    <a:pt x="5201571" y="3524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319836" y="2166935"/>
              <a:ext cx="5238750" cy="352425"/>
            </a:xfrm>
            <a:custGeom>
              <a:avLst/>
              <a:gdLst/>
              <a:ahLst/>
              <a:cxnLst/>
              <a:rect l="l" t="t" r="r" b="b"/>
              <a:pathLst>
                <a:path w="5238750" h="352425">
                  <a:moveTo>
                    <a:pt x="0" y="309562"/>
                  </a:moveTo>
                  <a:lnTo>
                    <a:pt x="0" y="42862"/>
                  </a:lnTo>
                  <a:lnTo>
                    <a:pt x="0" y="37174"/>
                  </a:lnTo>
                  <a:lnTo>
                    <a:pt x="1087" y="31704"/>
                  </a:lnTo>
                  <a:lnTo>
                    <a:pt x="26459" y="3255"/>
                  </a:lnTo>
                  <a:lnTo>
                    <a:pt x="37179" y="0"/>
                  </a:lnTo>
                  <a:lnTo>
                    <a:pt x="42863" y="0"/>
                  </a:lnTo>
                  <a:lnTo>
                    <a:pt x="5195887" y="0"/>
                  </a:lnTo>
                  <a:lnTo>
                    <a:pt x="5201571" y="0"/>
                  </a:lnTo>
                  <a:lnTo>
                    <a:pt x="5207038" y="1083"/>
                  </a:lnTo>
                  <a:lnTo>
                    <a:pt x="5235486" y="26449"/>
                  </a:lnTo>
                  <a:lnTo>
                    <a:pt x="5238750" y="42862"/>
                  </a:lnTo>
                  <a:lnTo>
                    <a:pt x="5238750" y="309562"/>
                  </a:lnTo>
                  <a:lnTo>
                    <a:pt x="5238749" y="315241"/>
                  </a:lnTo>
                  <a:lnTo>
                    <a:pt x="5237661" y="320705"/>
                  </a:lnTo>
                  <a:lnTo>
                    <a:pt x="5235486" y="325956"/>
                  </a:lnTo>
                  <a:lnTo>
                    <a:pt x="5233310" y="331208"/>
                  </a:lnTo>
                  <a:lnTo>
                    <a:pt x="5212287" y="349155"/>
                  </a:lnTo>
                  <a:lnTo>
                    <a:pt x="5207038" y="351332"/>
                  </a:lnTo>
                  <a:lnTo>
                    <a:pt x="5201571" y="352420"/>
                  </a:lnTo>
                  <a:lnTo>
                    <a:pt x="5195887" y="352424"/>
                  </a:lnTo>
                  <a:lnTo>
                    <a:pt x="42863" y="352424"/>
                  </a:lnTo>
                  <a:lnTo>
                    <a:pt x="37179" y="352420"/>
                  </a:lnTo>
                  <a:lnTo>
                    <a:pt x="31710" y="351332"/>
                  </a:lnTo>
                  <a:lnTo>
                    <a:pt x="26459" y="349155"/>
                  </a:lnTo>
                  <a:lnTo>
                    <a:pt x="21207" y="346978"/>
                  </a:lnTo>
                  <a:lnTo>
                    <a:pt x="0" y="315241"/>
                  </a:lnTo>
                  <a:lnTo>
                    <a:pt x="0" y="30956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6407149" y="2247677"/>
            <a:ext cx="7785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270">
                <a:latin typeface="휴먼아미체"/>
                <a:cs typeface="휴먼아미체"/>
              </a:rPr>
              <a:t>행동</a:t>
            </a:r>
            <a:r>
              <a:rPr dirty="0" sz="1100" spc="-175">
                <a:latin typeface="휴먼아미체"/>
                <a:cs typeface="휴먼아미체"/>
              </a:rPr>
              <a:t> </a:t>
            </a:r>
            <a:r>
              <a:rPr dirty="0" sz="1100" spc="210">
                <a:latin typeface="휴먼아미체"/>
                <a:cs typeface="휴먼아미체"/>
              </a:rPr>
              <a:t>억제</a:t>
            </a:r>
            <a:r>
              <a:rPr dirty="0" sz="1100" spc="-175">
                <a:latin typeface="휴먼아미체"/>
                <a:cs typeface="휴먼아미체"/>
              </a:rPr>
              <a:t> </a:t>
            </a:r>
            <a:r>
              <a:rPr dirty="0" sz="1100" spc="360">
                <a:latin typeface="휴먼아미체"/>
                <a:cs typeface="휴먼아미체"/>
              </a:rPr>
              <a:t>오류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1056093" y="2224913"/>
            <a:ext cx="4152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0" b="1">
                <a:solidFill>
                  <a:srgbClr val="DF592A"/>
                </a:solidFill>
                <a:latin typeface="Noto Sans KR Black"/>
                <a:cs typeface="Noto Sans KR Black"/>
              </a:rPr>
              <a:t>2.6%</a:t>
            </a:r>
            <a:endParaRPr sz="1350">
              <a:latin typeface="Noto Sans KR Black"/>
              <a:cs typeface="Noto Sans KR Black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181724" y="2733672"/>
            <a:ext cx="5514975" cy="3876675"/>
          </a:xfrm>
          <a:custGeom>
            <a:avLst/>
            <a:gdLst/>
            <a:ahLst/>
            <a:cxnLst/>
            <a:rect l="l" t="t" r="r" b="b"/>
            <a:pathLst>
              <a:path w="5514975" h="3876675">
                <a:moveTo>
                  <a:pt x="5443777" y="3876674"/>
                </a:moveTo>
                <a:lnTo>
                  <a:pt x="71196" y="3876674"/>
                </a:lnTo>
                <a:lnTo>
                  <a:pt x="66241" y="3876186"/>
                </a:lnTo>
                <a:lnTo>
                  <a:pt x="29704" y="3861047"/>
                </a:lnTo>
                <a:lnTo>
                  <a:pt x="3885" y="3825003"/>
                </a:lnTo>
                <a:lnTo>
                  <a:pt x="0" y="3805474"/>
                </a:lnTo>
                <a:lnTo>
                  <a:pt x="0" y="3800474"/>
                </a:lnTo>
                <a:lnTo>
                  <a:pt x="0" y="71195"/>
                </a:lnTo>
                <a:lnTo>
                  <a:pt x="15621" y="29705"/>
                </a:lnTo>
                <a:lnTo>
                  <a:pt x="51661" y="3883"/>
                </a:lnTo>
                <a:lnTo>
                  <a:pt x="71196" y="0"/>
                </a:lnTo>
                <a:lnTo>
                  <a:pt x="5443777" y="0"/>
                </a:lnTo>
                <a:lnTo>
                  <a:pt x="5485267" y="15617"/>
                </a:lnTo>
                <a:lnTo>
                  <a:pt x="5511088" y="51656"/>
                </a:lnTo>
                <a:lnTo>
                  <a:pt x="5514974" y="71195"/>
                </a:lnTo>
                <a:lnTo>
                  <a:pt x="5514974" y="3805474"/>
                </a:lnTo>
                <a:lnTo>
                  <a:pt x="5499351" y="3846965"/>
                </a:lnTo>
                <a:lnTo>
                  <a:pt x="5463311" y="3872786"/>
                </a:lnTo>
                <a:lnTo>
                  <a:pt x="5448732" y="3876186"/>
                </a:lnTo>
                <a:lnTo>
                  <a:pt x="5443777" y="38766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6302374" y="4393928"/>
            <a:ext cx="1645285" cy="4762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총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95" b="1">
                <a:solidFill>
                  <a:srgbClr val="FFFFFF"/>
                </a:solidFill>
                <a:latin typeface="Noto Sans KR"/>
                <a:cs typeface="Noto Sans KR"/>
              </a:rPr>
              <a:t>608</a:t>
            </a:r>
            <a:r>
              <a:rPr dirty="0" sz="1150" spc="-95" b="1">
                <a:solidFill>
                  <a:srgbClr val="FFFFFF"/>
                </a:solidFill>
                <a:latin typeface="맑은 고딕"/>
                <a:cs typeface="맑은 고딕"/>
              </a:rPr>
              <a:t>개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룰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생성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새니타이저</a:t>
            </a:r>
            <a:r>
              <a:rPr dirty="0" sz="1100" spc="-11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통과</a:t>
            </a:r>
            <a:r>
              <a:rPr dirty="0" sz="110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후</a:t>
            </a:r>
            <a:r>
              <a:rPr dirty="0" sz="110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BABABA"/>
                </a:solidFill>
                <a:latin typeface="맑은 고딕"/>
                <a:cs typeface="맑은 고딕"/>
              </a:rPr>
              <a:t>잔여</a:t>
            </a:r>
            <a:r>
              <a:rPr dirty="0" sz="110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00" spc="-170" b="1">
                <a:solidFill>
                  <a:srgbClr val="BABABA"/>
                </a:solidFill>
                <a:latin typeface="맑은 고딕"/>
                <a:cs typeface="맑은 고딕"/>
              </a:rPr>
              <a:t>오류율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1003705" y="4428997"/>
            <a:ext cx="572770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285" b="1">
                <a:solidFill>
                  <a:srgbClr val="79DF79"/>
                </a:solidFill>
                <a:latin typeface="Noto Sans KR Black"/>
                <a:cs typeface="Noto Sans KR Black"/>
              </a:rPr>
              <a:t>0%</a:t>
            </a:r>
            <a:endParaRPr sz="3050">
              <a:latin typeface="Noto Sans KR Black"/>
              <a:cs typeface="Noto Sans KR Black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0" y="6819897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 txBox="1"/>
          <p:nvPr/>
        </p:nvSpPr>
        <p:spPr>
          <a:xfrm>
            <a:off x="11646246" y="6591172"/>
            <a:ext cx="330200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z="900">
                <a:solidFill>
                  <a:srgbClr val="777777"/>
                </a:solidFill>
                <a:latin typeface="Eras Medium ITC"/>
                <a:cs typeface="Eras Medium ITC"/>
              </a:rPr>
              <a:t>1</a:t>
            </a:fld>
            <a:r>
              <a:rPr dirty="0" sz="900" spc="-35">
                <a:solidFill>
                  <a:srgbClr val="777777"/>
                </a:solidFill>
                <a:latin typeface="Eras Medium ITC"/>
                <a:cs typeface="Eras Medium ITC"/>
              </a:rPr>
              <a:t> </a:t>
            </a:r>
            <a:r>
              <a:rPr dirty="0" sz="900">
                <a:solidFill>
                  <a:srgbClr val="777777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777777"/>
                </a:solidFill>
                <a:latin typeface="Eras Medium ITC"/>
                <a:cs typeface="Eras Medium ITC"/>
              </a:rPr>
              <a:t>18</a:t>
            </a:r>
            <a:endParaRPr sz="90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7"/>
            <a:ext cx="1676400" cy="200025"/>
          </a:xfrm>
          <a:custGeom>
            <a:avLst/>
            <a:gdLst/>
            <a:ahLst/>
            <a:cxnLst/>
            <a:rect l="l" t="t" r="r" b="b"/>
            <a:pathLst>
              <a:path w="1676400" h="200025">
                <a:moveTo>
                  <a:pt x="1643352" y="200020"/>
                </a:moveTo>
                <a:lnTo>
                  <a:pt x="33047" y="200020"/>
                </a:lnTo>
                <a:lnTo>
                  <a:pt x="28187" y="199052"/>
                </a:lnTo>
                <a:lnTo>
                  <a:pt x="966" y="171827"/>
                </a:lnTo>
                <a:lnTo>
                  <a:pt x="0" y="166971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7"/>
                </a:lnTo>
                <a:lnTo>
                  <a:pt x="33047" y="0"/>
                </a:lnTo>
                <a:lnTo>
                  <a:pt x="1643352" y="0"/>
                </a:lnTo>
                <a:lnTo>
                  <a:pt x="1675432" y="28184"/>
                </a:lnTo>
                <a:lnTo>
                  <a:pt x="1676399" y="33044"/>
                </a:lnTo>
                <a:lnTo>
                  <a:pt x="1676399" y="166971"/>
                </a:lnTo>
                <a:lnTo>
                  <a:pt x="1648212" y="199052"/>
                </a:lnTo>
                <a:lnTo>
                  <a:pt x="1643352" y="200020"/>
                </a:lnTo>
                <a:close/>
              </a:path>
            </a:pathLst>
          </a:custGeom>
          <a:solidFill>
            <a:srgbClr val="2D6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6482"/>
            <a:ext cx="1507490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L1</a:t>
            </a:r>
            <a:r>
              <a:rPr dirty="0" sz="850" spc="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+</a:t>
            </a:r>
            <a:r>
              <a:rPr dirty="0" sz="850" spc="8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L0</a:t>
            </a:r>
            <a:r>
              <a:rPr dirty="0" sz="850" spc="8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spc="-185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8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안전</a:t>
            </a:r>
            <a:r>
              <a:rPr dirty="0" sz="850" spc="1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30" b="1">
                <a:solidFill>
                  <a:srgbClr val="FFFFFF"/>
                </a:solidFill>
                <a:latin typeface="맑은 고딕"/>
                <a:cs typeface="맑은 고딕"/>
              </a:rPr>
              <a:t>에이전트</a:t>
            </a:r>
            <a:r>
              <a:rPr dirty="0" sz="850" spc="1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b="1">
                <a:solidFill>
                  <a:srgbClr val="FFFFFF"/>
                </a:solidFill>
                <a:latin typeface="Noto Sans KR"/>
                <a:cs typeface="Noto Sans KR"/>
              </a:rPr>
              <a:t>&amp;</a:t>
            </a:r>
            <a:r>
              <a:rPr dirty="0" sz="850" spc="8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850" spc="-25" b="1">
                <a:solidFill>
                  <a:srgbClr val="FFFFFF"/>
                </a:solidFill>
                <a:latin typeface="Noto Sans KR"/>
                <a:cs typeface="Noto Sans KR"/>
              </a:rPr>
              <a:t>DRL</a:t>
            </a:r>
            <a:endParaRPr sz="850">
              <a:latin typeface="Noto Sans KR"/>
              <a:cs typeface="Noto Sans KR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2600" y="574192"/>
            <a:ext cx="1039494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85" b="1">
                <a:solidFill>
                  <a:srgbClr val="2D6A2D"/>
                </a:solidFill>
                <a:latin typeface="Noto Sans KR"/>
                <a:cs typeface="Noto Sans KR"/>
              </a:rPr>
              <a:t>L1</a:t>
            </a:r>
            <a:r>
              <a:rPr dirty="0" sz="1350" spc="-85" b="1">
                <a:solidFill>
                  <a:srgbClr val="2D6A2D"/>
                </a:solidFill>
                <a:latin typeface="Arial"/>
                <a:cs typeface="Arial"/>
              </a:rPr>
              <a:t>:</a:t>
            </a:r>
            <a:r>
              <a:rPr dirty="0" sz="1350" spc="-25" b="1">
                <a:solidFill>
                  <a:srgbClr val="2D6A2D"/>
                </a:solidFill>
                <a:latin typeface="Arial"/>
                <a:cs typeface="Arial"/>
              </a:rPr>
              <a:t> </a:t>
            </a:r>
            <a:r>
              <a:rPr dirty="0" sz="1350" spc="-260" b="1">
                <a:solidFill>
                  <a:srgbClr val="2D6A2D"/>
                </a:solidFill>
                <a:latin typeface="맑은 고딕"/>
                <a:cs typeface="맑은 고딕"/>
              </a:rPr>
              <a:t>액션</a:t>
            </a:r>
            <a:r>
              <a:rPr dirty="0" sz="1350" spc="-120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2D6A2D"/>
                </a:solidFill>
                <a:latin typeface="맑은 고딕"/>
                <a:cs typeface="맑은 고딕"/>
              </a:rPr>
              <a:t>마스킹</a:t>
            </a:r>
            <a:endParaRPr sz="1350">
              <a:latin typeface="맑은 고딕"/>
              <a:cs typeface="맑은 고딕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62022"/>
            <a:ext cx="5514975" cy="1219200"/>
            <a:chOff x="495299" y="962022"/>
            <a:chExt cx="5514975" cy="1219200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66789"/>
              <a:ext cx="5505450" cy="1209675"/>
            </a:xfrm>
            <a:custGeom>
              <a:avLst/>
              <a:gdLst/>
              <a:ahLst/>
              <a:cxnLst/>
              <a:rect l="l" t="t" r="r" b="b"/>
              <a:pathLst>
                <a:path w="5505450" h="1209675">
                  <a:moveTo>
                    <a:pt x="5438703" y="1209665"/>
                  </a:moveTo>
                  <a:lnTo>
                    <a:pt x="66746" y="1209665"/>
                  </a:lnTo>
                  <a:lnTo>
                    <a:pt x="62101" y="1209205"/>
                  </a:lnTo>
                  <a:lnTo>
                    <a:pt x="24240" y="1192057"/>
                  </a:lnTo>
                  <a:lnTo>
                    <a:pt x="2287" y="1156766"/>
                  </a:lnTo>
                  <a:lnTo>
                    <a:pt x="0" y="1142920"/>
                  </a:lnTo>
                  <a:lnTo>
                    <a:pt x="0" y="1138232"/>
                  </a:lnTo>
                  <a:lnTo>
                    <a:pt x="0" y="66739"/>
                  </a:lnTo>
                  <a:lnTo>
                    <a:pt x="14645" y="27835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5438703" y="0"/>
                  </a:lnTo>
                  <a:lnTo>
                    <a:pt x="5477600" y="14631"/>
                  </a:lnTo>
                  <a:lnTo>
                    <a:pt x="5501806" y="48420"/>
                  </a:lnTo>
                  <a:lnTo>
                    <a:pt x="5505448" y="66739"/>
                  </a:lnTo>
                  <a:lnTo>
                    <a:pt x="5505448" y="1142920"/>
                  </a:lnTo>
                  <a:lnTo>
                    <a:pt x="5490803" y="1181816"/>
                  </a:lnTo>
                  <a:lnTo>
                    <a:pt x="5457016" y="1206019"/>
                  </a:lnTo>
                  <a:lnTo>
                    <a:pt x="5443348" y="1209205"/>
                  </a:lnTo>
                  <a:lnTo>
                    <a:pt x="5438703" y="1209665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66785"/>
              <a:ext cx="5505450" cy="1209675"/>
            </a:xfrm>
            <a:custGeom>
              <a:avLst/>
              <a:gdLst/>
              <a:ahLst/>
              <a:cxnLst/>
              <a:rect l="l" t="t" r="r" b="b"/>
              <a:pathLst>
                <a:path w="5505450" h="1209675">
                  <a:moveTo>
                    <a:pt x="0" y="11382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27848" y="14636"/>
                  </a:lnTo>
                  <a:lnTo>
                    <a:pt x="31748" y="12031"/>
                  </a:lnTo>
                  <a:lnTo>
                    <a:pt x="35648" y="9423"/>
                  </a:lnTo>
                  <a:lnTo>
                    <a:pt x="39765" y="7222"/>
                  </a:lnTo>
                  <a:lnTo>
                    <a:pt x="44099" y="5432"/>
                  </a:lnTo>
                  <a:lnTo>
                    <a:pt x="48433" y="3641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61349" y="5432"/>
                  </a:lnTo>
                  <a:lnTo>
                    <a:pt x="5465683" y="7222"/>
                  </a:lnTo>
                  <a:lnTo>
                    <a:pt x="5469800" y="9423"/>
                  </a:lnTo>
                  <a:lnTo>
                    <a:pt x="5473700" y="12031"/>
                  </a:lnTo>
                  <a:lnTo>
                    <a:pt x="5477600" y="14636"/>
                  </a:lnTo>
                  <a:lnTo>
                    <a:pt x="5481209" y="17599"/>
                  </a:lnTo>
                  <a:lnTo>
                    <a:pt x="5484525" y="20919"/>
                  </a:lnTo>
                  <a:lnTo>
                    <a:pt x="5487842" y="24235"/>
                  </a:lnTo>
                  <a:lnTo>
                    <a:pt x="5500010" y="44090"/>
                  </a:lnTo>
                  <a:lnTo>
                    <a:pt x="5501806" y="48425"/>
                  </a:lnTo>
                  <a:lnTo>
                    <a:pt x="5505449" y="71437"/>
                  </a:lnTo>
                  <a:lnTo>
                    <a:pt x="5505449" y="1138237"/>
                  </a:lnTo>
                  <a:lnTo>
                    <a:pt x="5505448" y="1142925"/>
                  </a:lnTo>
                  <a:lnTo>
                    <a:pt x="5504991" y="1147571"/>
                  </a:lnTo>
                  <a:lnTo>
                    <a:pt x="5504076" y="1152171"/>
                  </a:lnTo>
                  <a:lnTo>
                    <a:pt x="5503161" y="1156771"/>
                  </a:lnTo>
                  <a:lnTo>
                    <a:pt x="5493409" y="1177918"/>
                  </a:lnTo>
                  <a:lnTo>
                    <a:pt x="5490803" y="1181820"/>
                  </a:lnTo>
                  <a:lnTo>
                    <a:pt x="5487842" y="1185429"/>
                  </a:lnTo>
                  <a:lnTo>
                    <a:pt x="5484525" y="1188745"/>
                  </a:lnTo>
                  <a:lnTo>
                    <a:pt x="5481209" y="1192062"/>
                  </a:lnTo>
                  <a:lnTo>
                    <a:pt x="5477600" y="1195019"/>
                  </a:lnTo>
                  <a:lnTo>
                    <a:pt x="5473700" y="1197624"/>
                  </a:lnTo>
                  <a:lnTo>
                    <a:pt x="5469800" y="1200233"/>
                  </a:lnTo>
                  <a:lnTo>
                    <a:pt x="5465683" y="1202437"/>
                  </a:lnTo>
                  <a:lnTo>
                    <a:pt x="5461349" y="1204228"/>
                  </a:lnTo>
                  <a:lnTo>
                    <a:pt x="5457016" y="1206023"/>
                  </a:lnTo>
                  <a:lnTo>
                    <a:pt x="5434012" y="1209674"/>
                  </a:lnTo>
                  <a:lnTo>
                    <a:pt x="71437" y="1209674"/>
                  </a:lnTo>
                  <a:lnTo>
                    <a:pt x="44099" y="1204228"/>
                  </a:lnTo>
                  <a:lnTo>
                    <a:pt x="39765" y="1202437"/>
                  </a:lnTo>
                  <a:lnTo>
                    <a:pt x="35648" y="1200233"/>
                  </a:lnTo>
                  <a:lnTo>
                    <a:pt x="31748" y="1197624"/>
                  </a:lnTo>
                  <a:lnTo>
                    <a:pt x="27848" y="1195019"/>
                  </a:lnTo>
                  <a:lnTo>
                    <a:pt x="24240" y="1192062"/>
                  </a:lnTo>
                  <a:lnTo>
                    <a:pt x="20923" y="1188745"/>
                  </a:lnTo>
                  <a:lnTo>
                    <a:pt x="17606" y="1185429"/>
                  </a:lnTo>
                  <a:lnTo>
                    <a:pt x="1372" y="1152171"/>
                  </a:lnTo>
                  <a:lnTo>
                    <a:pt x="457" y="1147571"/>
                  </a:lnTo>
                  <a:lnTo>
                    <a:pt x="0" y="1142925"/>
                  </a:lnTo>
                  <a:lnTo>
                    <a:pt x="0" y="1138237"/>
                  </a:lnTo>
                  <a:close/>
                </a:path>
              </a:pathLst>
            </a:custGeom>
            <a:ln w="9524">
              <a:solidFill>
                <a:srgbClr val="B8D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3412" y="1328735"/>
              <a:ext cx="5238750" cy="457200"/>
            </a:xfrm>
            <a:custGeom>
              <a:avLst/>
              <a:gdLst/>
              <a:ahLst/>
              <a:cxnLst/>
              <a:rect l="l" t="t" r="r" b="b"/>
              <a:pathLst>
                <a:path w="5238750" h="457200">
                  <a:moveTo>
                    <a:pt x="5201571" y="457195"/>
                  </a:moveTo>
                  <a:lnTo>
                    <a:pt x="37178" y="457195"/>
                  </a:lnTo>
                  <a:lnTo>
                    <a:pt x="31710" y="456107"/>
                  </a:lnTo>
                  <a:lnTo>
                    <a:pt x="1087" y="425480"/>
                  </a:lnTo>
                  <a:lnTo>
                    <a:pt x="0" y="420016"/>
                  </a:lnTo>
                  <a:lnTo>
                    <a:pt x="0" y="414337"/>
                  </a:lnTo>
                  <a:lnTo>
                    <a:pt x="0" y="37174"/>
                  </a:lnTo>
                  <a:lnTo>
                    <a:pt x="21208" y="5432"/>
                  </a:lnTo>
                  <a:lnTo>
                    <a:pt x="37178" y="0"/>
                  </a:lnTo>
                  <a:lnTo>
                    <a:pt x="5201571" y="0"/>
                  </a:lnTo>
                  <a:lnTo>
                    <a:pt x="5233311" y="21198"/>
                  </a:lnTo>
                  <a:lnTo>
                    <a:pt x="5238749" y="37174"/>
                  </a:lnTo>
                  <a:lnTo>
                    <a:pt x="5238749" y="420016"/>
                  </a:lnTo>
                  <a:lnTo>
                    <a:pt x="5217540" y="451753"/>
                  </a:lnTo>
                  <a:lnTo>
                    <a:pt x="5207038" y="456107"/>
                  </a:lnTo>
                  <a:lnTo>
                    <a:pt x="5201571" y="457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3412" y="1328735"/>
              <a:ext cx="5238750" cy="457200"/>
            </a:xfrm>
            <a:custGeom>
              <a:avLst/>
              <a:gdLst/>
              <a:ahLst/>
              <a:cxnLst/>
              <a:rect l="l" t="t" r="r" b="b"/>
              <a:pathLst>
                <a:path w="5238750" h="457200">
                  <a:moveTo>
                    <a:pt x="0" y="414337"/>
                  </a:moveTo>
                  <a:lnTo>
                    <a:pt x="0" y="42862"/>
                  </a:lnTo>
                  <a:lnTo>
                    <a:pt x="0" y="37174"/>
                  </a:lnTo>
                  <a:lnTo>
                    <a:pt x="1087" y="31704"/>
                  </a:lnTo>
                  <a:lnTo>
                    <a:pt x="3262" y="26453"/>
                  </a:lnTo>
                  <a:lnTo>
                    <a:pt x="5437" y="21198"/>
                  </a:lnTo>
                  <a:lnTo>
                    <a:pt x="8535" y="16566"/>
                  </a:lnTo>
                  <a:lnTo>
                    <a:pt x="12554" y="12552"/>
                  </a:lnTo>
                  <a:lnTo>
                    <a:pt x="16573" y="8529"/>
                  </a:lnTo>
                  <a:lnTo>
                    <a:pt x="21208" y="5432"/>
                  </a:lnTo>
                  <a:lnTo>
                    <a:pt x="26459" y="3255"/>
                  </a:lnTo>
                  <a:lnTo>
                    <a:pt x="31710" y="1083"/>
                  </a:lnTo>
                  <a:lnTo>
                    <a:pt x="37178" y="0"/>
                  </a:lnTo>
                  <a:lnTo>
                    <a:pt x="42862" y="0"/>
                  </a:lnTo>
                  <a:lnTo>
                    <a:pt x="5195887" y="0"/>
                  </a:lnTo>
                  <a:lnTo>
                    <a:pt x="5201571" y="0"/>
                  </a:lnTo>
                  <a:lnTo>
                    <a:pt x="5207038" y="1088"/>
                  </a:lnTo>
                  <a:lnTo>
                    <a:pt x="5212289" y="3260"/>
                  </a:lnTo>
                  <a:lnTo>
                    <a:pt x="5217540" y="5432"/>
                  </a:lnTo>
                  <a:lnTo>
                    <a:pt x="5222176" y="8529"/>
                  </a:lnTo>
                  <a:lnTo>
                    <a:pt x="5226195" y="12552"/>
                  </a:lnTo>
                  <a:lnTo>
                    <a:pt x="5230214" y="16566"/>
                  </a:lnTo>
                  <a:lnTo>
                    <a:pt x="5233311" y="21198"/>
                  </a:lnTo>
                  <a:lnTo>
                    <a:pt x="5235487" y="26453"/>
                  </a:lnTo>
                  <a:lnTo>
                    <a:pt x="5237661" y="31704"/>
                  </a:lnTo>
                  <a:lnTo>
                    <a:pt x="5238749" y="37174"/>
                  </a:lnTo>
                  <a:lnTo>
                    <a:pt x="5238749" y="42862"/>
                  </a:lnTo>
                  <a:lnTo>
                    <a:pt x="5238749" y="414337"/>
                  </a:lnTo>
                  <a:lnTo>
                    <a:pt x="5238749" y="420016"/>
                  </a:lnTo>
                  <a:lnTo>
                    <a:pt x="5237661" y="425480"/>
                  </a:lnTo>
                  <a:lnTo>
                    <a:pt x="5212289" y="453930"/>
                  </a:lnTo>
                  <a:lnTo>
                    <a:pt x="5207038" y="456107"/>
                  </a:lnTo>
                  <a:lnTo>
                    <a:pt x="5201571" y="457195"/>
                  </a:lnTo>
                  <a:lnTo>
                    <a:pt x="5195887" y="457199"/>
                  </a:lnTo>
                  <a:lnTo>
                    <a:pt x="42862" y="457199"/>
                  </a:lnTo>
                  <a:lnTo>
                    <a:pt x="37178" y="457195"/>
                  </a:lnTo>
                  <a:lnTo>
                    <a:pt x="31710" y="456107"/>
                  </a:lnTo>
                  <a:lnTo>
                    <a:pt x="26459" y="453930"/>
                  </a:lnTo>
                  <a:lnTo>
                    <a:pt x="21208" y="451753"/>
                  </a:lnTo>
                  <a:lnTo>
                    <a:pt x="0" y="420016"/>
                  </a:lnTo>
                  <a:lnTo>
                    <a:pt x="0" y="41433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15949" y="1065339"/>
            <a:ext cx="111887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안전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행동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집합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1A1A1A"/>
                </a:solidFill>
                <a:latin typeface="맑은 고딕"/>
                <a:cs typeface="맑은 고딕"/>
              </a:rPr>
              <a:t>수식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12516" y="1423593"/>
            <a:ext cx="148082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200" spc="-50">
                <a:latin typeface="Cambria Math"/>
                <a:cs typeface="Cambria Math"/>
              </a:rPr>
              <a:t>𝒜</a:t>
            </a:r>
            <a:r>
              <a:rPr dirty="0" baseline="-15151" sz="1650" spc="-75">
                <a:latin typeface="Noto Sans KR"/>
                <a:cs typeface="Noto Sans KR"/>
              </a:rPr>
              <a:t>safe</a:t>
            </a:r>
            <a:r>
              <a:rPr dirty="0" sz="1350" spc="-50">
                <a:latin typeface="Arial"/>
                <a:cs typeface="Arial"/>
              </a:rPr>
              <a:t>(</a:t>
            </a:r>
            <a:r>
              <a:rPr dirty="0" sz="1350" spc="-50">
                <a:latin typeface="Noto Sans KR"/>
                <a:cs typeface="Noto Sans KR"/>
              </a:rPr>
              <a:t>s</a:t>
            </a:r>
            <a:r>
              <a:rPr dirty="0" sz="1350" spc="-50">
                <a:latin typeface="Arial"/>
                <a:cs typeface="Arial"/>
              </a:rPr>
              <a:t>)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Noto Sans KR"/>
                <a:cs typeface="Noto Sans KR"/>
              </a:rPr>
              <a:t>=</a:t>
            </a:r>
            <a:r>
              <a:rPr dirty="0" sz="1350" spc="-30">
                <a:latin typeface="Noto Sans KR"/>
                <a:cs typeface="Noto Sans KR"/>
              </a:rPr>
              <a:t> </a:t>
            </a:r>
            <a:r>
              <a:rPr dirty="0" sz="1200">
                <a:latin typeface="Cambria Math"/>
                <a:cs typeface="Cambria Math"/>
              </a:rPr>
              <a:t>𝒜</a:t>
            </a:r>
            <a:r>
              <a:rPr dirty="0" sz="1200" spc="15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∖</a:t>
            </a:r>
            <a:r>
              <a:rPr dirty="0" sz="1200" spc="50">
                <a:latin typeface="Cambria Math"/>
                <a:cs typeface="Cambria Math"/>
              </a:rPr>
              <a:t> </a:t>
            </a:r>
            <a:r>
              <a:rPr dirty="0" sz="1200">
                <a:latin typeface="Cambria Math"/>
                <a:cs typeface="Cambria Math"/>
              </a:rPr>
              <a:t>⋃</a:t>
            </a:r>
            <a:r>
              <a:rPr dirty="0" baseline="-15151" sz="1650">
                <a:latin typeface="Noto Sans KR"/>
                <a:cs typeface="Noto Sans KR"/>
              </a:rPr>
              <a:t>k</a:t>
            </a:r>
            <a:r>
              <a:rPr dirty="0" baseline="-15151" sz="1650" spc="75">
                <a:latin typeface="Noto Sans KR"/>
                <a:cs typeface="Noto Sans KR"/>
              </a:rPr>
              <a:t> </a:t>
            </a:r>
            <a:r>
              <a:rPr dirty="0" sz="1350" spc="-25">
                <a:latin typeface="Noto Sans KR"/>
                <a:cs typeface="Noto Sans KR"/>
              </a:rPr>
              <a:t>F</a:t>
            </a:r>
            <a:r>
              <a:rPr dirty="0" baseline="-15151" sz="1650" spc="-37">
                <a:latin typeface="Noto Sans KR"/>
                <a:cs typeface="Noto Sans KR"/>
              </a:rPr>
              <a:t>k</a:t>
            </a:r>
            <a:endParaRPr baseline="-15151" sz="1650">
              <a:latin typeface="Noto Sans KR"/>
              <a:cs typeface="Noto Sans KR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5949" y="1857152"/>
            <a:ext cx="26606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활성화된</a:t>
            </a:r>
            <a:r>
              <a:rPr dirty="0" sz="1100" spc="-18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모든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룰의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금지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10">
                <a:solidFill>
                  <a:srgbClr val="444444"/>
                </a:solidFill>
                <a:latin typeface="휴먼아미체"/>
                <a:cs typeface="휴먼아미체"/>
              </a:rPr>
              <a:t>행동을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전체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25">
                <a:solidFill>
                  <a:srgbClr val="444444"/>
                </a:solidFill>
                <a:latin typeface="휴먼아미체"/>
                <a:cs typeface="휴먼아미체"/>
              </a:rPr>
              <a:t>집합에서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제거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95299" y="2276472"/>
            <a:ext cx="5514975" cy="4333875"/>
            <a:chOff x="495299" y="2276472"/>
            <a:chExt cx="5514975" cy="4333875"/>
          </a:xfrm>
        </p:grpSpPr>
        <p:sp>
          <p:nvSpPr>
            <p:cNvPr id="14" name="object 14" descr=""/>
            <p:cNvSpPr/>
            <p:nvPr/>
          </p:nvSpPr>
          <p:spPr>
            <a:xfrm>
              <a:off x="500062" y="2281234"/>
              <a:ext cx="5505450" cy="4324350"/>
            </a:xfrm>
            <a:custGeom>
              <a:avLst/>
              <a:gdLst/>
              <a:ahLst/>
              <a:cxnLst/>
              <a:rect l="l" t="t" r="r" b="b"/>
              <a:pathLst>
                <a:path w="5505450" h="4324350">
                  <a:moveTo>
                    <a:pt x="5438703" y="4324344"/>
                  </a:moveTo>
                  <a:lnTo>
                    <a:pt x="66746" y="4324344"/>
                  </a:lnTo>
                  <a:lnTo>
                    <a:pt x="62101" y="4323884"/>
                  </a:lnTo>
                  <a:lnTo>
                    <a:pt x="24240" y="4306732"/>
                  </a:lnTo>
                  <a:lnTo>
                    <a:pt x="2287" y="4271441"/>
                  </a:lnTo>
                  <a:lnTo>
                    <a:pt x="0" y="4257600"/>
                  </a:lnTo>
                  <a:lnTo>
                    <a:pt x="0" y="4252912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5438703" y="0"/>
                  </a:lnTo>
                  <a:lnTo>
                    <a:pt x="5477600" y="14640"/>
                  </a:lnTo>
                  <a:lnTo>
                    <a:pt x="5501806" y="48425"/>
                  </a:lnTo>
                  <a:lnTo>
                    <a:pt x="5505448" y="66744"/>
                  </a:lnTo>
                  <a:lnTo>
                    <a:pt x="5505448" y="4257600"/>
                  </a:lnTo>
                  <a:lnTo>
                    <a:pt x="5490803" y="4296490"/>
                  </a:lnTo>
                  <a:lnTo>
                    <a:pt x="5457016" y="4320698"/>
                  </a:lnTo>
                  <a:lnTo>
                    <a:pt x="5443348" y="4323889"/>
                  </a:lnTo>
                  <a:lnTo>
                    <a:pt x="5438703" y="4324344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0062" y="2281234"/>
              <a:ext cx="5505450" cy="4324350"/>
            </a:xfrm>
            <a:custGeom>
              <a:avLst/>
              <a:gdLst/>
              <a:ahLst/>
              <a:cxnLst/>
              <a:rect l="l" t="t" r="r" b="b"/>
              <a:pathLst>
                <a:path w="5505450" h="4324350">
                  <a:moveTo>
                    <a:pt x="0" y="42529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5"/>
                  </a:lnTo>
                  <a:lnTo>
                    <a:pt x="7232" y="39760"/>
                  </a:lnTo>
                  <a:lnTo>
                    <a:pt x="9433" y="35644"/>
                  </a:lnTo>
                  <a:lnTo>
                    <a:pt x="12039" y="31742"/>
                  </a:lnTo>
                  <a:lnTo>
                    <a:pt x="14645" y="27840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44099" y="5436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38703" y="0"/>
                  </a:lnTo>
                  <a:lnTo>
                    <a:pt x="5443348" y="456"/>
                  </a:lnTo>
                  <a:lnTo>
                    <a:pt x="5447949" y="1371"/>
                  </a:lnTo>
                  <a:lnTo>
                    <a:pt x="5452549" y="2283"/>
                  </a:lnTo>
                  <a:lnTo>
                    <a:pt x="5457016" y="3636"/>
                  </a:lnTo>
                  <a:lnTo>
                    <a:pt x="5461349" y="5436"/>
                  </a:lnTo>
                  <a:lnTo>
                    <a:pt x="5465683" y="7227"/>
                  </a:lnTo>
                  <a:lnTo>
                    <a:pt x="5484525" y="20919"/>
                  </a:lnTo>
                  <a:lnTo>
                    <a:pt x="5487842" y="24235"/>
                  </a:lnTo>
                  <a:lnTo>
                    <a:pt x="5500010" y="44095"/>
                  </a:lnTo>
                  <a:lnTo>
                    <a:pt x="5501806" y="48425"/>
                  </a:lnTo>
                  <a:lnTo>
                    <a:pt x="5503161" y="52894"/>
                  </a:lnTo>
                  <a:lnTo>
                    <a:pt x="5504076" y="57498"/>
                  </a:lnTo>
                  <a:lnTo>
                    <a:pt x="5504991" y="62098"/>
                  </a:lnTo>
                  <a:lnTo>
                    <a:pt x="5505448" y="66744"/>
                  </a:lnTo>
                  <a:lnTo>
                    <a:pt x="5505449" y="71437"/>
                  </a:lnTo>
                  <a:lnTo>
                    <a:pt x="5505449" y="4252912"/>
                  </a:lnTo>
                  <a:lnTo>
                    <a:pt x="5505448" y="4257600"/>
                  </a:lnTo>
                  <a:lnTo>
                    <a:pt x="5504991" y="4262241"/>
                  </a:lnTo>
                  <a:lnTo>
                    <a:pt x="5504076" y="4266841"/>
                  </a:lnTo>
                  <a:lnTo>
                    <a:pt x="5503161" y="4271441"/>
                  </a:lnTo>
                  <a:lnTo>
                    <a:pt x="5484525" y="4303415"/>
                  </a:lnTo>
                  <a:lnTo>
                    <a:pt x="5481209" y="4306732"/>
                  </a:lnTo>
                  <a:lnTo>
                    <a:pt x="5477600" y="4309694"/>
                  </a:lnTo>
                  <a:lnTo>
                    <a:pt x="5473700" y="4312299"/>
                  </a:lnTo>
                  <a:lnTo>
                    <a:pt x="5469800" y="4314908"/>
                  </a:lnTo>
                  <a:lnTo>
                    <a:pt x="5465683" y="4317107"/>
                  </a:lnTo>
                  <a:lnTo>
                    <a:pt x="5461349" y="4318903"/>
                  </a:lnTo>
                  <a:lnTo>
                    <a:pt x="5457016" y="4320698"/>
                  </a:lnTo>
                  <a:lnTo>
                    <a:pt x="5434012" y="4324349"/>
                  </a:lnTo>
                  <a:lnTo>
                    <a:pt x="71437" y="4324349"/>
                  </a:lnTo>
                  <a:lnTo>
                    <a:pt x="44099" y="4318903"/>
                  </a:lnTo>
                  <a:lnTo>
                    <a:pt x="39765" y="4317107"/>
                  </a:lnTo>
                  <a:lnTo>
                    <a:pt x="20923" y="4303415"/>
                  </a:lnTo>
                  <a:lnTo>
                    <a:pt x="17606" y="4300099"/>
                  </a:lnTo>
                  <a:lnTo>
                    <a:pt x="14645" y="4296490"/>
                  </a:lnTo>
                  <a:lnTo>
                    <a:pt x="12039" y="4292588"/>
                  </a:lnTo>
                  <a:lnTo>
                    <a:pt x="9433" y="4288687"/>
                  </a:lnTo>
                  <a:lnTo>
                    <a:pt x="7232" y="4284570"/>
                  </a:lnTo>
                  <a:lnTo>
                    <a:pt x="5437" y="4280236"/>
                  </a:lnTo>
                  <a:lnTo>
                    <a:pt x="3642" y="4275906"/>
                  </a:lnTo>
                  <a:lnTo>
                    <a:pt x="2287" y="4271441"/>
                  </a:lnTo>
                  <a:lnTo>
                    <a:pt x="1372" y="4266841"/>
                  </a:lnTo>
                  <a:lnTo>
                    <a:pt x="457" y="4262241"/>
                  </a:lnTo>
                  <a:lnTo>
                    <a:pt x="0" y="4257600"/>
                  </a:lnTo>
                  <a:lnTo>
                    <a:pt x="0" y="42529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5949" y="2379789"/>
            <a:ext cx="9588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스텝별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처리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1A1A1A"/>
                </a:solidFill>
                <a:latin typeface="맑은 고딕"/>
                <a:cs typeface="맑은 고딕"/>
              </a:rPr>
              <a:t>흐름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15949" y="2656014"/>
            <a:ext cx="202565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20">
                <a:solidFill>
                  <a:srgbClr val="444444"/>
                </a:solidFill>
                <a:latin typeface="휴먼아미체"/>
                <a:cs typeface="휴먼아미체"/>
              </a:rPr>
              <a:t>상태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수신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4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85">
                <a:solidFill>
                  <a:srgbClr val="444444"/>
                </a:solidFill>
                <a:latin typeface="휴먼아미체"/>
                <a:cs typeface="휴먼아미체"/>
              </a:rPr>
              <a:t>평가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4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마스크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25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endParaRPr sz="1150">
              <a:latin typeface="휴먼아미체"/>
              <a:cs typeface="휴먼아미체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15949" y="2849958"/>
            <a:ext cx="1603375" cy="518159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5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>
                <a:solidFill>
                  <a:srgbClr val="444444"/>
                </a:solidFill>
                <a:latin typeface="Noto Sans KR"/>
                <a:cs typeface="Noto Sans KR"/>
              </a:rPr>
              <a:t>L0</a:t>
            </a:r>
            <a:r>
              <a:rPr dirty="0" sz="1150">
                <a:solidFill>
                  <a:srgbClr val="444444"/>
                </a:solidFill>
                <a:latin typeface="휴먼아미체"/>
                <a:cs typeface="휴먼아미체"/>
              </a:rPr>
              <a:t>에</a:t>
            </a:r>
            <a:r>
              <a:rPr dirty="0" sz="115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허용</a:t>
            </a:r>
            <a:r>
              <a:rPr dirty="0" sz="115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5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85">
                <a:solidFill>
                  <a:srgbClr val="444444"/>
                </a:solidFill>
                <a:latin typeface="휴먼아미체"/>
                <a:cs typeface="휴먼아미체"/>
              </a:rPr>
              <a:t>집합</a:t>
            </a:r>
            <a:r>
              <a:rPr dirty="0" sz="115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60">
                <a:solidFill>
                  <a:srgbClr val="444444"/>
                </a:solidFill>
                <a:latin typeface="휴먼아미체"/>
                <a:cs typeface="휴먼아미체"/>
              </a:rPr>
              <a:t>전달</a:t>
            </a:r>
            <a:endParaRPr sz="115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5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 spc="-190" b="1">
                <a:solidFill>
                  <a:srgbClr val="2D6A2D"/>
                </a:solidFill>
                <a:latin typeface="맑은 고딕"/>
                <a:cs typeface="맑은 고딕"/>
              </a:rPr>
              <a:t>실시간</a:t>
            </a:r>
            <a:r>
              <a:rPr dirty="0" sz="115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2D6A2D"/>
                </a:solidFill>
                <a:latin typeface="맑은 고딕"/>
                <a:cs typeface="맑은 고딕"/>
              </a:rPr>
              <a:t>개입</a:t>
            </a:r>
            <a:r>
              <a:rPr dirty="0" sz="115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2D6A2D"/>
                </a:solidFill>
                <a:latin typeface="맑은 고딕"/>
                <a:cs typeface="맑은 고딕"/>
              </a:rPr>
              <a:t>비율</a:t>
            </a:r>
            <a:r>
              <a:rPr dirty="0" sz="115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200" spc="-20" b="1">
                <a:solidFill>
                  <a:srgbClr val="2D6A2D"/>
                </a:solidFill>
                <a:latin typeface="Arial"/>
                <a:cs typeface="Arial"/>
              </a:rPr>
              <a:t>~</a:t>
            </a:r>
            <a:r>
              <a:rPr dirty="0" sz="1150" spc="-20" b="1">
                <a:solidFill>
                  <a:srgbClr val="2D6A2D"/>
                </a:solidFill>
                <a:latin typeface="Noto Sans KR"/>
                <a:cs typeface="Noto Sans KR"/>
              </a:rPr>
              <a:t>2</a:t>
            </a:r>
            <a:r>
              <a:rPr dirty="0" sz="1200" spc="-20" b="1">
                <a:solidFill>
                  <a:srgbClr val="2D6A2D"/>
                </a:solidFill>
                <a:latin typeface="Arial"/>
                <a:cs typeface="Arial"/>
              </a:rPr>
              <a:t>–</a:t>
            </a:r>
            <a:r>
              <a:rPr dirty="0" sz="1150" spc="-20" b="1">
                <a:solidFill>
                  <a:srgbClr val="2D6A2D"/>
                </a:solidFill>
                <a:latin typeface="Noto Sans KR"/>
                <a:cs typeface="Noto Sans KR"/>
              </a:rPr>
              <a:t>4%</a:t>
            </a:r>
            <a:endParaRPr sz="1150">
              <a:latin typeface="Noto Sans KR"/>
              <a:cs typeface="Noto Sans KR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69024" y="574192"/>
            <a:ext cx="1337945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-85" b="1">
                <a:solidFill>
                  <a:srgbClr val="DF592A"/>
                </a:solidFill>
                <a:latin typeface="Noto Sans KR"/>
                <a:cs typeface="Noto Sans KR"/>
              </a:rPr>
              <a:t>L0</a:t>
            </a:r>
            <a:r>
              <a:rPr dirty="0" sz="1350" spc="-85" b="1">
                <a:solidFill>
                  <a:srgbClr val="DF592A"/>
                </a:solidFill>
                <a:latin typeface="Arial"/>
                <a:cs typeface="Arial"/>
              </a:rPr>
              <a:t>:</a:t>
            </a:r>
            <a:r>
              <a:rPr dirty="0" sz="1350" spc="-10" b="1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350" spc="-100" b="1">
                <a:solidFill>
                  <a:srgbClr val="DF592A"/>
                </a:solidFill>
                <a:latin typeface="Noto Sans KR"/>
                <a:cs typeface="Noto Sans KR"/>
              </a:rPr>
              <a:t>Rainbow</a:t>
            </a:r>
            <a:r>
              <a:rPr dirty="0" sz="1350" spc="55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350" spc="-25" b="1">
                <a:solidFill>
                  <a:srgbClr val="DF592A"/>
                </a:solidFill>
                <a:latin typeface="Noto Sans KR"/>
                <a:cs typeface="Noto Sans KR"/>
              </a:rPr>
              <a:t>DQN</a:t>
            </a:r>
            <a:endParaRPr sz="1350">
              <a:latin typeface="Noto Sans KR"/>
              <a:cs typeface="Noto Sans KR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181724" y="962022"/>
            <a:ext cx="5514975" cy="1247775"/>
            <a:chOff x="6181724" y="962022"/>
            <a:chExt cx="5514975" cy="1247775"/>
          </a:xfrm>
        </p:grpSpPr>
        <p:sp>
          <p:nvSpPr>
            <p:cNvPr id="21" name="object 21" descr=""/>
            <p:cNvSpPr/>
            <p:nvPr/>
          </p:nvSpPr>
          <p:spPr>
            <a:xfrm>
              <a:off x="6186487" y="966789"/>
              <a:ext cx="5505450" cy="1238250"/>
            </a:xfrm>
            <a:custGeom>
              <a:avLst/>
              <a:gdLst/>
              <a:ahLst/>
              <a:cxnLst/>
              <a:rect l="l" t="t" r="r" b="b"/>
              <a:pathLst>
                <a:path w="5505450" h="1238250">
                  <a:moveTo>
                    <a:pt x="5438701" y="1238240"/>
                  </a:moveTo>
                  <a:lnTo>
                    <a:pt x="66746" y="1238240"/>
                  </a:lnTo>
                  <a:lnTo>
                    <a:pt x="62100" y="1237775"/>
                  </a:lnTo>
                  <a:lnTo>
                    <a:pt x="24239" y="1220632"/>
                  </a:lnTo>
                  <a:lnTo>
                    <a:pt x="2287" y="1185341"/>
                  </a:lnTo>
                  <a:lnTo>
                    <a:pt x="0" y="1171495"/>
                  </a:lnTo>
                  <a:lnTo>
                    <a:pt x="0" y="1166807"/>
                  </a:lnTo>
                  <a:lnTo>
                    <a:pt x="0" y="66739"/>
                  </a:lnTo>
                  <a:lnTo>
                    <a:pt x="14644" y="27835"/>
                  </a:lnTo>
                  <a:lnTo>
                    <a:pt x="48432" y="3636"/>
                  </a:lnTo>
                  <a:lnTo>
                    <a:pt x="66746" y="0"/>
                  </a:lnTo>
                  <a:lnTo>
                    <a:pt x="5438701" y="0"/>
                  </a:lnTo>
                  <a:lnTo>
                    <a:pt x="5477598" y="14631"/>
                  </a:lnTo>
                  <a:lnTo>
                    <a:pt x="5501805" y="48420"/>
                  </a:lnTo>
                  <a:lnTo>
                    <a:pt x="5505448" y="66739"/>
                  </a:lnTo>
                  <a:lnTo>
                    <a:pt x="5505448" y="1171495"/>
                  </a:lnTo>
                  <a:lnTo>
                    <a:pt x="5490803" y="1210391"/>
                  </a:lnTo>
                  <a:lnTo>
                    <a:pt x="5457015" y="1234594"/>
                  </a:lnTo>
                  <a:lnTo>
                    <a:pt x="5443346" y="1237780"/>
                  </a:lnTo>
                  <a:lnTo>
                    <a:pt x="5438701" y="1238240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86487" y="966785"/>
              <a:ext cx="5505450" cy="1238250"/>
            </a:xfrm>
            <a:custGeom>
              <a:avLst/>
              <a:gdLst/>
              <a:ahLst/>
              <a:cxnLst/>
              <a:rect l="l" t="t" r="r" b="b"/>
              <a:pathLst>
                <a:path w="5505450" h="1238250">
                  <a:moveTo>
                    <a:pt x="0" y="116681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7605" y="24235"/>
                  </a:lnTo>
                  <a:lnTo>
                    <a:pt x="20923" y="20919"/>
                  </a:lnTo>
                  <a:lnTo>
                    <a:pt x="24239" y="17599"/>
                  </a:lnTo>
                  <a:lnTo>
                    <a:pt x="27848" y="14636"/>
                  </a:lnTo>
                  <a:lnTo>
                    <a:pt x="31748" y="12031"/>
                  </a:lnTo>
                  <a:lnTo>
                    <a:pt x="35648" y="9423"/>
                  </a:lnTo>
                  <a:lnTo>
                    <a:pt x="39764" y="7222"/>
                  </a:lnTo>
                  <a:lnTo>
                    <a:pt x="44099" y="5432"/>
                  </a:lnTo>
                  <a:lnTo>
                    <a:pt x="48432" y="3641"/>
                  </a:lnTo>
                  <a:lnTo>
                    <a:pt x="71437" y="0"/>
                  </a:lnTo>
                  <a:lnTo>
                    <a:pt x="5434012" y="0"/>
                  </a:lnTo>
                  <a:lnTo>
                    <a:pt x="5473699" y="12031"/>
                  </a:lnTo>
                  <a:lnTo>
                    <a:pt x="5477598" y="14636"/>
                  </a:lnTo>
                  <a:lnTo>
                    <a:pt x="5481208" y="17599"/>
                  </a:lnTo>
                  <a:lnTo>
                    <a:pt x="5484525" y="20919"/>
                  </a:lnTo>
                  <a:lnTo>
                    <a:pt x="5487842" y="24235"/>
                  </a:lnTo>
                  <a:lnTo>
                    <a:pt x="5504991" y="62098"/>
                  </a:lnTo>
                  <a:lnTo>
                    <a:pt x="5505449" y="71437"/>
                  </a:lnTo>
                  <a:lnTo>
                    <a:pt x="5505449" y="1166812"/>
                  </a:lnTo>
                  <a:lnTo>
                    <a:pt x="5505448" y="1171500"/>
                  </a:lnTo>
                  <a:lnTo>
                    <a:pt x="5504991" y="1176146"/>
                  </a:lnTo>
                  <a:lnTo>
                    <a:pt x="5504076" y="1180746"/>
                  </a:lnTo>
                  <a:lnTo>
                    <a:pt x="5503161" y="1185346"/>
                  </a:lnTo>
                  <a:lnTo>
                    <a:pt x="5501805" y="1189815"/>
                  </a:lnTo>
                  <a:lnTo>
                    <a:pt x="5500011" y="1194145"/>
                  </a:lnTo>
                  <a:lnTo>
                    <a:pt x="5498216" y="1198480"/>
                  </a:lnTo>
                  <a:lnTo>
                    <a:pt x="5496015" y="1202595"/>
                  </a:lnTo>
                  <a:lnTo>
                    <a:pt x="5493409" y="1206493"/>
                  </a:lnTo>
                  <a:lnTo>
                    <a:pt x="5490803" y="1210395"/>
                  </a:lnTo>
                  <a:lnTo>
                    <a:pt x="5487842" y="1214004"/>
                  </a:lnTo>
                  <a:lnTo>
                    <a:pt x="5484525" y="1217320"/>
                  </a:lnTo>
                  <a:lnTo>
                    <a:pt x="5481208" y="1220637"/>
                  </a:lnTo>
                  <a:lnTo>
                    <a:pt x="5477598" y="1223594"/>
                  </a:lnTo>
                  <a:lnTo>
                    <a:pt x="5473699" y="1226195"/>
                  </a:lnTo>
                  <a:lnTo>
                    <a:pt x="5469799" y="1228803"/>
                  </a:lnTo>
                  <a:lnTo>
                    <a:pt x="5434012" y="1238249"/>
                  </a:lnTo>
                  <a:lnTo>
                    <a:pt x="71437" y="1238249"/>
                  </a:lnTo>
                  <a:lnTo>
                    <a:pt x="66746" y="1238245"/>
                  </a:lnTo>
                  <a:lnTo>
                    <a:pt x="62100" y="1237780"/>
                  </a:lnTo>
                  <a:lnTo>
                    <a:pt x="57499" y="1236864"/>
                  </a:lnTo>
                  <a:lnTo>
                    <a:pt x="52899" y="1235952"/>
                  </a:lnTo>
                  <a:lnTo>
                    <a:pt x="48432" y="1234598"/>
                  </a:lnTo>
                  <a:lnTo>
                    <a:pt x="44099" y="1232803"/>
                  </a:lnTo>
                  <a:lnTo>
                    <a:pt x="39764" y="1231008"/>
                  </a:lnTo>
                  <a:lnTo>
                    <a:pt x="35648" y="1228808"/>
                  </a:lnTo>
                  <a:lnTo>
                    <a:pt x="31748" y="1226199"/>
                  </a:lnTo>
                  <a:lnTo>
                    <a:pt x="27848" y="1223594"/>
                  </a:lnTo>
                  <a:lnTo>
                    <a:pt x="24239" y="1220637"/>
                  </a:lnTo>
                  <a:lnTo>
                    <a:pt x="20923" y="1217320"/>
                  </a:lnTo>
                  <a:lnTo>
                    <a:pt x="17605" y="1214004"/>
                  </a:lnTo>
                  <a:lnTo>
                    <a:pt x="14644" y="1210395"/>
                  </a:lnTo>
                  <a:lnTo>
                    <a:pt x="12038" y="1206493"/>
                  </a:lnTo>
                  <a:lnTo>
                    <a:pt x="9432" y="1202591"/>
                  </a:lnTo>
                  <a:lnTo>
                    <a:pt x="7232" y="1198475"/>
                  </a:lnTo>
                  <a:lnTo>
                    <a:pt x="5436" y="1194140"/>
                  </a:lnTo>
                  <a:lnTo>
                    <a:pt x="3642" y="1189811"/>
                  </a:lnTo>
                  <a:lnTo>
                    <a:pt x="2287" y="1185346"/>
                  </a:lnTo>
                  <a:lnTo>
                    <a:pt x="1371" y="1180746"/>
                  </a:lnTo>
                  <a:lnTo>
                    <a:pt x="457" y="1176146"/>
                  </a:lnTo>
                  <a:lnTo>
                    <a:pt x="0" y="1171500"/>
                  </a:lnTo>
                  <a:lnTo>
                    <a:pt x="0" y="116681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19836" y="1328735"/>
              <a:ext cx="5238750" cy="485775"/>
            </a:xfrm>
            <a:custGeom>
              <a:avLst/>
              <a:gdLst/>
              <a:ahLst/>
              <a:cxnLst/>
              <a:rect l="l" t="t" r="r" b="b"/>
              <a:pathLst>
                <a:path w="5238750" h="485775">
                  <a:moveTo>
                    <a:pt x="5201571" y="485770"/>
                  </a:moveTo>
                  <a:lnTo>
                    <a:pt x="37179" y="485770"/>
                  </a:lnTo>
                  <a:lnTo>
                    <a:pt x="31710" y="484682"/>
                  </a:lnTo>
                  <a:lnTo>
                    <a:pt x="1087" y="454060"/>
                  </a:lnTo>
                  <a:lnTo>
                    <a:pt x="0" y="448591"/>
                  </a:lnTo>
                  <a:lnTo>
                    <a:pt x="0" y="442912"/>
                  </a:lnTo>
                  <a:lnTo>
                    <a:pt x="0" y="37174"/>
                  </a:lnTo>
                  <a:lnTo>
                    <a:pt x="21207" y="5432"/>
                  </a:lnTo>
                  <a:lnTo>
                    <a:pt x="37179" y="0"/>
                  </a:lnTo>
                  <a:lnTo>
                    <a:pt x="5201571" y="0"/>
                  </a:lnTo>
                  <a:lnTo>
                    <a:pt x="5233310" y="21198"/>
                  </a:lnTo>
                  <a:lnTo>
                    <a:pt x="5238749" y="37174"/>
                  </a:lnTo>
                  <a:lnTo>
                    <a:pt x="5238749" y="448591"/>
                  </a:lnTo>
                  <a:lnTo>
                    <a:pt x="5217538" y="480328"/>
                  </a:lnTo>
                  <a:lnTo>
                    <a:pt x="5207038" y="484682"/>
                  </a:lnTo>
                  <a:lnTo>
                    <a:pt x="5201571" y="4857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319836" y="1328735"/>
              <a:ext cx="5238750" cy="485775"/>
            </a:xfrm>
            <a:custGeom>
              <a:avLst/>
              <a:gdLst/>
              <a:ahLst/>
              <a:cxnLst/>
              <a:rect l="l" t="t" r="r" b="b"/>
              <a:pathLst>
                <a:path w="5238750" h="485775">
                  <a:moveTo>
                    <a:pt x="0" y="442912"/>
                  </a:moveTo>
                  <a:lnTo>
                    <a:pt x="0" y="42862"/>
                  </a:lnTo>
                  <a:lnTo>
                    <a:pt x="0" y="37174"/>
                  </a:lnTo>
                  <a:lnTo>
                    <a:pt x="1087" y="31704"/>
                  </a:lnTo>
                  <a:lnTo>
                    <a:pt x="3262" y="26453"/>
                  </a:lnTo>
                  <a:lnTo>
                    <a:pt x="5437" y="21198"/>
                  </a:lnTo>
                  <a:lnTo>
                    <a:pt x="8534" y="16566"/>
                  </a:lnTo>
                  <a:lnTo>
                    <a:pt x="12553" y="12552"/>
                  </a:lnTo>
                  <a:lnTo>
                    <a:pt x="16572" y="8529"/>
                  </a:lnTo>
                  <a:lnTo>
                    <a:pt x="21207" y="5432"/>
                  </a:lnTo>
                  <a:lnTo>
                    <a:pt x="26459" y="3255"/>
                  </a:lnTo>
                  <a:lnTo>
                    <a:pt x="31710" y="1083"/>
                  </a:lnTo>
                  <a:lnTo>
                    <a:pt x="37179" y="0"/>
                  </a:lnTo>
                  <a:lnTo>
                    <a:pt x="42863" y="0"/>
                  </a:lnTo>
                  <a:lnTo>
                    <a:pt x="5195887" y="0"/>
                  </a:lnTo>
                  <a:lnTo>
                    <a:pt x="5201571" y="0"/>
                  </a:lnTo>
                  <a:lnTo>
                    <a:pt x="5207038" y="1088"/>
                  </a:lnTo>
                  <a:lnTo>
                    <a:pt x="5212287" y="3260"/>
                  </a:lnTo>
                  <a:lnTo>
                    <a:pt x="5217538" y="5432"/>
                  </a:lnTo>
                  <a:lnTo>
                    <a:pt x="5222174" y="8529"/>
                  </a:lnTo>
                  <a:lnTo>
                    <a:pt x="5226195" y="12552"/>
                  </a:lnTo>
                  <a:lnTo>
                    <a:pt x="5230213" y="16566"/>
                  </a:lnTo>
                  <a:lnTo>
                    <a:pt x="5233310" y="21198"/>
                  </a:lnTo>
                  <a:lnTo>
                    <a:pt x="5235486" y="26453"/>
                  </a:lnTo>
                  <a:lnTo>
                    <a:pt x="5237661" y="31704"/>
                  </a:lnTo>
                  <a:lnTo>
                    <a:pt x="5238749" y="37174"/>
                  </a:lnTo>
                  <a:lnTo>
                    <a:pt x="5238750" y="42862"/>
                  </a:lnTo>
                  <a:lnTo>
                    <a:pt x="5238750" y="442912"/>
                  </a:lnTo>
                  <a:lnTo>
                    <a:pt x="5238749" y="448591"/>
                  </a:lnTo>
                  <a:lnTo>
                    <a:pt x="5237661" y="454055"/>
                  </a:lnTo>
                  <a:lnTo>
                    <a:pt x="5235486" y="459306"/>
                  </a:lnTo>
                  <a:lnTo>
                    <a:pt x="5233310" y="464558"/>
                  </a:lnTo>
                  <a:lnTo>
                    <a:pt x="5212287" y="482505"/>
                  </a:lnTo>
                  <a:lnTo>
                    <a:pt x="5207038" y="484682"/>
                  </a:lnTo>
                  <a:lnTo>
                    <a:pt x="5201571" y="485770"/>
                  </a:lnTo>
                  <a:lnTo>
                    <a:pt x="5195887" y="485774"/>
                  </a:lnTo>
                  <a:lnTo>
                    <a:pt x="42863" y="485774"/>
                  </a:lnTo>
                  <a:lnTo>
                    <a:pt x="37179" y="485770"/>
                  </a:lnTo>
                  <a:lnTo>
                    <a:pt x="31710" y="484682"/>
                  </a:lnTo>
                  <a:lnTo>
                    <a:pt x="26459" y="482505"/>
                  </a:lnTo>
                  <a:lnTo>
                    <a:pt x="21207" y="480328"/>
                  </a:lnTo>
                  <a:lnTo>
                    <a:pt x="0" y="448591"/>
                  </a:lnTo>
                  <a:lnTo>
                    <a:pt x="0" y="4429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302374" y="1065339"/>
            <a:ext cx="124206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제약된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행동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선택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55" b="1">
                <a:solidFill>
                  <a:srgbClr val="1A1A1A"/>
                </a:solidFill>
                <a:latin typeface="맑은 고딕"/>
                <a:cs typeface="맑은 고딕"/>
              </a:rPr>
              <a:t>수식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924948" y="1423593"/>
            <a:ext cx="202882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350" spc="-120">
                <a:latin typeface="Noto Sans KR"/>
                <a:cs typeface="Noto Sans KR"/>
              </a:rPr>
              <a:t>a*</a:t>
            </a:r>
            <a:r>
              <a:rPr dirty="0" sz="1350" spc="30">
                <a:latin typeface="Noto Sans KR"/>
                <a:cs typeface="Noto Sans KR"/>
              </a:rPr>
              <a:t> </a:t>
            </a:r>
            <a:r>
              <a:rPr dirty="0" sz="1350">
                <a:latin typeface="Noto Sans KR"/>
                <a:cs typeface="Noto Sans KR"/>
              </a:rPr>
              <a:t>=</a:t>
            </a:r>
            <a:r>
              <a:rPr dirty="0" sz="1350" spc="-35">
                <a:latin typeface="Noto Sans KR"/>
                <a:cs typeface="Noto Sans KR"/>
              </a:rPr>
              <a:t> </a:t>
            </a:r>
            <a:r>
              <a:rPr dirty="0" sz="1350" spc="-40">
                <a:latin typeface="Noto Sans KR"/>
                <a:cs typeface="Noto Sans KR"/>
              </a:rPr>
              <a:t>argmax</a:t>
            </a:r>
            <a:r>
              <a:rPr dirty="0" baseline="-15151" sz="1650" spc="-60">
                <a:latin typeface="Noto Sans KR"/>
                <a:cs typeface="Noto Sans KR"/>
              </a:rPr>
              <a:t>a</a:t>
            </a:r>
            <a:r>
              <a:rPr dirty="0" baseline="-15151" sz="1650" spc="-60">
                <a:latin typeface="Cambria"/>
                <a:cs typeface="Cambria"/>
              </a:rPr>
              <a:t>∈</a:t>
            </a:r>
            <a:r>
              <a:rPr dirty="0" baseline="-16666" sz="1500" spc="-60">
                <a:latin typeface="Cambria Math"/>
                <a:cs typeface="Cambria Math"/>
              </a:rPr>
              <a:t>𝒜</a:t>
            </a:r>
            <a:r>
              <a:rPr dirty="0" baseline="-32163" sz="1425" spc="-60">
                <a:latin typeface="Noto Sans KR"/>
                <a:cs typeface="Noto Sans KR"/>
              </a:rPr>
              <a:t>safe</a:t>
            </a:r>
            <a:r>
              <a:rPr dirty="0" baseline="-32163" sz="1425" spc="135">
                <a:latin typeface="Noto Sans KR"/>
                <a:cs typeface="Noto Sans KR"/>
              </a:rPr>
              <a:t> </a:t>
            </a:r>
            <a:r>
              <a:rPr dirty="0" sz="1350" spc="-10">
                <a:latin typeface="Noto Sans KR"/>
                <a:cs typeface="Noto Sans KR"/>
              </a:rPr>
              <a:t>Q</a:t>
            </a:r>
            <a:r>
              <a:rPr dirty="0" sz="1350" spc="-10">
                <a:latin typeface="Arial"/>
                <a:cs typeface="Arial"/>
              </a:rPr>
              <a:t>(</a:t>
            </a:r>
            <a:r>
              <a:rPr dirty="0" sz="1350" spc="-10">
                <a:latin typeface="Noto Sans KR"/>
                <a:cs typeface="Noto Sans KR"/>
              </a:rPr>
              <a:t>s</a:t>
            </a:r>
            <a:r>
              <a:rPr dirty="0" sz="1350" spc="-10">
                <a:latin typeface="Arial"/>
                <a:cs typeface="Arial"/>
              </a:rPr>
              <a:t>,</a:t>
            </a:r>
            <a:r>
              <a:rPr dirty="0" sz="1350" spc="-10">
                <a:latin typeface="Noto Sans KR"/>
                <a:cs typeface="Noto Sans KR"/>
              </a:rPr>
              <a:t>a</a:t>
            </a:r>
            <a:r>
              <a:rPr dirty="0" sz="1350" spc="-10">
                <a:latin typeface="Arial"/>
                <a:cs typeface="Arial"/>
              </a:rPr>
              <a:t>;θ)</a:t>
            </a:r>
            <a:endParaRPr sz="13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302374" y="1884737"/>
            <a:ext cx="219138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허용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집합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00">
                <a:solidFill>
                  <a:srgbClr val="444444"/>
                </a:solidFill>
                <a:latin typeface="휴먼아미체"/>
                <a:cs typeface="휴먼아미체"/>
              </a:rPr>
              <a:t>내에서만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Q</a:t>
            </a:r>
            <a:r>
              <a:rPr dirty="0" sz="1100" spc="-70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값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최대화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선택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181724" y="2305047"/>
            <a:ext cx="5514975" cy="4305300"/>
            <a:chOff x="6181724" y="2305047"/>
            <a:chExt cx="5514975" cy="4305300"/>
          </a:xfrm>
        </p:grpSpPr>
        <p:sp>
          <p:nvSpPr>
            <p:cNvPr id="29" name="object 29" descr=""/>
            <p:cNvSpPr/>
            <p:nvPr/>
          </p:nvSpPr>
          <p:spPr>
            <a:xfrm>
              <a:off x="6181724" y="2305047"/>
              <a:ext cx="5514975" cy="4305300"/>
            </a:xfrm>
            <a:custGeom>
              <a:avLst/>
              <a:gdLst/>
              <a:ahLst/>
              <a:cxnLst/>
              <a:rect l="l" t="t" r="r" b="b"/>
              <a:pathLst>
                <a:path w="5514975" h="4305300">
                  <a:moveTo>
                    <a:pt x="5443777" y="4305294"/>
                  </a:moveTo>
                  <a:lnTo>
                    <a:pt x="71196" y="4305294"/>
                  </a:lnTo>
                  <a:lnTo>
                    <a:pt x="66241" y="4304806"/>
                  </a:lnTo>
                  <a:lnTo>
                    <a:pt x="29704" y="4289672"/>
                  </a:lnTo>
                  <a:lnTo>
                    <a:pt x="3885" y="4253628"/>
                  </a:lnTo>
                  <a:lnTo>
                    <a:pt x="0" y="4234099"/>
                  </a:lnTo>
                  <a:lnTo>
                    <a:pt x="0" y="4229099"/>
                  </a:lnTo>
                  <a:lnTo>
                    <a:pt x="0" y="71200"/>
                  </a:lnTo>
                  <a:lnTo>
                    <a:pt x="15621" y="29700"/>
                  </a:lnTo>
                  <a:lnTo>
                    <a:pt x="51661" y="3883"/>
                  </a:lnTo>
                  <a:lnTo>
                    <a:pt x="71196" y="0"/>
                  </a:lnTo>
                  <a:lnTo>
                    <a:pt x="5443777" y="0"/>
                  </a:lnTo>
                  <a:lnTo>
                    <a:pt x="5485267" y="15613"/>
                  </a:lnTo>
                  <a:lnTo>
                    <a:pt x="5511088" y="51656"/>
                  </a:lnTo>
                  <a:lnTo>
                    <a:pt x="5514974" y="71200"/>
                  </a:lnTo>
                  <a:lnTo>
                    <a:pt x="5514974" y="4234099"/>
                  </a:lnTo>
                  <a:lnTo>
                    <a:pt x="5499351" y="4275585"/>
                  </a:lnTo>
                  <a:lnTo>
                    <a:pt x="5463311" y="4301406"/>
                  </a:lnTo>
                  <a:lnTo>
                    <a:pt x="5448732" y="4304806"/>
                  </a:lnTo>
                  <a:lnTo>
                    <a:pt x="5443777" y="4305294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315062" y="2762249"/>
              <a:ext cx="47625" cy="809625"/>
            </a:xfrm>
            <a:custGeom>
              <a:avLst/>
              <a:gdLst/>
              <a:ahLst/>
              <a:cxnLst/>
              <a:rect l="l" t="t" r="r" b="b"/>
              <a:pathLst>
                <a:path w="47625" h="809625">
                  <a:moveTo>
                    <a:pt x="47625" y="782650"/>
                  </a:moveTo>
                  <a:lnTo>
                    <a:pt x="26974" y="762000"/>
                  </a:lnTo>
                  <a:lnTo>
                    <a:pt x="20662" y="762000"/>
                  </a:lnTo>
                  <a:lnTo>
                    <a:pt x="0" y="782650"/>
                  </a:lnTo>
                  <a:lnTo>
                    <a:pt x="0" y="788974"/>
                  </a:lnTo>
                  <a:lnTo>
                    <a:pt x="20662" y="809625"/>
                  </a:lnTo>
                  <a:lnTo>
                    <a:pt x="26974" y="809625"/>
                  </a:lnTo>
                  <a:lnTo>
                    <a:pt x="47625" y="788974"/>
                  </a:lnTo>
                  <a:lnTo>
                    <a:pt x="47625" y="785812"/>
                  </a:lnTo>
                  <a:lnTo>
                    <a:pt x="47625" y="782650"/>
                  </a:lnTo>
                  <a:close/>
                </a:path>
                <a:path w="47625" h="809625">
                  <a:moveTo>
                    <a:pt x="47625" y="525475"/>
                  </a:moveTo>
                  <a:lnTo>
                    <a:pt x="26974" y="504825"/>
                  </a:lnTo>
                  <a:lnTo>
                    <a:pt x="20662" y="504825"/>
                  </a:lnTo>
                  <a:lnTo>
                    <a:pt x="0" y="525475"/>
                  </a:lnTo>
                  <a:lnTo>
                    <a:pt x="0" y="531799"/>
                  </a:lnTo>
                  <a:lnTo>
                    <a:pt x="20662" y="552450"/>
                  </a:lnTo>
                  <a:lnTo>
                    <a:pt x="26974" y="552450"/>
                  </a:lnTo>
                  <a:lnTo>
                    <a:pt x="47625" y="531799"/>
                  </a:lnTo>
                  <a:lnTo>
                    <a:pt x="47625" y="528637"/>
                  </a:lnTo>
                  <a:lnTo>
                    <a:pt x="47625" y="525475"/>
                  </a:lnTo>
                  <a:close/>
                </a:path>
                <a:path w="47625" h="809625">
                  <a:moveTo>
                    <a:pt x="47625" y="268312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12"/>
                  </a:lnTo>
                  <a:lnTo>
                    <a:pt x="0" y="274624"/>
                  </a:lnTo>
                  <a:lnTo>
                    <a:pt x="20662" y="295275"/>
                  </a:lnTo>
                  <a:lnTo>
                    <a:pt x="26974" y="295275"/>
                  </a:lnTo>
                  <a:lnTo>
                    <a:pt x="47625" y="274624"/>
                  </a:lnTo>
                  <a:lnTo>
                    <a:pt x="47625" y="271462"/>
                  </a:lnTo>
                  <a:lnTo>
                    <a:pt x="47625" y="268312"/>
                  </a:lnTo>
                  <a:close/>
                </a:path>
                <a:path w="47625" h="80962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321424" y="2328115"/>
            <a:ext cx="2084070" cy="131381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50" spc="-65" b="1">
                <a:solidFill>
                  <a:srgbClr val="FFFFFF"/>
                </a:solidFill>
                <a:latin typeface="Noto Sans KR"/>
                <a:cs typeface="Noto Sans KR"/>
              </a:rPr>
              <a:t>Rainbow</a:t>
            </a:r>
            <a:r>
              <a:rPr dirty="0" sz="1150" spc="4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70" b="1">
                <a:solidFill>
                  <a:srgbClr val="FFFFFF"/>
                </a:solidFill>
                <a:latin typeface="Noto Sans KR"/>
                <a:cs typeface="Noto Sans KR"/>
              </a:rPr>
              <a:t>DQN</a:t>
            </a:r>
            <a:r>
              <a:rPr dirty="0" sz="1150" spc="4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구성</a:t>
            </a:r>
            <a:endParaRPr sz="1150">
              <a:latin typeface="맑은 고딕"/>
              <a:cs typeface="맑은 고딕"/>
            </a:endParaRPr>
          </a:p>
          <a:p>
            <a:pPr marL="154940">
              <a:lnSpc>
                <a:spcPct val="100000"/>
              </a:lnSpc>
              <a:spcBef>
                <a:spcPts val="695"/>
              </a:spcBef>
            </a:pPr>
            <a:r>
              <a:rPr dirty="0" sz="1100" spc="-175" b="1">
                <a:solidFill>
                  <a:srgbClr val="CCCCCC"/>
                </a:solidFill>
                <a:latin typeface="맑은 고딕"/>
                <a:cs typeface="맑은 고딕"/>
              </a:rPr>
              <a:t>은닉층</a:t>
            </a:r>
            <a:r>
              <a:rPr dirty="0" sz="1100" spc="-175" b="1">
                <a:solidFill>
                  <a:srgbClr val="CCCCCC"/>
                </a:solidFill>
                <a:latin typeface="Arial"/>
                <a:cs typeface="Arial"/>
              </a:rPr>
              <a:t>:</a:t>
            </a:r>
            <a:r>
              <a:rPr dirty="0" sz="1100" spc="-20" b="1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00" spc="-45" b="1">
                <a:solidFill>
                  <a:srgbClr val="CCCCCC"/>
                </a:solidFill>
                <a:latin typeface="Arial"/>
                <a:cs typeface="Arial"/>
              </a:rPr>
              <a:t>[</a:t>
            </a:r>
            <a:r>
              <a:rPr dirty="0" sz="1100" spc="-45" b="1">
                <a:solidFill>
                  <a:srgbClr val="CCCCCC"/>
                </a:solidFill>
                <a:latin typeface="Noto Sans KR"/>
                <a:cs typeface="Noto Sans KR"/>
              </a:rPr>
              <a:t>1024</a:t>
            </a:r>
            <a:r>
              <a:rPr dirty="0" sz="1100" spc="-45" b="1">
                <a:solidFill>
                  <a:srgbClr val="CCCCCC"/>
                </a:solidFill>
                <a:latin typeface="Arial"/>
                <a:cs typeface="Arial"/>
              </a:rPr>
              <a:t>,</a:t>
            </a:r>
            <a:r>
              <a:rPr dirty="0" sz="1100" spc="-15" b="1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00" spc="-55" b="1">
                <a:solidFill>
                  <a:srgbClr val="CCCCCC"/>
                </a:solidFill>
                <a:latin typeface="Noto Sans KR"/>
                <a:cs typeface="Noto Sans KR"/>
              </a:rPr>
              <a:t>512</a:t>
            </a:r>
            <a:r>
              <a:rPr dirty="0" sz="1100" spc="-55" b="1">
                <a:solidFill>
                  <a:srgbClr val="CCCCCC"/>
                </a:solidFill>
                <a:latin typeface="Arial"/>
                <a:cs typeface="Arial"/>
              </a:rPr>
              <a:t>,</a:t>
            </a:r>
            <a:r>
              <a:rPr dirty="0" sz="1100" spc="-20" b="1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CCCCCC"/>
                </a:solidFill>
                <a:latin typeface="Noto Sans KR"/>
                <a:cs typeface="Noto Sans KR"/>
              </a:rPr>
              <a:t>256</a:t>
            </a:r>
            <a:r>
              <a:rPr dirty="0" sz="1100" spc="-20" b="1">
                <a:solidFill>
                  <a:srgbClr val="CCCCCC"/>
                </a:solidFill>
                <a:latin typeface="Arial"/>
                <a:cs typeface="Arial"/>
              </a:rPr>
              <a:t>]</a:t>
            </a:r>
            <a:endParaRPr sz="1100">
              <a:latin typeface="Arial"/>
              <a:cs typeface="Arial"/>
            </a:endParaRPr>
          </a:p>
          <a:p>
            <a:pPr marL="154940" marR="561975">
              <a:lnSpc>
                <a:spcPts val="2030"/>
              </a:lnSpc>
              <a:spcBef>
                <a:spcPts val="110"/>
              </a:spcBef>
            </a:pPr>
            <a:r>
              <a:rPr dirty="0" sz="1100" spc="-70" b="1">
                <a:solidFill>
                  <a:srgbClr val="CCCCCC"/>
                </a:solidFill>
                <a:latin typeface="Noto Sans KR"/>
                <a:cs typeface="Noto Sans KR"/>
              </a:rPr>
              <a:t>Dueling</a:t>
            </a:r>
            <a:r>
              <a:rPr dirty="0" sz="1100" spc="2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CCCCCC"/>
                </a:solidFill>
                <a:latin typeface="Noto Sans KR"/>
                <a:cs typeface="Noto Sans KR"/>
              </a:rPr>
              <a:t>+</a:t>
            </a:r>
            <a:r>
              <a:rPr dirty="0" sz="1100" spc="2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75" b="1">
                <a:solidFill>
                  <a:srgbClr val="CCCCCC"/>
                </a:solidFill>
                <a:latin typeface="Noto Sans KR"/>
                <a:cs typeface="Noto Sans KR"/>
              </a:rPr>
              <a:t>Double</a:t>
            </a:r>
            <a:r>
              <a:rPr dirty="0" sz="1100" spc="2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CCCCCC"/>
                </a:solidFill>
                <a:latin typeface="Noto Sans KR"/>
                <a:cs typeface="Noto Sans KR"/>
              </a:rPr>
              <a:t>DQN </a:t>
            </a:r>
            <a:r>
              <a:rPr dirty="0" sz="1100" spc="-85" b="1">
                <a:solidFill>
                  <a:srgbClr val="CCCCCC"/>
                </a:solidFill>
                <a:latin typeface="Noto Sans KR"/>
                <a:cs typeface="Noto Sans KR"/>
              </a:rPr>
              <a:t>PER</a:t>
            </a:r>
            <a:r>
              <a:rPr dirty="0" sz="1100" spc="4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175" b="1">
                <a:solidFill>
                  <a:srgbClr val="CCCCCC"/>
                </a:solidFill>
                <a:latin typeface="Arial"/>
                <a:cs typeface="Arial"/>
              </a:rPr>
              <a:t>(</a:t>
            </a:r>
            <a:r>
              <a:rPr dirty="0" sz="1100" spc="-175" b="1">
                <a:solidFill>
                  <a:srgbClr val="CCCCCC"/>
                </a:solidFill>
                <a:latin typeface="맑은 고딕"/>
                <a:cs typeface="맑은 고딕"/>
              </a:rPr>
              <a:t>우선순위</a:t>
            </a:r>
            <a:r>
              <a:rPr dirty="0" sz="1100" spc="-9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경험</a:t>
            </a:r>
            <a:r>
              <a:rPr dirty="0" sz="1100" spc="-8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45" b="1">
                <a:solidFill>
                  <a:srgbClr val="CCCCCC"/>
                </a:solidFill>
                <a:latin typeface="맑은 고딕"/>
                <a:cs typeface="맑은 고딕"/>
              </a:rPr>
              <a:t>재현</a:t>
            </a:r>
            <a:r>
              <a:rPr dirty="0" sz="1100" spc="-45" b="1">
                <a:solidFill>
                  <a:srgbClr val="CCCCC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509"/>
              </a:spcBef>
            </a:pP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훈련</a:t>
            </a:r>
            <a:r>
              <a:rPr dirty="0" sz="1100" spc="-114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60" b="1">
                <a:solidFill>
                  <a:srgbClr val="CCCCCC"/>
                </a:solidFill>
                <a:latin typeface="Noto Sans KR"/>
                <a:cs typeface="Noto Sans KR"/>
              </a:rPr>
              <a:t>80</a:t>
            </a:r>
            <a:r>
              <a:rPr dirty="0" sz="1100" spc="25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에피소드</a:t>
            </a:r>
            <a:r>
              <a:rPr dirty="0" sz="1100" spc="-114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70" b="1">
                <a:solidFill>
                  <a:srgbClr val="CCCCCC"/>
                </a:solidFill>
                <a:latin typeface="Arial"/>
                <a:cs typeface="Arial"/>
              </a:rPr>
              <a:t>/</a:t>
            </a:r>
            <a:r>
              <a:rPr dirty="0" sz="1100" spc="-30" b="1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평가</a:t>
            </a:r>
            <a:r>
              <a:rPr dirty="0" sz="1100" spc="-114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60" b="1">
                <a:solidFill>
                  <a:srgbClr val="CCCCCC"/>
                </a:solidFill>
                <a:latin typeface="Noto Sans KR"/>
                <a:cs typeface="Noto Sans KR"/>
              </a:rPr>
              <a:t>20</a:t>
            </a:r>
            <a:r>
              <a:rPr dirty="0" sz="1100" spc="25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에피소드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7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20"/>
                </a:moveTo>
                <a:lnTo>
                  <a:pt x="33047" y="200020"/>
                </a:lnTo>
                <a:lnTo>
                  <a:pt x="28187" y="199048"/>
                </a:lnTo>
                <a:lnTo>
                  <a:pt x="966" y="171827"/>
                </a:lnTo>
                <a:lnTo>
                  <a:pt x="0" y="166971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2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79"/>
                </a:lnTo>
                <a:lnTo>
                  <a:pt x="600074" y="33044"/>
                </a:lnTo>
                <a:lnTo>
                  <a:pt x="600074" y="166971"/>
                </a:lnTo>
                <a:lnTo>
                  <a:pt x="571887" y="199048"/>
                </a:lnTo>
                <a:lnTo>
                  <a:pt x="567027" y="20002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실험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설정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850" spc="-335"/>
              <a:t>반도체</a:t>
            </a:r>
            <a:r>
              <a:rPr dirty="0" sz="1850" spc="-190"/>
              <a:t> </a:t>
            </a:r>
            <a:r>
              <a:rPr dirty="0" sz="1850" spc="-335"/>
              <a:t>제조</a:t>
            </a:r>
            <a:r>
              <a:rPr dirty="0" sz="1850" spc="-190"/>
              <a:t> </a:t>
            </a:r>
            <a:r>
              <a:rPr dirty="0" sz="1850" spc="-335"/>
              <a:t>디지털</a:t>
            </a:r>
            <a:r>
              <a:rPr dirty="0" sz="1850" spc="-190"/>
              <a:t> </a:t>
            </a:r>
            <a:r>
              <a:rPr dirty="0" sz="1850" spc="-335"/>
              <a:t>트윈</a:t>
            </a:r>
            <a:r>
              <a:rPr dirty="0" sz="1850" spc="-190"/>
              <a:t> </a:t>
            </a:r>
            <a:r>
              <a:rPr dirty="0" sz="1850">
                <a:latin typeface="Noto Sans KR"/>
                <a:cs typeface="Noto Sans KR"/>
              </a:rPr>
              <a:t>+</a:t>
            </a:r>
            <a:r>
              <a:rPr dirty="0" sz="1850" spc="-45">
                <a:latin typeface="Noto Sans KR"/>
                <a:cs typeface="Noto Sans KR"/>
              </a:rPr>
              <a:t> </a:t>
            </a:r>
            <a:r>
              <a:rPr dirty="0" sz="1850" spc="-335"/>
              <a:t>비교</a:t>
            </a:r>
            <a:r>
              <a:rPr dirty="0" sz="1850" spc="-190"/>
              <a:t> </a:t>
            </a:r>
            <a:r>
              <a:rPr dirty="0" sz="1850" spc="-360"/>
              <a:t>실험</a:t>
            </a:r>
            <a:endParaRPr sz="1850">
              <a:latin typeface="Noto Sans KR"/>
              <a:cs typeface="Noto Sans KR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42972"/>
            <a:ext cx="3638550" cy="2790825"/>
            <a:chOff x="495299" y="942972"/>
            <a:chExt cx="3638550" cy="279082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47734"/>
              <a:ext cx="3629025" cy="2781300"/>
            </a:xfrm>
            <a:custGeom>
              <a:avLst/>
              <a:gdLst/>
              <a:ahLst/>
              <a:cxnLst/>
              <a:rect l="l" t="t" r="r" b="b"/>
              <a:pathLst>
                <a:path w="3629025" h="2781300">
                  <a:moveTo>
                    <a:pt x="3562277" y="2781295"/>
                  </a:moveTo>
                  <a:lnTo>
                    <a:pt x="66746" y="2781295"/>
                  </a:lnTo>
                  <a:lnTo>
                    <a:pt x="62101" y="2780834"/>
                  </a:lnTo>
                  <a:lnTo>
                    <a:pt x="24240" y="2763687"/>
                  </a:lnTo>
                  <a:lnTo>
                    <a:pt x="2287" y="2728391"/>
                  </a:lnTo>
                  <a:lnTo>
                    <a:pt x="0" y="2714550"/>
                  </a:lnTo>
                  <a:lnTo>
                    <a:pt x="0" y="2709862"/>
                  </a:lnTo>
                  <a:lnTo>
                    <a:pt x="0" y="66744"/>
                  </a:lnTo>
                  <a:lnTo>
                    <a:pt x="14645" y="27835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62277" y="0"/>
                  </a:lnTo>
                  <a:lnTo>
                    <a:pt x="3601175" y="14636"/>
                  </a:lnTo>
                  <a:lnTo>
                    <a:pt x="3625381" y="48420"/>
                  </a:lnTo>
                  <a:lnTo>
                    <a:pt x="3629024" y="66744"/>
                  </a:lnTo>
                  <a:lnTo>
                    <a:pt x="3629024" y="2714550"/>
                  </a:lnTo>
                  <a:lnTo>
                    <a:pt x="3614378" y="2753445"/>
                  </a:lnTo>
                  <a:lnTo>
                    <a:pt x="3580590" y="2777648"/>
                  </a:lnTo>
                  <a:lnTo>
                    <a:pt x="3566923" y="2780839"/>
                  </a:lnTo>
                  <a:lnTo>
                    <a:pt x="3562277" y="2781295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47734"/>
              <a:ext cx="3629025" cy="2781300"/>
            </a:xfrm>
            <a:custGeom>
              <a:avLst/>
              <a:gdLst/>
              <a:ahLst/>
              <a:cxnLst/>
              <a:rect l="l" t="t" r="r" b="b"/>
              <a:pathLst>
                <a:path w="3629025" h="2781300">
                  <a:moveTo>
                    <a:pt x="0" y="270986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89"/>
                  </a:lnTo>
                  <a:lnTo>
                    <a:pt x="3642" y="48420"/>
                  </a:lnTo>
                  <a:lnTo>
                    <a:pt x="5437" y="44085"/>
                  </a:lnTo>
                  <a:lnTo>
                    <a:pt x="7232" y="39750"/>
                  </a:lnTo>
                  <a:lnTo>
                    <a:pt x="9433" y="35634"/>
                  </a:lnTo>
                  <a:lnTo>
                    <a:pt x="12039" y="31732"/>
                  </a:lnTo>
                  <a:lnTo>
                    <a:pt x="14645" y="27835"/>
                  </a:lnTo>
                  <a:lnTo>
                    <a:pt x="17606" y="24230"/>
                  </a:lnTo>
                  <a:lnTo>
                    <a:pt x="20923" y="20914"/>
                  </a:lnTo>
                  <a:lnTo>
                    <a:pt x="24240" y="17599"/>
                  </a:lnTo>
                  <a:lnTo>
                    <a:pt x="27848" y="14636"/>
                  </a:lnTo>
                  <a:lnTo>
                    <a:pt x="31748" y="12031"/>
                  </a:lnTo>
                  <a:lnTo>
                    <a:pt x="35648" y="9426"/>
                  </a:lnTo>
                  <a:lnTo>
                    <a:pt x="39765" y="7227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57587" y="0"/>
                  </a:lnTo>
                  <a:lnTo>
                    <a:pt x="3562277" y="0"/>
                  </a:lnTo>
                  <a:lnTo>
                    <a:pt x="3566923" y="456"/>
                  </a:lnTo>
                  <a:lnTo>
                    <a:pt x="3571523" y="1371"/>
                  </a:lnTo>
                  <a:lnTo>
                    <a:pt x="3576123" y="2283"/>
                  </a:lnTo>
                  <a:lnTo>
                    <a:pt x="3580590" y="3636"/>
                  </a:lnTo>
                  <a:lnTo>
                    <a:pt x="3584924" y="5432"/>
                  </a:lnTo>
                  <a:lnTo>
                    <a:pt x="3589257" y="7227"/>
                  </a:lnTo>
                  <a:lnTo>
                    <a:pt x="3593374" y="9426"/>
                  </a:lnTo>
                  <a:lnTo>
                    <a:pt x="3597274" y="12031"/>
                  </a:lnTo>
                  <a:lnTo>
                    <a:pt x="3601175" y="14636"/>
                  </a:lnTo>
                  <a:lnTo>
                    <a:pt x="3616985" y="31737"/>
                  </a:lnTo>
                  <a:lnTo>
                    <a:pt x="3619590" y="35634"/>
                  </a:lnTo>
                  <a:lnTo>
                    <a:pt x="3621791" y="39750"/>
                  </a:lnTo>
                  <a:lnTo>
                    <a:pt x="3623586" y="44085"/>
                  </a:lnTo>
                  <a:lnTo>
                    <a:pt x="3625381" y="48420"/>
                  </a:lnTo>
                  <a:lnTo>
                    <a:pt x="3626736" y="52889"/>
                  </a:lnTo>
                  <a:lnTo>
                    <a:pt x="3627651" y="57493"/>
                  </a:lnTo>
                  <a:lnTo>
                    <a:pt x="3628567" y="62098"/>
                  </a:lnTo>
                  <a:lnTo>
                    <a:pt x="3629024" y="66744"/>
                  </a:lnTo>
                  <a:lnTo>
                    <a:pt x="3629024" y="71437"/>
                  </a:lnTo>
                  <a:lnTo>
                    <a:pt x="3629024" y="2709862"/>
                  </a:lnTo>
                  <a:lnTo>
                    <a:pt x="3629024" y="2714550"/>
                  </a:lnTo>
                  <a:lnTo>
                    <a:pt x="3628567" y="2719192"/>
                  </a:lnTo>
                  <a:lnTo>
                    <a:pt x="3627651" y="2723791"/>
                  </a:lnTo>
                  <a:lnTo>
                    <a:pt x="3626736" y="2728391"/>
                  </a:lnTo>
                  <a:lnTo>
                    <a:pt x="3625381" y="2732861"/>
                  </a:lnTo>
                  <a:lnTo>
                    <a:pt x="3623586" y="2737190"/>
                  </a:lnTo>
                  <a:lnTo>
                    <a:pt x="3621791" y="2741520"/>
                  </a:lnTo>
                  <a:lnTo>
                    <a:pt x="3608100" y="2760370"/>
                  </a:lnTo>
                  <a:lnTo>
                    <a:pt x="3604783" y="2763687"/>
                  </a:lnTo>
                  <a:lnTo>
                    <a:pt x="3571523" y="2779923"/>
                  </a:lnTo>
                  <a:lnTo>
                    <a:pt x="3566923" y="2780839"/>
                  </a:lnTo>
                  <a:lnTo>
                    <a:pt x="3562277" y="2781295"/>
                  </a:lnTo>
                  <a:lnTo>
                    <a:pt x="3557587" y="2781299"/>
                  </a:lnTo>
                  <a:lnTo>
                    <a:pt x="71437" y="2781299"/>
                  </a:lnTo>
                  <a:lnTo>
                    <a:pt x="44099" y="2775848"/>
                  </a:lnTo>
                  <a:lnTo>
                    <a:pt x="39765" y="2774054"/>
                  </a:lnTo>
                  <a:lnTo>
                    <a:pt x="20923" y="2760370"/>
                  </a:lnTo>
                  <a:lnTo>
                    <a:pt x="17606" y="2757054"/>
                  </a:lnTo>
                  <a:lnTo>
                    <a:pt x="5437" y="2737190"/>
                  </a:lnTo>
                  <a:lnTo>
                    <a:pt x="3642" y="2732861"/>
                  </a:lnTo>
                  <a:lnTo>
                    <a:pt x="2287" y="2728391"/>
                  </a:lnTo>
                  <a:lnTo>
                    <a:pt x="1372" y="2723791"/>
                  </a:lnTo>
                  <a:lnTo>
                    <a:pt x="457" y="2719192"/>
                  </a:lnTo>
                  <a:lnTo>
                    <a:pt x="0" y="2714550"/>
                  </a:lnTo>
                  <a:lnTo>
                    <a:pt x="0" y="270986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9587" y="1371599"/>
              <a:ext cx="47625" cy="523875"/>
            </a:xfrm>
            <a:custGeom>
              <a:avLst/>
              <a:gdLst/>
              <a:ahLst/>
              <a:cxnLst/>
              <a:rect l="l" t="t" r="r" b="b"/>
              <a:pathLst>
                <a:path w="47625" h="523875">
                  <a:moveTo>
                    <a:pt x="47625" y="496900"/>
                  </a:moveTo>
                  <a:lnTo>
                    <a:pt x="26974" y="476250"/>
                  </a:lnTo>
                  <a:lnTo>
                    <a:pt x="20662" y="476250"/>
                  </a:lnTo>
                  <a:lnTo>
                    <a:pt x="0" y="496900"/>
                  </a:lnTo>
                  <a:lnTo>
                    <a:pt x="0" y="503224"/>
                  </a:lnTo>
                  <a:lnTo>
                    <a:pt x="20662" y="523875"/>
                  </a:lnTo>
                  <a:lnTo>
                    <a:pt x="26974" y="523875"/>
                  </a:lnTo>
                  <a:lnTo>
                    <a:pt x="47625" y="503224"/>
                  </a:lnTo>
                  <a:lnTo>
                    <a:pt x="47625" y="500062"/>
                  </a:lnTo>
                  <a:lnTo>
                    <a:pt x="47625" y="496900"/>
                  </a:lnTo>
                  <a:close/>
                </a:path>
                <a:path w="47625" h="523875">
                  <a:moveTo>
                    <a:pt x="47625" y="258775"/>
                  </a:moveTo>
                  <a:lnTo>
                    <a:pt x="26974" y="238125"/>
                  </a:lnTo>
                  <a:lnTo>
                    <a:pt x="20662" y="238125"/>
                  </a:lnTo>
                  <a:lnTo>
                    <a:pt x="0" y="258775"/>
                  </a:lnTo>
                  <a:lnTo>
                    <a:pt x="0" y="265087"/>
                  </a:lnTo>
                  <a:lnTo>
                    <a:pt x="20662" y="285750"/>
                  </a:lnTo>
                  <a:lnTo>
                    <a:pt x="26974" y="285750"/>
                  </a:lnTo>
                  <a:lnTo>
                    <a:pt x="47625" y="265087"/>
                  </a:lnTo>
                  <a:lnTo>
                    <a:pt x="47625" y="261937"/>
                  </a:lnTo>
                  <a:lnTo>
                    <a:pt x="47625" y="258775"/>
                  </a:lnTo>
                  <a:close/>
                </a:path>
                <a:path w="47625" h="52387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15949" y="967489"/>
            <a:ext cx="2374265" cy="99758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🏗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디지털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트윈</a:t>
            </a:r>
            <a:endParaRPr sz="1150">
              <a:latin typeface="맑은 고딕"/>
              <a:cs typeface="맑은 고딕"/>
            </a:endParaRPr>
          </a:p>
          <a:p>
            <a:pPr marL="154940" marR="5080">
              <a:lnSpc>
                <a:spcPts val="1880"/>
              </a:lnSpc>
              <a:spcBef>
                <a:spcPts val="130"/>
              </a:spcBef>
            </a:pP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Siemens</a:t>
            </a:r>
            <a:r>
              <a:rPr dirty="0" sz="1100" spc="5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85">
                <a:solidFill>
                  <a:srgbClr val="444444"/>
                </a:solidFill>
                <a:latin typeface="Noto Sans KR"/>
                <a:cs typeface="Noto Sans KR"/>
              </a:rPr>
              <a:t>Tecnomatix</a:t>
            </a:r>
            <a:r>
              <a:rPr dirty="0" sz="1100" spc="5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Plant</a:t>
            </a:r>
            <a:r>
              <a:rPr dirty="0" sz="1100" spc="5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Simulation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6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개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순차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공정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20">
                <a:solidFill>
                  <a:srgbClr val="444444"/>
                </a:solidFill>
                <a:latin typeface="Noto Sans KR"/>
                <a:cs typeface="Noto Sans KR"/>
              </a:rPr>
              <a:t>A</a:t>
            </a:r>
            <a:r>
              <a:rPr dirty="0" sz="1100" spc="-20">
                <a:solidFill>
                  <a:srgbClr val="444444"/>
                </a:solidFill>
                <a:latin typeface="Arial"/>
                <a:cs typeface="Arial"/>
              </a:rPr>
              <a:t>–</a:t>
            </a:r>
            <a:r>
              <a:rPr dirty="0" sz="1100" spc="-20">
                <a:solidFill>
                  <a:srgbClr val="444444"/>
                </a:solidFill>
                <a:latin typeface="Noto Sans KR"/>
                <a:cs typeface="Noto Sans KR"/>
              </a:rPr>
              <a:t>F</a:t>
            </a:r>
            <a:r>
              <a:rPr dirty="0" sz="1100" spc="-20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395"/>
              </a:spcBef>
            </a:pP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임계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단계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이종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장비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09587" y="2085974"/>
            <a:ext cx="47625" cy="285750"/>
          </a:xfrm>
          <a:custGeom>
            <a:avLst/>
            <a:gdLst/>
            <a:ahLst/>
            <a:cxnLst/>
            <a:rect l="l" t="t" r="r" b="b"/>
            <a:pathLst>
              <a:path w="47625" h="285750">
                <a:moveTo>
                  <a:pt x="47625" y="258787"/>
                </a:moveTo>
                <a:lnTo>
                  <a:pt x="26974" y="238125"/>
                </a:lnTo>
                <a:lnTo>
                  <a:pt x="20662" y="238125"/>
                </a:lnTo>
                <a:lnTo>
                  <a:pt x="0" y="258787"/>
                </a:lnTo>
                <a:lnTo>
                  <a:pt x="0" y="265087"/>
                </a:lnTo>
                <a:lnTo>
                  <a:pt x="20662" y="285750"/>
                </a:lnTo>
                <a:lnTo>
                  <a:pt x="26974" y="285750"/>
                </a:lnTo>
                <a:lnTo>
                  <a:pt x="47625" y="265087"/>
                </a:lnTo>
                <a:lnTo>
                  <a:pt x="47625" y="261937"/>
                </a:lnTo>
                <a:lnTo>
                  <a:pt x="47625" y="258787"/>
                </a:lnTo>
                <a:close/>
              </a:path>
              <a:path w="47625" h="285750">
                <a:moveTo>
                  <a:pt x="47625" y="20650"/>
                </a:moveTo>
                <a:lnTo>
                  <a:pt x="26974" y="0"/>
                </a:lnTo>
                <a:lnTo>
                  <a:pt x="20662" y="0"/>
                </a:lnTo>
                <a:lnTo>
                  <a:pt x="0" y="20650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58824" y="1940811"/>
            <a:ext cx="1376045" cy="50038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100" spc="85">
                <a:solidFill>
                  <a:srgbClr val="444444"/>
                </a:solidFill>
                <a:latin typeface="Noto Sans KR"/>
                <a:cs typeface="Noto Sans KR"/>
              </a:rPr>
              <a:t>21</a:t>
            </a:r>
            <a:r>
              <a:rPr dirty="0" sz="1100" spc="85">
                <a:solidFill>
                  <a:srgbClr val="444444"/>
                </a:solidFill>
                <a:latin typeface="휴먼아미체"/>
                <a:cs typeface="휴먼아미체"/>
              </a:rPr>
              <a:t>차원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상태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75">
                <a:solidFill>
                  <a:srgbClr val="444444"/>
                </a:solidFill>
                <a:latin typeface="휴먼아미체"/>
                <a:cs typeface="휴먼아미체"/>
              </a:rPr>
              <a:t>벡터</a:t>
            </a:r>
            <a:endParaRPr sz="110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10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행동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54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254">
                <a:solidFill>
                  <a:srgbClr val="444444"/>
                </a:solidFill>
                <a:latin typeface="휴먼아미체"/>
                <a:cs typeface="휴먼아미체"/>
              </a:rPr>
              <a:t>우선순위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65">
                <a:solidFill>
                  <a:srgbClr val="444444"/>
                </a:solidFill>
                <a:latin typeface="휴먼아미체"/>
                <a:cs typeface="휴먼아미체"/>
              </a:rPr>
              <a:t>레벨</a:t>
            </a:r>
            <a:r>
              <a:rPr dirty="0" sz="1100" spc="65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229099" y="942972"/>
            <a:ext cx="3648075" cy="2790825"/>
            <a:chOff x="4229099" y="942972"/>
            <a:chExt cx="3648075" cy="2790825"/>
          </a:xfrm>
        </p:grpSpPr>
        <p:sp>
          <p:nvSpPr>
            <p:cNvPr id="13" name="object 13" descr=""/>
            <p:cNvSpPr/>
            <p:nvPr/>
          </p:nvSpPr>
          <p:spPr>
            <a:xfrm>
              <a:off x="4233861" y="947734"/>
              <a:ext cx="3638550" cy="2781300"/>
            </a:xfrm>
            <a:custGeom>
              <a:avLst/>
              <a:gdLst/>
              <a:ahLst/>
              <a:cxnLst/>
              <a:rect l="l" t="t" r="r" b="b"/>
              <a:pathLst>
                <a:path w="3638550" h="2781300">
                  <a:moveTo>
                    <a:pt x="3571802" y="2781295"/>
                  </a:moveTo>
                  <a:lnTo>
                    <a:pt x="66746" y="2781295"/>
                  </a:lnTo>
                  <a:lnTo>
                    <a:pt x="62100" y="2780834"/>
                  </a:lnTo>
                  <a:lnTo>
                    <a:pt x="24240" y="2763687"/>
                  </a:lnTo>
                  <a:lnTo>
                    <a:pt x="2287" y="2728391"/>
                  </a:lnTo>
                  <a:lnTo>
                    <a:pt x="0" y="2714550"/>
                  </a:lnTo>
                  <a:lnTo>
                    <a:pt x="0" y="2709862"/>
                  </a:lnTo>
                  <a:lnTo>
                    <a:pt x="0" y="66744"/>
                  </a:lnTo>
                  <a:lnTo>
                    <a:pt x="14645" y="27835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71802" y="0"/>
                  </a:lnTo>
                  <a:lnTo>
                    <a:pt x="3610700" y="14636"/>
                  </a:lnTo>
                  <a:lnTo>
                    <a:pt x="3634906" y="48420"/>
                  </a:lnTo>
                  <a:lnTo>
                    <a:pt x="3638549" y="66744"/>
                  </a:lnTo>
                  <a:lnTo>
                    <a:pt x="3638549" y="2714550"/>
                  </a:lnTo>
                  <a:lnTo>
                    <a:pt x="3623904" y="2753445"/>
                  </a:lnTo>
                  <a:lnTo>
                    <a:pt x="3590115" y="2777648"/>
                  </a:lnTo>
                  <a:lnTo>
                    <a:pt x="3576447" y="2780839"/>
                  </a:lnTo>
                  <a:lnTo>
                    <a:pt x="3571802" y="2781295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33861" y="947734"/>
              <a:ext cx="3638550" cy="2781300"/>
            </a:xfrm>
            <a:custGeom>
              <a:avLst/>
              <a:gdLst/>
              <a:ahLst/>
              <a:cxnLst/>
              <a:rect l="l" t="t" r="r" b="b"/>
              <a:pathLst>
                <a:path w="3638550" h="2781300">
                  <a:moveTo>
                    <a:pt x="0" y="2709862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8"/>
                  </a:lnTo>
                  <a:lnTo>
                    <a:pt x="2287" y="52889"/>
                  </a:lnTo>
                  <a:lnTo>
                    <a:pt x="3642" y="48420"/>
                  </a:lnTo>
                  <a:lnTo>
                    <a:pt x="20923" y="20914"/>
                  </a:lnTo>
                  <a:lnTo>
                    <a:pt x="24240" y="17599"/>
                  </a:lnTo>
                  <a:lnTo>
                    <a:pt x="27848" y="14636"/>
                  </a:lnTo>
                  <a:lnTo>
                    <a:pt x="31748" y="12031"/>
                  </a:lnTo>
                  <a:lnTo>
                    <a:pt x="35649" y="9426"/>
                  </a:lnTo>
                  <a:lnTo>
                    <a:pt x="39765" y="7227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899" y="2283"/>
                  </a:lnTo>
                  <a:lnTo>
                    <a:pt x="57500" y="1371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67112" y="0"/>
                  </a:lnTo>
                  <a:lnTo>
                    <a:pt x="3571802" y="0"/>
                  </a:lnTo>
                  <a:lnTo>
                    <a:pt x="3576448" y="456"/>
                  </a:lnTo>
                  <a:lnTo>
                    <a:pt x="3581048" y="1371"/>
                  </a:lnTo>
                  <a:lnTo>
                    <a:pt x="3585649" y="2283"/>
                  </a:lnTo>
                  <a:lnTo>
                    <a:pt x="3606800" y="12031"/>
                  </a:lnTo>
                  <a:lnTo>
                    <a:pt x="3610700" y="14636"/>
                  </a:lnTo>
                  <a:lnTo>
                    <a:pt x="3614309" y="17599"/>
                  </a:lnTo>
                  <a:lnTo>
                    <a:pt x="3617626" y="20914"/>
                  </a:lnTo>
                  <a:lnTo>
                    <a:pt x="3620942" y="24230"/>
                  </a:lnTo>
                  <a:lnTo>
                    <a:pt x="3623904" y="27835"/>
                  </a:lnTo>
                  <a:lnTo>
                    <a:pt x="3626510" y="31737"/>
                  </a:lnTo>
                  <a:lnTo>
                    <a:pt x="3629116" y="35634"/>
                  </a:lnTo>
                  <a:lnTo>
                    <a:pt x="3637176" y="57493"/>
                  </a:lnTo>
                  <a:lnTo>
                    <a:pt x="3638092" y="62098"/>
                  </a:lnTo>
                  <a:lnTo>
                    <a:pt x="3638549" y="66744"/>
                  </a:lnTo>
                  <a:lnTo>
                    <a:pt x="3638549" y="71437"/>
                  </a:lnTo>
                  <a:lnTo>
                    <a:pt x="3638549" y="2709862"/>
                  </a:lnTo>
                  <a:lnTo>
                    <a:pt x="3638549" y="2714550"/>
                  </a:lnTo>
                  <a:lnTo>
                    <a:pt x="3638092" y="2719192"/>
                  </a:lnTo>
                  <a:lnTo>
                    <a:pt x="3637176" y="2723791"/>
                  </a:lnTo>
                  <a:lnTo>
                    <a:pt x="3636261" y="2728391"/>
                  </a:lnTo>
                  <a:lnTo>
                    <a:pt x="3634906" y="2732861"/>
                  </a:lnTo>
                  <a:lnTo>
                    <a:pt x="3633111" y="2737190"/>
                  </a:lnTo>
                  <a:lnTo>
                    <a:pt x="3631316" y="2741520"/>
                  </a:lnTo>
                  <a:lnTo>
                    <a:pt x="3629116" y="2745641"/>
                  </a:lnTo>
                  <a:lnTo>
                    <a:pt x="3626510" y="2749543"/>
                  </a:lnTo>
                  <a:lnTo>
                    <a:pt x="3623904" y="2753445"/>
                  </a:lnTo>
                  <a:lnTo>
                    <a:pt x="3620942" y="2757054"/>
                  </a:lnTo>
                  <a:lnTo>
                    <a:pt x="3617626" y="2760370"/>
                  </a:lnTo>
                  <a:lnTo>
                    <a:pt x="3614309" y="2763687"/>
                  </a:lnTo>
                  <a:lnTo>
                    <a:pt x="3581048" y="2779923"/>
                  </a:lnTo>
                  <a:lnTo>
                    <a:pt x="3576447" y="2780839"/>
                  </a:lnTo>
                  <a:lnTo>
                    <a:pt x="3571802" y="2781295"/>
                  </a:lnTo>
                  <a:lnTo>
                    <a:pt x="3567112" y="2781299"/>
                  </a:lnTo>
                  <a:lnTo>
                    <a:pt x="71437" y="2781299"/>
                  </a:lnTo>
                  <a:lnTo>
                    <a:pt x="44099" y="2775848"/>
                  </a:lnTo>
                  <a:lnTo>
                    <a:pt x="39765" y="2774054"/>
                  </a:lnTo>
                  <a:lnTo>
                    <a:pt x="20923" y="2760370"/>
                  </a:lnTo>
                  <a:lnTo>
                    <a:pt x="17606" y="2757054"/>
                  </a:lnTo>
                  <a:lnTo>
                    <a:pt x="5437" y="2737190"/>
                  </a:lnTo>
                  <a:lnTo>
                    <a:pt x="3642" y="2732861"/>
                  </a:lnTo>
                  <a:lnTo>
                    <a:pt x="2287" y="2728391"/>
                  </a:lnTo>
                  <a:lnTo>
                    <a:pt x="1372" y="2723791"/>
                  </a:lnTo>
                  <a:lnTo>
                    <a:pt x="457" y="2719192"/>
                  </a:lnTo>
                  <a:lnTo>
                    <a:pt x="0" y="2714550"/>
                  </a:lnTo>
                  <a:lnTo>
                    <a:pt x="0" y="270986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352875" y="1041942"/>
            <a:ext cx="755650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80">
                <a:solidFill>
                  <a:srgbClr val="1A1A1A"/>
                </a:solidFill>
                <a:latin typeface="Segoe UI Symbol"/>
                <a:cs typeface="Segoe UI Symbol"/>
              </a:rPr>
              <a:t>🔬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비교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55" b="1">
                <a:solidFill>
                  <a:srgbClr val="1A1A1A"/>
                </a:solidFill>
                <a:latin typeface="맑은 고딕"/>
                <a:cs typeface="맑은 고딕"/>
              </a:rPr>
              <a:t>조건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62449" y="1314447"/>
            <a:ext cx="3381375" cy="619125"/>
          </a:xfrm>
          <a:custGeom>
            <a:avLst/>
            <a:gdLst/>
            <a:ahLst/>
            <a:cxnLst/>
            <a:rect l="l" t="t" r="r" b="b"/>
            <a:pathLst>
              <a:path w="3381375" h="619125">
                <a:moveTo>
                  <a:pt x="3327977" y="619120"/>
                </a:moveTo>
                <a:lnTo>
                  <a:pt x="53397" y="619120"/>
                </a:lnTo>
                <a:lnTo>
                  <a:pt x="49680" y="618752"/>
                </a:lnTo>
                <a:lnTo>
                  <a:pt x="14084" y="599721"/>
                </a:lnTo>
                <a:lnTo>
                  <a:pt x="0" y="565727"/>
                </a:lnTo>
                <a:lnTo>
                  <a:pt x="0" y="561974"/>
                </a:lnTo>
                <a:lnTo>
                  <a:pt x="0" y="53397"/>
                </a:lnTo>
                <a:lnTo>
                  <a:pt x="19391" y="14082"/>
                </a:lnTo>
                <a:lnTo>
                  <a:pt x="53397" y="0"/>
                </a:lnTo>
                <a:lnTo>
                  <a:pt x="3327977" y="0"/>
                </a:lnTo>
                <a:lnTo>
                  <a:pt x="3367289" y="19389"/>
                </a:lnTo>
                <a:lnTo>
                  <a:pt x="3381375" y="53397"/>
                </a:lnTo>
                <a:lnTo>
                  <a:pt x="3381375" y="565727"/>
                </a:lnTo>
                <a:lnTo>
                  <a:pt x="3361982" y="605027"/>
                </a:lnTo>
                <a:lnTo>
                  <a:pt x="3331693" y="618752"/>
                </a:lnTo>
                <a:lnTo>
                  <a:pt x="3327977" y="619120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457650" y="1362890"/>
            <a:ext cx="1661795" cy="47625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1100" spc="-70" b="1">
                <a:latin typeface="Noto Sans KR"/>
                <a:cs typeface="Noto Sans KR"/>
              </a:rPr>
              <a:t>Pure</a:t>
            </a:r>
            <a:r>
              <a:rPr dirty="0" sz="1100" spc="10" b="1">
                <a:latin typeface="Noto Sans KR"/>
                <a:cs typeface="Noto Sans KR"/>
              </a:rPr>
              <a:t> </a:t>
            </a:r>
            <a:r>
              <a:rPr dirty="0" sz="1100" spc="-25" b="1">
                <a:latin typeface="Noto Sans KR"/>
                <a:cs typeface="Noto Sans KR"/>
              </a:rPr>
              <a:t>DRL</a:t>
            </a:r>
            <a:endParaRPr sz="1100">
              <a:latin typeface="Noto Sans KR"/>
              <a:cs typeface="Noto Sans KR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-55">
                <a:solidFill>
                  <a:srgbClr val="444444"/>
                </a:solidFill>
                <a:latin typeface="Noto Sans KR"/>
                <a:cs typeface="Noto Sans KR"/>
              </a:rPr>
              <a:t>Rainbow</a:t>
            </a:r>
            <a:r>
              <a:rPr dirty="0" sz="100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65">
                <a:solidFill>
                  <a:srgbClr val="444444"/>
                </a:solidFill>
                <a:latin typeface="Noto Sans KR"/>
                <a:cs typeface="Noto Sans KR"/>
              </a:rPr>
              <a:t>DQN</a:t>
            </a:r>
            <a:r>
              <a:rPr dirty="0" sz="1000" spc="1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285">
                <a:solidFill>
                  <a:srgbClr val="444444"/>
                </a:solidFill>
                <a:latin typeface="휴먼아미체"/>
                <a:cs typeface="휴먼아미체"/>
              </a:rPr>
              <a:t>단독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-20">
                <a:solidFill>
                  <a:srgbClr val="444444"/>
                </a:solidFill>
                <a:latin typeface="Noto Sans KR"/>
                <a:cs typeface="Noto Sans KR"/>
              </a:rPr>
              <a:t>L1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/</a:t>
            </a:r>
            <a:r>
              <a:rPr dirty="0" sz="1000" spc="-20">
                <a:solidFill>
                  <a:srgbClr val="444444"/>
                </a:solidFill>
                <a:latin typeface="Noto Sans KR"/>
                <a:cs typeface="Noto Sans KR"/>
              </a:rPr>
              <a:t>L2</a:t>
            </a:r>
            <a:r>
              <a:rPr dirty="0" sz="100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175">
                <a:solidFill>
                  <a:srgbClr val="444444"/>
                </a:solidFill>
                <a:latin typeface="휴먼아미체"/>
                <a:cs typeface="휴먼아미체"/>
              </a:rPr>
              <a:t>없음</a:t>
            </a:r>
            <a:r>
              <a:rPr dirty="0" sz="1000" spc="175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362449" y="2000247"/>
            <a:ext cx="3381375" cy="628650"/>
            <a:chOff x="4362449" y="2000247"/>
            <a:chExt cx="3381375" cy="628650"/>
          </a:xfrm>
        </p:grpSpPr>
        <p:sp>
          <p:nvSpPr>
            <p:cNvPr id="19" name="object 19" descr=""/>
            <p:cNvSpPr/>
            <p:nvPr/>
          </p:nvSpPr>
          <p:spPr>
            <a:xfrm>
              <a:off x="4367212" y="2005009"/>
              <a:ext cx="3371850" cy="619125"/>
            </a:xfrm>
            <a:custGeom>
              <a:avLst/>
              <a:gdLst/>
              <a:ahLst/>
              <a:cxnLst/>
              <a:rect l="l" t="t" r="r" b="b"/>
              <a:pathLst>
                <a:path w="3371850" h="619125">
                  <a:moveTo>
                    <a:pt x="3322901" y="619120"/>
                  </a:moveTo>
                  <a:lnTo>
                    <a:pt x="48947" y="619120"/>
                  </a:lnTo>
                  <a:lnTo>
                    <a:pt x="45540" y="618785"/>
                  </a:lnTo>
                  <a:lnTo>
                    <a:pt x="10739" y="598693"/>
                  </a:lnTo>
                  <a:lnTo>
                    <a:pt x="0" y="570174"/>
                  </a:lnTo>
                  <a:lnTo>
                    <a:pt x="0" y="566737"/>
                  </a:lnTo>
                  <a:lnTo>
                    <a:pt x="0" y="48941"/>
                  </a:lnTo>
                  <a:lnTo>
                    <a:pt x="17776" y="12906"/>
                  </a:lnTo>
                  <a:lnTo>
                    <a:pt x="48947" y="0"/>
                  </a:lnTo>
                  <a:lnTo>
                    <a:pt x="3322901" y="0"/>
                  </a:lnTo>
                  <a:lnTo>
                    <a:pt x="3358936" y="17770"/>
                  </a:lnTo>
                  <a:lnTo>
                    <a:pt x="3371849" y="48941"/>
                  </a:lnTo>
                  <a:lnTo>
                    <a:pt x="3371849" y="570174"/>
                  </a:lnTo>
                  <a:lnTo>
                    <a:pt x="3354072" y="606209"/>
                  </a:lnTo>
                  <a:lnTo>
                    <a:pt x="3326307" y="618785"/>
                  </a:lnTo>
                  <a:lnTo>
                    <a:pt x="3322901" y="619120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67212" y="2005009"/>
              <a:ext cx="3371850" cy="619125"/>
            </a:xfrm>
            <a:custGeom>
              <a:avLst/>
              <a:gdLst/>
              <a:ahLst/>
              <a:cxnLst/>
              <a:rect l="l" t="t" r="r" b="b"/>
              <a:pathLst>
                <a:path w="3371850" h="619125">
                  <a:moveTo>
                    <a:pt x="0" y="566737"/>
                  </a:moveTo>
                  <a:lnTo>
                    <a:pt x="0" y="52387"/>
                  </a:lnTo>
                  <a:lnTo>
                    <a:pt x="0" y="48941"/>
                  </a:lnTo>
                  <a:lnTo>
                    <a:pt x="335" y="45532"/>
                  </a:lnTo>
                  <a:lnTo>
                    <a:pt x="1006" y="42160"/>
                  </a:lnTo>
                  <a:lnTo>
                    <a:pt x="1677" y="38783"/>
                  </a:lnTo>
                  <a:lnTo>
                    <a:pt x="2670" y="35509"/>
                  </a:lnTo>
                  <a:lnTo>
                    <a:pt x="3987" y="32332"/>
                  </a:lnTo>
                  <a:lnTo>
                    <a:pt x="5303" y="29156"/>
                  </a:lnTo>
                  <a:lnTo>
                    <a:pt x="6917" y="26133"/>
                  </a:lnTo>
                  <a:lnTo>
                    <a:pt x="8828" y="23273"/>
                  </a:lnTo>
                  <a:lnTo>
                    <a:pt x="10739" y="20413"/>
                  </a:lnTo>
                  <a:lnTo>
                    <a:pt x="12911" y="17770"/>
                  </a:lnTo>
                  <a:lnTo>
                    <a:pt x="15343" y="15339"/>
                  </a:lnTo>
                  <a:lnTo>
                    <a:pt x="17776" y="12906"/>
                  </a:lnTo>
                  <a:lnTo>
                    <a:pt x="20422" y="10729"/>
                  </a:lnTo>
                  <a:lnTo>
                    <a:pt x="23282" y="8818"/>
                  </a:lnTo>
                  <a:lnTo>
                    <a:pt x="26142" y="6906"/>
                  </a:lnTo>
                  <a:lnTo>
                    <a:pt x="42167" y="1004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3319462" y="0"/>
                  </a:lnTo>
                  <a:lnTo>
                    <a:pt x="3322901" y="0"/>
                  </a:lnTo>
                  <a:lnTo>
                    <a:pt x="3326307" y="335"/>
                  </a:lnTo>
                  <a:lnTo>
                    <a:pt x="3329681" y="1004"/>
                  </a:lnTo>
                  <a:lnTo>
                    <a:pt x="3333054" y="1674"/>
                  </a:lnTo>
                  <a:lnTo>
                    <a:pt x="3336331" y="2665"/>
                  </a:lnTo>
                  <a:lnTo>
                    <a:pt x="3339508" y="3981"/>
                  </a:lnTo>
                  <a:lnTo>
                    <a:pt x="3342686" y="5297"/>
                  </a:lnTo>
                  <a:lnTo>
                    <a:pt x="3356504" y="15339"/>
                  </a:lnTo>
                  <a:lnTo>
                    <a:pt x="3358936" y="17770"/>
                  </a:lnTo>
                  <a:lnTo>
                    <a:pt x="3370842" y="42160"/>
                  </a:lnTo>
                  <a:lnTo>
                    <a:pt x="3371513" y="45532"/>
                  </a:lnTo>
                  <a:lnTo>
                    <a:pt x="3371849" y="48941"/>
                  </a:lnTo>
                  <a:lnTo>
                    <a:pt x="3371849" y="52387"/>
                  </a:lnTo>
                  <a:lnTo>
                    <a:pt x="3371849" y="566737"/>
                  </a:lnTo>
                  <a:lnTo>
                    <a:pt x="3371849" y="570174"/>
                  </a:lnTo>
                  <a:lnTo>
                    <a:pt x="3371513" y="573584"/>
                  </a:lnTo>
                  <a:lnTo>
                    <a:pt x="3370842" y="576955"/>
                  </a:lnTo>
                  <a:lnTo>
                    <a:pt x="3370171" y="580327"/>
                  </a:lnTo>
                  <a:lnTo>
                    <a:pt x="3345705" y="612199"/>
                  </a:lnTo>
                  <a:lnTo>
                    <a:pt x="3329681" y="618115"/>
                  </a:lnTo>
                  <a:lnTo>
                    <a:pt x="3326307" y="618785"/>
                  </a:lnTo>
                  <a:lnTo>
                    <a:pt x="3322901" y="619120"/>
                  </a:lnTo>
                  <a:lnTo>
                    <a:pt x="3319462" y="619124"/>
                  </a:lnTo>
                  <a:lnTo>
                    <a:pt x="52387" y="619124"/>
                  </a:lnTo>
                  <a:lnTo>
                    <a:pt x="48947" y="619120"/>
                  </a:lnTo>
                  <a:lnTo>
                    <a:pt x="45540" y="618785"/>
                  </a:lnTo>
                  <a:lnTo>
                    <a:pt x="42167" y="618111"/>
                  </a:lnTo>
                  <a:lnTo>
                    <a:pt x="38793" y="617437"/>
                  </a:lnTo>
                  <a:lnTo>
                    <a:pt x="35517" y="616441"/>
                  </a:lnTo>
                  <a:lnTo>
                    <a:pt x="32339" y="615125"/>
                  </a:lnTo>
                  <a:lnTo>
                    <a:pt x="29161" y="613809"/>
                  </a:lnTo>
                  <a:lnTo>
                    <a:pt x="26142" y="612195"/>
                  </a:lnTo>
                  <a:lnTo>
                    <a:pt x="23282" y="610283"/>
                  </a:lnTo>
                  <a:lnTo>
                    <a:pt x="20422" y="608376"/>
                  </a:lnTo>
                  <a:lnTo>
                    <a:pt x="335" y="573584"/>
                  </a:lnTo>
                  <a:lnTo>
                    <a:pt x="0" y="570174"/>
                  </a:lnTo>
                  <a:lnTo>
                    <a:pt x="0" y="566737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467175" y="2053797"/>
            <a:ext cx="1099820" cy="48069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1100" spc="-70" b="1">
                <a:solidFill>
                  <a:srgbClr val="DF592A"/>
                </a:solidFill>
                <a:latin typeface="Noto Sans KR"/>
                <a:cs typeface="Noto Sans KR"/>
              </a:rPr>
              <a:t>LLM</a:t>
            </a:r>
            <a:r>
              <a:rPr dirty="0" sz="1100" spc="-70" b="1">
                <a:solidFill>
                  <a:srgbClr val="DF592A"/>
                </a:solidFill>
                <a:latin typeface="Arial"/>
                <a:cs typeface="Arial"/>
              </a:rPr>
              <a:t>-</a:t>
            </a:r>
            <a:r>
              <a:rPr dirty="0" sz="1100" spc="-85" b="1">
                <a:solidFill>
                  <a:srgbClr val="DF592A"/>
                </a:solidFill>
                <a:latin typeface="Noto Sans KR"/>
                <a:cs typeface="Noto Sans KR"/>
              </a:rPr>
              <a:t>HRL</a:t>
            </a:r>
            <a:r>
              <a:rPr dirty="0" sz="1100" spc="65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100" spc="-20" b="1">
                <a:solidFill>
                  <a:srgbClr val="DF592A"/>
                </a:solidFill>
                <a:latin typeface="Arial"/>
                <a:cs typeface="Arial"/>
              </a:rPr>
              <a:t>(</a:t>
            </a:r>
            <a:r>
              <a:rPr dirty="0" sz="1100" spc="-20" b="1">
                <a:solidFill>
                  <a:srgbClr val="DF592A"/>
                </a:solidFill>
                <a:latin typeface="맑은 고딕"/>
                <a:cs typeface="맑은 고딕"/>
              </a:rPr>
              <a:t>제안</a:t>
            </a:r>
            <a:r>
              <a:rPr dirty="0" sz="1100" spc="-20" b="1">
                <a:solidFill>
                  <a:srgbClr val="DF592A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000" spc="150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000" spc="150">
                <a:solidFill>
                  <a:srgbClr val="444444"/>
                </a:solidFill>
                <a:latin typeface="휴먼아미체"/>
                <a:cs typeface="휴먼아미체"/>
              </a:rPr>
              <a:t>계층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80">
                <a:solidFill>
                  <a:srgbClr val="444444"/>
                </a:solidFill>
                <a:latin typeface="휴먼아미체"/>
                <a:cs typeface="휴먼아미체"/>
              </a:rPr>
              <a:t>프레임워크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180">
                <a:solidFill>
                  <a:srgbClr val="444444"/>
                </a:solidFill>
                <a:latin typeface="휴먼아미체"/>
                <a:cs typeface="휴먼아미체"/>
              </a:rPr>
              <a:t>전체</a:t>
            </a:r>
            <a:endParaRPr sz="1000">
              <a:latin typeface="휴먼아미체"/>
              <a:cs typeface="휴먼아미체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95299" y="3829047"/>
            <a:ext cx="3638550" cy="2781300"/>
            <a:chOff x="495299" y="3829047"/>
            <a:chExt cx="3638550" cy="2781300"/>
          </a:xfrm>
        </p:grpSpPr>
        <p:sp>
          <p:nvSpPr>
            <p:cNvPr id="23" name="object 23" descr=""/>
            <p:cNvSpPr/>
            <p:nvPr/>
          </p:nvSpPr>
          <p:spPr>
            <a:xfrm>
              <a:off x="500062" y="3833809"/>
              <a:ext cx="3629025" cy="2771775"/>
            </a:xfrm>
            <a:custGeom>
              <a:avLst/>
              <a:gdLst/>
              <a:ahLst/>
              <a:cxnLst/>
              <a:rect l="l" t="t" r="r" b="b"/>
              <a:pathLst>
                <a:path w="3629025" h="2771775">
                  <a:moveTo>
                    <a:pt x="3562277" y="2771770"/>
                  </a:moveTo>
                  <a:lnTo>
                    <a:pt x="66746" y="2771770"/>
                  </a:lnTo>
                  <a:lnTo>
                    <a:pt x="62101" y="2771309"/>
                  </a:lnTo>
                  <a:lnTo>
                    <a:pt x="24240" y="2754157"/>
                  </a:lnTo>
                  <a:lnTo>
                    <a:pt x="2287" y="2718866"/>
                  </a:lnTo>
                  <a:lnTo>
                    <a:pt x="0" y="2705025"/>
                  </a:lnTo>
                  <a:lnTo>
                    <a:pt x="0" y="2700337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62277" y="0"/>
                  </a:lnTo>
                  <a:lnTo>
                    <a:pt x="3601175" y="14636"/>
                  </a:lnTo>
                  <a:lnTo>
                    <a:pt x="3625381" y="48425"/>
                  </a:lnTo>
                  <a:lnTo>
                    <a:pt x="3629024" y="66744"/>
                  </a:lnTo>
                  <a:lnTo>
                    <a:pt x="3629024" y="2705025"/>
                  </a:lnTo>
                  <a:lnTo>
                    <a:pt x="3614378" y="2743920"/>
                  </a:lnTo>
                  <a:lnTo>
                    <a:pt x="3580590" y="2768119"/>
                  </a:lnTo>
                  <a:lnTo>
                    <a:pt x="3566923" y="2771309"/>
                  </a:lnTo>
                  <a:lnTo>
                    <a:pt x="3562277" y="277177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0062" y="3833809"/>
              <a:ext cx="3629025" cy="2771775"/>
            </a:xfrm>
            <a:custGeom>
              <a:avLst/>
              <a:gdLst/>
              <a:ahLst/>
              <a:cxnLst/>
              <a:rect l="l" t="t" r="r" b="b"/>
              <a:pathLst>
                <a:path w="3629025" h="2771775">
                  <a:moveTo>
                    <a:pt x="0" y="27003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94"/>
                  </a:lnTo>
                  <a:lnTo>
                    <a:pt x="3642" y="48425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9433" y="35639"/>
                  </a:lnTo>
                  <a:lnTo>
                    <a:pt x="12039" y="31742"/>
                  </a:lnTo>
                  <a:lnTo>
                    <a:pt x="14645" y="27840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3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57587" y="0"/>
                  </a:lnTo>
                  <a:lnTo>
                    <a:pt x="3562277" y="0"/>
                  </a:lnTo>
                  <a:lnTo>
                    <a:pt x="3566923" y="456"/>
                  </a:lnTo>
                  <a:lnTo>
                    <a:pt x="3571523" y="1367"/>
                  </a:lnTo>
                  <a:lnTo>
                    <a:pt x="3576123" y="2283"/>
                  </a:lnTo>
                  <a:lnTo>
                    <a:pt x="3580590" y="3636"/>
                  </a:lnTo>
                  <a:lnTo>
                    <a:pt x="3584924" y="5432"/>
                  </a:lnTo>
                  <a:lnTo>
                    <a:pt x="3589257" y="7222"/>
                  </a:lnTo>
                  <a:lnTo>
                    <a:pt x="3608100" y="20919"/>
                  </a:lnTo>
                  <a:lnTo>
                    <a:pt x="3611417" y="24235"/>
                  </a:lnTo>
                  <a:lnTo>
                    <a:pt x="3614378" y="27840"/>
                  </a:lnTo>
                  <a:lnTo>
                    <a:pt x="3616985" y="31742"/>
                  </a:lnTo>
                  <a:lnTo>
                    <a:pt x="3619590" y="35639"/>
                  </a:lnTo>
                  <a:lnTo>
                    <a:pt x="3621791" y="39755"/>
                  </a:lnTo>
                  <a:lnTo>
                    <a:pt x="3623586" y="44090"/>
                  </a:lnTo>
                  <a:lnTo>
                    <a:pt x="3625381" y="48425"/>
                  </a:lnTo>
                  <a:lnTo>
                    <a:pt x="3626736" y="52894"/>
                  </a:lnTo>
                  <a:lnTo>
                    <a:pt x="3627651" y="57493"/>
                  </a:lnTo>
                  <a:lnTo>
                    <a:pt x="3628567" y="62098"/>
                  </a:lnTo>
                  <a:lnTo>
                    <a:pt x="3629024" y="66744"/>
                  </a:lnTo>
                  <a:lnTo>
                    <a:pt x="3629024" y="71437"/>
                  </a:lnTo>
                  <a:lnTo>
                    <a:pt x="3629024" y="2700337"/>
                  </a:lnTo>
                  <a:lnTo>
                    <a:pt x="3629024" y="2705025"/>
                  </a:lnTo>
                  <a:lnTo>
                    <a:pt x="3628567" y="2709667"/>
                  </a:lnTo>
                  <a:lnTo>
                    <a:pt x="3627651" y="2714266"/>
                  </a:lnTo>
                  <a:lnTo>
                    <a:pt x="3626736" y="2718866"/>
                  </a:lnTo>
                  <a:lnTo>
                    <a:pt x="3625381" y="2723336"/>
                  </a:lnTo>
                  <a:lnTo>
                    <a:pt x="3623586" y="2727665"/>
                  </a:lnTo>
                  <a:lnTo>
                    <a:pt x="3621791" y="2731995"/>
                  </a:lnTo>
                  <a:lnTo>
                    <a:pt x="3593374" y="2762328"/>
                  </a:lnTo>
                  <a:lnTo>
                    <a:pt x="3571523" y="2770393"/>
                  </a:lnTo>
                  <a:lnTo>
                    <a:pt x="3566923" y="2771309"/>
                  </a:lnTo>
                  <a:lnTo>
                    <a:pt x="3562277" y="2771770"/>
                  </a:lnTo>
                  <a:lnTo>
                    <a:pt x="3557587" y="2771774"/>
                  </a:lnTo>
                  <a:lnTo>
                    <a:pt x="71437" y="2771774"/>
                  </a:lnTo>
                  <a:lnTo>
                    <a:pt x="31748" y="2759724"/>
                  </a:lnTo>
                  <a:lnTo>
                    <a:pt x="5437" y="2727665"/>
                  </a:lnTo>
                  <a:lnTo>
                    <a:pt x="3642" y="2723336"/>
                  </a:lnTo>
                  <a:lnTo>
                    <a:pt x="2287" y="2718866"/>
                  </a:lnTo>
                  <a:lnTo>
                    <a:pt x="1372" y="2714266"/>
                  </a:lnTo>
                  <a:lnTo>
                    <a:pt x="457" y="2709667"/>
                  </a:lnTo>
                  <a:lnTo>
                    <a:pt x="0" y="2705025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09587" y="4257675"/>
              <a:ext cx="47625" cy="561975"/>
            </a:xfrm>
            <a:custGeom>
              <a:avLst/>
              <a:gdLst/>
              <a:ahLst/>
              <a:cxnLst/>
              <a:rect l="l" t="t" r="r" b="b"/>
              <a:pathLst>
                <a:path w="47625" h="561975">
                  <a:moveTo>
                    <a:pt x="47625" y="535000"/>
                  </a:moveTo>
                  <a:lnTo>
                    <a:pt x="26974" y="514350"/>
                  </a:lnTo>
                  <a:lnTo>
                    <a:pt x="20662" y="514350"/>
                  </a:lnTo>
                  <a:lnTo>
                    <a:pt x="0" y="535000"/>
                  </a:lnTo>
                  <a:lnTo>
                    <a:pt x="0" y="541324"/>
                  </a:lnTo>
                  <a:lnTo>
                    <a:pt x="20662" y="561975"/>
                  </a:lnTo>
                  <a:lnTo>
                    <a:pt x="26974" y="561975"/>
                  </a:lnTo>
                  <a:lnTo>
                    <a:pt x="47625" y="541324"/>
                  </a:lnTo>
                  <a:lnTo>
                    <a:pt x="47625" y="538162"/>
                  </a:lnTo>
                  <a:lnTo>
                    <a:pt x="47625" y="535000"/>
                  </a:lnTo>
                  <a:close/>
                </a:path>
                <a:path w="47625" h="561975">
                  <a:moveTo>
                    <a:pt x="47625" y="277837"/>
                  </a:moveTo>
                  <a:lnTo>
                    <a:pt x="26974" y="257175"/>
                  </a:lnTo>
                  <a:lnTo>
                    <a:pt x="20662" y="257175"/>
                  </a:lnTo>
                  <a:lnTo>
                    <a:pt x="0" y="277837"/>
                  </a:lnTo>
                  <a:lnTo>
                    <a:pt x="0" y="284137"/>
                  </a:lnTo>
                  <a:lnTo>
                    <a:pt x="20662" y="304800"/>
                  </a:lnTo>
                  <a:lnTo>
                    <a:pt x="26974" y="304800"/>
                  </a:lnTo>
                  <a:lnTo>
                    <a:pt x="47625" y="284137"/>
                  </a:lnTo>
                  <a:lnTo>
                    <a:pt x="47625" y="280987"/>
                  </a:lnTo>
                  <a:lnTo>
                    <a:pt x="47625" y="277837"/>
                  </a:lnTo>
                  <a:close/>
                </a:path>
                <a:path w="47625" h="56197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90549" y="3858327"/>
            <a:ext cx="1498600" cy="103124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dirty="0" sz="1200" spc="165">
                <a:solidFill>
                  <a:srgbClr val="1A1A1A"/>
                </a:solidFill>
                <a:latin typeface="Segoe UI Symbol"/>
                <a:cs typeface="Segoe UI Symbol"/>
              </a:rPr>
              <a:t>📊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평가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지표</a:t>
            </a:r>
            <a:endParaRPr sz="1150">
              <a:latin typeface="맑은 고딕"/>
              <a:cs typeface="맑은 고딕"/>
            </a:endParaRPr>
          </a:p>
          <a:p>
            <a:pPr marL="180340" marR="30480">
              <a:lnSpc>
                <a:spcPts val="2030"/>
              </a:lnSpc>
            </a:pPr>
            <a:r>
              <a:rPr dirty="0" sz="1100" spc="-215" b="1">
                <a:solidFill>
                  <a:srgbClr val="444444"/>
                </a:solidFill>
                <a:latin typeface="맑은 고딕"/>
                <a:cs typeface="맑은 고딕"/>
              </a:rPr>
              <a:t>실패</a:t>
            </a:r>
            <a:r>
              <a:rPr dirty="0" sz="1100" spc="-114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00" spc="-165" b="1">
                <a:solidFill>
                  <a:srgbClr val="444444"/>
                </a:solidFill>
                <a:latin typeface="맑은 고딕"/>
                <a:cs typeface="맑은 고딕"/>
              </a:rPr>
              <a:t>지표</a:t>
            </a:r>
            <a:r>
              <a:rPr dirty="0" sz="1100" spc="-165" b="1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3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baseline="-15432" sz="1350" spc="-67">
                <a:solidFill>
                  <a:srgbClr val="444444"/>
                </a:solidFill>
                <a:latin typeface="Noto Sans KR"/>
                <a:cs typeface="Noto Sans KR"/>
              </a:rPr>
              <a:t>i</a:t>
            </a:r>
            <a:r>
              <a:rPr dirty="0" baseline="-15432" sz="1350" spc="-7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&gt;</a:t>
            </a:r>
            <a:r>
              <a:rPr dirty="0" sz="110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500s </a:t>
            </a:r>
            <a:r>
              <a:rPr dirty="0" sz="1100" spc="-175" b="1">
                <a:solidFill>
                  <a:srgbClr val="444444"/>
                </a:solidFill>
                <a:latin typeface="맑은 고딕"/>
                <a:cs typeface="맑은 고딕"/>
              </a:rPr>
              <a:t>실패율</a:t>
            </a:r>
            <a:r>
              <a:rPr dirty="0" sz="1100" spc="-175" b="1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3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Times New Roman"/>
                <a:cs typeface="Times New Roman"/>
              </a:rPr>
              <a:t>ρ̂</a:t>
            </a:r>
            <a:r>
              <a:rPr dirty="0" sz="950" spc="-25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=</a:t>
            </a:r>
            <a:r>
              <a:rPr dirty="0" sz="1100" spc="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05">
                <a:solidFill>
                  <a:srgbClr val="444444"/>
                </a:solidFill>
                <a:latin typeface="Arial"/>
                <a:cs typeface="Arial"/>
              </a:rPr>
              <a:t>Σ</a:t>
            </a:r>
            <a:r>
              <a:rPr dirty="0" sz="110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F</a:t>
            </a:r>
            <a:r>
              <a:rPr dirty="0" baseline="-15432" sz="1350">
                <a:solidFill>
                  <a:srgbClr val="444444"/>
                </a:solidFill>
                <a:latin typeface="Noto Sans KR"/>
                <a:cs typeface="Noto Sans KR"/>
              </a:rPr>
              <a:t>i</a:t>
            </a:r>
            <a:r>
              <a:rPr dirty="0" baseline="-15432" sz="1350" spc="7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75">
                <a:solidFill>
                  <a:srgbClr val="444444"/>
                </a:solidFill>
                <a:latin typeface="Arial"/>
                <a:cs typeface="Arial"/>
              </a:rPr>
              <a:t>/</a:t>
            </a:r>
            <a:r>
              <a:rPr dirty="0" sz="1100" spc="-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444444"/>
                </a:solidFill>
                <a:latin typeface="Noto Sans KR"/>
                <a:cs typeface="Noto Sans KR"/>
              </a:rPr>
              <a:t>N</a:t>
            </a:r>
            <a:r>
              <a:rPr dirty="0" sz="1100" spc="50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65" b="1">
                <a:solidFill>
                  <a:srgbClr val="444444"/>
                </a:solidFill>
                <a:latin typeface="맑은 고딕"/>
                <a:cs typeface="맑은 고딕"/>
              </a:rPr>
              <a:t>보조</a:t>
            </a:r>
            <a:r>
              <a:rPr dirty="0" sz="1100" spc="-165" b="1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25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생산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444444"/>
                </a:solidFill>
                <a:latin typeface="휴먼아미체"/>
                <a:cs typeface="휴먼아미체"/>
              </a:rPr>
              <a:t>달성률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4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45">
                <a:solidFill>
                  <a:srgbClr val="444444"/>
                </a:solidFill>
                <a:latin typeface="Noto Sans KR"/>
                <a:cs typeface="Noto Sans KR"/>
              </a:rPr>
              <a:t>TMR</a:t>
            </a:r>
            <a:r>
              <a:rPr dirty="0" sz="1100" spc="-45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229099" y="3829047"/>
            <a:ext cx="3648075" cy="2781300"/>
            <a:chOff x="4229099" y="3829047"/>
            <a:chExt cx="3648075" cy="2781300"/>
          </a:xfrm>
        </p:grpSpPr>
        <p:sp>
          <p:nvSpPr>
            <p:cNvPr id="28" name="object 28" descr=""/>
            <p:cNvSpPr/>
            <p:nvPr/>
          </p:nvSpPr>
          <p:spPr>
            <a:xfrm>
              <a:off x="4233861" y="3833809"/>
              <a:ext cx="3638550" cy="2771775"/>
            </a:xfrm>
            <a:custGeom>
              <a:avLst/>
              <a:gdLst/>
              <a:ahLst/>
              <a:cxnLst/>
              <a:rect l="l" t="t" r="r" b="b"/>
              <a:pathLst>
                <a:path w="3638550" h="2771775">
                  <a:moveTo>
                    <a:pt x="3571802" y="2771770"/>
                  </a:moveTo>
                  <a:lnTo>
                    <a:pt x="66746" y="2771770"/>
                  </a:lnTo>
                  <a:lnTo>
                    <a:pt x="62100" y="2771309"/>
                  </a:lnTo>
                  <a:lnTo>
                    <a:pt x="24240" y="2754157"/>
                  </a:lnTo>
                  <a:lnTo>
                    <a:pt x="2287" y="2718866"/>
                  </a:lnTo>
                  <a:lnTo>
                    <a:pt x="0" y="2705025"/>
                  </a:lnTo>
                  <a:lnTo>
                    <a:pt x="0" y="2700337"/>
                  </a:lnTo>
                  <a:lnTo>
                    <a:pt x="0" y="66744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71802" y="0"/>
                  </a:lnTo>
                  <a:lnTo>
                    <a:pt x="3610700" y="14636"/>
                  </a:lnTo>
                  <a:lnTo>
                    <a:pt x="3634906" y="48425"/>
                  </a:lnTo>
                  <a:lnTo>
                    <a:pt x="3638549" y="66744"/>
                  </a:lnTo>
                  <a:lnTo>
                    <a:pt x="3638549" y="2705025"/>
                  </a:lnTo>
                  <a:lnTo>
                    <a:pt x="3623904" y="2743920"/>
                  </a:lnTo>
                  <a:lnTo>
                    <a:pt x="3590115" y="2768119"/>
                  </a:lnTo>
                  <a:lnTo>
                    <a:pt x="3576447" y="2771309"/>
                  </a:lnTo>
                  <a:lnTo>
                    <a:pt x="3571802" y="277177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33861" y="3833809"/>
              <a:ext cx="3638550" cy="2771775"/>
            </a:xfrm>
            <a:custGeom>
              <a:avLst/>
              <a:gdLst/>
              <a:ahLst/>
              <a:cxnLst/>
              <a:rect l="l" t="t" r="r" b="b"/>
              <a:pathLst>
                <a:path w="3638550" h="2771775">
                  <a:moveTo>
                    <a:pt x="0" y="270033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8"/>
                  </a:lnTo>
                  <a:lnTo>
                    <a:pt x="12038" y="31742"/>
                  </a:lnTo>
                  <a:lnTo>
                    <a:pt x="14645" y="27840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899" y="2283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67112" y="0"/>
                  </a:lnTo>
                  <a:lnTo>
                    <a:pt x="3571802" y="0"/>
                  </a:lnTo>
                  <a:lnTo>
                    <a:pt x="3576448" y="456"/>
                  </a:lnTo>
                  <a:lnTo>
                    <a:pt x="3581048" y="1367"/>
                  </a:lnTo>
                  <a:lnTo>
                    <a:pt x="3585649" y="2283"/>
                  </a:lnTo>
                  <a:lnTo>
                    <a:pt x="3590115" y="3636"/>
                  </a:lnTo>
                  <a:lnTo>
                    <a:pt x="3594449" y="5432"/>
                  </a:lnTo>
                  <a:lnTo>
                    <a:pt x="3598783" y="7222"/>
                  </a:lnTo>
                  <a:lnTo>
                    <a:pt x="3617626" y="20919"/>
                  </a:lnTo>
                  <a:lnTo>
                    <a:pt x="3620942" y="24235"/>
                  </a:lnTo>
                  <a:lnTo>
                    <a:pt x="3623904" y="27840"/>
                  </a:lnTo>
                  <a:lnTo>
                    <a:pt x="3626510" y="31742"/>
                  </a:lnTo>
                  <a:lnTo>
                    <a:pt x="3629116" y="35639"/>
                  </a:lnTo>
                  <a:lnTo>
                    <a:pt x="3638549" y="66744"/>
                  </a:lnTo>
                  <a:lnTo>
                    <a:pt x="3638549" y="71437"/>
                  </a:lnTo>
                  <a:lnTo>
                    <a:pt x="3638549" y="2700337"/>
                  </a:lnTo>
                  <a:lnTo>
                    <a:pt x="3638549" y="2705025"/>
                  </a:lnTo>
                  <a:lnTo>
                    <a:pt x="3638092" y="2709667"/>
                  </a:lnTo>
                  <a:lnTo>
                    <a:pt x="3637176" y="2714266"/>
                  </a:lnTo>
                  <a:lnTo>
                    <a:pt x="3636261" y="2718866"/>
                  </a:lnTo>
                  <a:lnTo>
                    <a:pt x="3634906" y="2723336"/>
                  </a:lnTo>
                  <a:lnTo>
                    <a:pt x="3633111" y="2727665"/>
                  </a:lnTo>
                  <a:lnTo>
                    <a:pt x="3631316" y="2731995"/>
                  </a:lnTo>
                  <a:lnTo>
                    <a:pt x="3629116" y="2736116"/>
                  </a:lnTo>
                  <a:lnTo>
                    <a:pt x="3626510" y="2740018"/>
                  </a:lnTo>
                  <a:lnTo>
                    <a:pt x="3623904" y="2743920"/>
                  </a:lnTo>
                  <a:lnTo>
                    <a:pt x="3590115" y="2768119"/>
                  </a:lnTo>
                  <a:lnTo>
                    <a:pt x="3581048" y="2770393"/>
                  </a:lnTo>
                  <a:lnTo>
                    <a:pt x="3576447" y="2771309"/>
                  </a:lnTo>
                  <a:lnTo>
                    <a:pt x="3571802" y="2771770"/>
                  </a:lnTo>
                  <a:lnTo>
                    <a:pt x="3567112" y="2771774"/>
                  </a:lnTo>
                  <a:lnTo>
                    <a:pt x="71437" y="2771774"/>
                  </a:lnTo>
                  <a:lnTo>
                    <a:pt x="31748" y="2759724"/>
                  </a:lnTo>
                  <a:lnTo>
                    <a:pt x="5437" y="2727665"/>
                  </a:lnTo>
                  <a:lnTo>
                    <a:pt x="3642" y="2723336"/>
                  </a:lnTo>
                  <a:lnTo>
                    <a:pt x="2287" y="2718866"/>
                  </a:lnTo>
                  <a:lnTo>
                    <a:pt x="1372" y="2714266"/>
                  </a:lnTo>
                  <a:lnTo>
                    <a:pt x="457" y="2709667"/>
                  </a:lnTo>
                  <a:lnTo>
                    <a:pt x="0" y="2705025"/>
                  </a:lnTo>
                  <a:lnTo>
                    <a:pt x="0" y="270033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352875" y="3928017"/>
            <a:ext cx="868680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>
                <a:solidFill>
                  <a:srgbClr val="1A1A1A"/>
                </a:solidFill>
                <a:latin typeface="Segoe UI Symbol"/>
                <a:cs typeface="Segoe UI Symbol"/>
              </a:rPr>
              <a:t>🌀</a:t>
            </a:r>
            <a:r>
              <a:rPr dirty="0" sz="1200" spc="-2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희소성</a:t>
            </a:r>
            <a:r>
              <a:rPr dirty="0" sz="1150" spc="-10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1A1A1A"/>
                </a:solidFill>
                <a:latin typeface="맑은 고딕"/>
                <a:cs typeface="맑은 고딕"/>
              </a:rPr>
              <a:t>스윕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4362449" y="4190996"/>
            <a:ext cx="3381375" cy="295275"/>
          </a:xfrm>
          <a:custGeom>
            <a:avLst/>
            <a:gdLst/>
            <a:ahLst/>
            <a:cxnLst/>
            <a:rect l="l" t="t" r="r" b="b"/>
            <a:pathLst>
              <a:path w="3381375" h="295275">
                <a:moveTo>
                  <a:pt x="3348326" y="295270"/>
                </a:moveTo>
                <a:lnTo>
                  <a:pt x="33047" y="295270"/>
                </a:lnTo>
                <a:lnTo>
                  <a:pt x="28187" y="294302"/>
                </a:lnTo>
                <a:lnTo>
                  <a:pt x="966" y="267077"/>
                </a:lnTo>
                <a:lnTo>
                  <a:pt x="0" y="262221"/>
                </a:lnTo>
                <a:lnTo>
                  <a:pt x="0" y="257174"/>
                </a:lnTo>
                <a:lnTo>
                  <a:pt x="0" y="33044"/>
                </a:lnTo>
                <a:lnTo>
                  <a:pt x="28187" y="962"/>
                </a:lnTo>
                <a:lnTo>
                  <a:pt x="33047" y="0"/>
                </a:lnTo>
                <a:lnTo>
                  <a:pt x="3348326" y="0"/>
                </a:lnTo>
                <a:lnTo>
                  <a:pt x="3380407" y="28179"/>
                </a:lnTo>
                <a:lnTo>
                  <a:pt x="3381374" y="33044"/>
                </a:lnTo>
                <a:lnTo>
                  <a:pt x="3381374" y="262221"/>
                </a:lnTo>
                <a:lnTo>
                  <a:pt x="3353186" y="294302"/>
                </a:lnTo>
                <a:lnTo>
                  <a:pt x="3348326" y="295270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4429075" y="4219676"/>
            <a:ext cx="68834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latin typeface="Noto Sans KR"/>
                <a:cs typeface="Noto Sans KR"/>
              </a:rPr>
              <a:t>4</a:t>
            </a:r>
            <a:r>
              <a:rPr dirty="0" sz="1000" spc="-10">
                <a:latin typeface="Noto Sans KR"/>
                <a:cs typeface="Noto Sans KR"/>
              </a:rPr>
              <a:t> </a:t>
            </a:r>
            <a:r>
              <a:rPr dirty="0" sz="1000" spc="-45">
                <a:latin typeface="Noto Sans KR"/>
                <a:cs typeface="Noto Sans KR"/>
              </a:rPr>
              <a:t>lots</a:t>
            </a:r>
            <a:r>
              <a:rPr dirty="0" sz="1000" spc="-10">
                <a:latin typeface="Noto Sans KR"/>
                <a:cs typeface="Noto Sans KR"/>
              </a:rPr>
              <a:t> </a:t>
            </a:r>
            <a:r>
              <a:rPr dirty="0" sz="1000" spc="-10">
                <a:latin typeface="Arial"/>
                <a:cs typeface="Arial"/>
              </a:rPr>
              <a:t>(</a:t>
            </a:r>
            <a:r>
              <a:rPr dirty="0" sz="1000" spc="-10">
                <a:latin typeface="Noto Sans KR"/>
                <a:cs typeface="Noto Sans KR"/>
              </a:rPr>
              <a:t>1</a:t>
            </a:r>
            <a:r>
              <a:rPr dirty="0" sz="1000" spc="-10">
                <a:latin typeface="Arial"/>
                <a:cs typeface="Arial"/>
              </a:rPr>
              <a:t>.</a:t>
            </a:r>
            <a:r>
              <a:rPr dirty="0" sz="1000" spc="-10">
                <a:latin typeface="Noto Sans KR"/>
                <a:cs typeface="Noto Sans KR"/>
              </a:rPr>
              <a:t>6%</a:t>
            </a:r>
            <a:r>
              <a:rPr dirty="0" sz="1000" spc="-1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7229474" y="4248146"/>
            <a:ext cx="419100" cy="180975"/>
          </a:xfrm>
          <a:custGeom>
            <a:avLst/>
            <a:gdLst/>
            <a:ahLst/>
            <a:cxnLst/>
            <a:rect l="l" t="t" r="r" b="b"/>
            <a:pathLst>
              <a:path w="419100" h="180975">
                <a:moveTo>
                  <a:pt x="394314" y="180970"/>
                </a:moveTo>
                <a:lnTo>
                  <a:pt x="24785" y="180970"/>
                </a:lnTo>
                <a:lnTo>
                  <a:pt x="21140" y="180240"/>
                </a:lnTo>
                <a:lnTo>
                  <a:pt x="0" y="156181"/>
                </a:lnTo>
                <a:lnTo>
                  <a:pt x="0" y="152399"/>
                </a:lnTo>
                <a:lnTo>
                  <a:pt x="0" y="24785"/>
                </a:lnTo>
                <a:lnTo>
                  <a:pt x="24785" y="0"/>
                </a:lnTo>
                <a:lnTo>
                  <a:pt x="394314" y="0"/>
                </a:lnTo>
                <a:lnTo>
                  <a:pt x="419099" y="24785"/>
                </a:lnTo>
                <a:lnTo>
                  <a:pt x="419099" y="156181"/>
                </a:lnTo>
                <a:lnTo>
                  <a:pt x="397959" y="180240"/>
                </a:lnTo>
                <a:lnTo>
                  <a:pt x="394314" y="180970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293570" y="4261167"/>
            <a:ext cx="28829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50" b="1">
                <a:solidFill>
                  <a:srgbClr val="444444"/>
                </a:solidFill>
                <a:latin typeface="맑은 고딕"/>
                <a:cs typeface="맑은 고딕"/>
              </a:rPr>
              <a:t>저희소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4362449" y="4533896"/>
            <a:ext cx="3381375" cy="295275"/>
          </a:xfrm>
          <a:custGeom>
            <a:avLst/>
            <a:gdLst/>
            <a:ahLst/>
            <a:cxnLst/>
            <a:rect l="l" t="t" r="r" b="b"/>
            <a:pathLst>
              <a:path w="3381375" h="295275">
                <a:moveTo>
                  <a:pt x="3348326" y="295270"/>
                </a:moveTo>
                <a:lnTo>
                  <a:pt x="33047" y="295270"/>
                </a:lnTo>
                <a:lnTo>
                  <a:pt x="28187" y="294302"/>
                </a:lnTo>
                <a:lnTo>
                  <a:pt x="966" y="267077"/>
                </a:lnTo>
                <a:lnTo>
                  <a:pt x="0" y="262221"/>
                </a:lnTo>
                <a:lnTo>
                  <a:pt x="0" y="257174"/>
                </a:lnTo>
                <a:lnTo>
                  <a:pt x="0" y="33040"/>
                </a:lnTo>
                <a:lnTo>
                  <a:pt x="28187" y="962"/>
                </a:lnTo>
                <a:lnTo>
                  <a:pt x="33047" y="0"/>
                </a:lnTo>
                <a:lnTo>
                  <a:pt x="3348326" y="0"/>
                </a:lnTo>
                <a:lnTo>
                  <a:pt x="3380407" y="28174"/>
                </a:lnTo>
                <a:lnTo>
                  <a:pt x="3381374" y="33040"/>
                </a:lnTo>
                <a:lnTo>
                  <a:pt x="3381374" y="262221"/>
                </a:lnTo>
                <a:lnTo>
                  <a:pt x="3353186" y="294302"/>
                </a:lnTo>
                <a:lnTo>
                  <a:pt x="3348326" y="295270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4429075" y="4562576"/>
            <a:ext cx="751840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30">
                <a:latin typeface="Noto Sans KR"/>
                <a:cs typeface="Noto Sans KR"/>
              </a:rPr>
              <a:t>12</a:t>
            </a:r>
            <a:r>
              <a:rPr dirty="0" sz="1000" spc="-10">
                <a:latin typeface="Noto Sans KR"/>
                <a:cs typeface="Noto Sans KR"/>
              </a:rPr>
              <a:t> </a:t>
            </a:r>
            <a:r>
              <a:rPr dirty="0" sz="1000" spc="-45">
                <a:latin typeface="Noto Sans KR"/>
                <a:cs typeface="Noto Sans KR"/>
              </a:rPr>
              <a:t>lots</a:t>
            </a:r>
            <a:r>
              <a:rPr dirty="0" sz="1000" spc="-5">
                <a:latin typeface="Noto Sans KR"/>
                <a:cs typeface="Noto Sans KR"/>
              </a:rPr>
              <a:t> </a:t>
            </a:r>
            <a:r>
              <a:rPr dirty="0" sz="1000" spc="-10">
                <a:latin typeface="Arial"/>
                <a:cs typeface="Arial"/>
              </a:rPr>
              <a:t>(</a:t>
            </a:r>
            <a:r>
              <a:rPr dirty="0" sz="1000" spc="-10">
                <a:latin typeface="Noto Sans KR"/>
                <a:cs typeface="Noto Sans KR"/>
              </a:rPr>
              <a:t>4</a:t>
            </a:r>
            <a:r>
              <a:rPr dirty="0" sz="1000" spc="-10">
                <a:latin typeface="Arial"/>
                <a:cs typeface="Arial"/>
              </a:rPr>
              <a:t>.</a:t>
            </a:r>
            <a:r>
              <a:rPr dirty="0" sz="1000" spc="-10">
                <a:latin typeface="Noto Sans KR"/>
                <a:cs typeface="Noto Sans KR"/>
              </a:rPr>
              <a:t>7%</a:t>
            </a:r>
            <a:r>
              <a:rPr dirty="0" sz="1000" spc="-1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229474" y="4591046"/>
            <a:ext cx="419100" cy="180975"/>
          </a:xfrm>
          <a:custGeom>
            <a:avLst/>
            <a:gdLst/>
            <a:ahLst/>
            <a:cxnLst/>
            <a:rect l="l" t="t" r="r" b="b"/>
            <a:pathLst>
              <a:path w="419100" h="180975">
                <a:moveTo>
                  <a:pt x="394314" y="180970"/>
                </a:moveTo>
                <a:lnTo>
                  <a:pt x="24785" y="180970"/>
                </a:lnTo>
                <a:lnTo>
                  <a:pt x="21140" y="180240"/>
                </a:lnTo>
                <a:lnTo>
                  <a:pt x="0" y="156181"/>
                </a:lnTo>
                <a:lnTo>
                  <a:pt x="0" y="152399"/>
                </a:lnTo>
                <a:lnTo>
                  <a:pt x="0" y="24780"/>
                </a:lnTo>
                <a:lnTo>
                  <a:pt x="24785" y="0"/>
                </a:lnTo>
                <a:lnTo>
                  <a:pt x="394314" y="0"/>
                </a:lnTo>
                <a:lnTo>
                  <a:pt x="419099" y="24780"/>
                </a:lnTo>
                <a:lnTo>
                  <a:pt x="419099" y="156181"/>
                </a:lnTo>
                <a:lnTo>
                  <a:pt x="397959" y="180240"/>
                </a:lnTo>
                <a:lnTo>
                  <a:pt x="394314" y="180970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7293570" y="4604067"/>
            <a:ext cx="28829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50" b="1">
                <a:solidFill>
                  <a:srgbClr val="444444"/>
                </a:solidFill>
                <a:latin typeface="맑은 고딕"/>
                <a:cs typeface="맑은 고딕"/>
              </a:rPr>
              <a:t>중희소</a:t>
            </a:r>
            <a:endParaRPr sz="850">
              <a:latin typeface="맑은 고딕"/>
              <a:cs typeface="맑은 고딕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4362449" y="4876796"/>
            <a:ext cx="3381375" cy="314325"/>
            <a:chOff x="4362449" y="4876796"/>
            <a:chExt cx="3381375" cy="314325"/>
          </a:xfrm>
        </p:grpSpPr>
        <p:sp>
          <p:nvSpPr>
            <p:cNvPr id="40" name="object 40" descr=""/>
            <p:cNvSpPr/>
            <p:nvPr/>
          </p:nvSpPr>
          <p:spPr>
            <a:xfrm>
              <a:off x="4367211" y="4881559"/>
              <a:ext cx="3371850" cy="304800"/>
            </a:xfrm>
            <a:custGeom>
              <a:avLst/>
              <a:gdLst/>
              <a:ahLst/>
              <a:cxnLst/>
              <a:rect l="l" t="t" r="r" b="b"/>
              <a:pathLst>
                <a:path w="3371850" h="304800">
                  <a:moveTo>
                    <a:pt x="3342932" y="304795"/>
                  </a:moveTo>
                  <a:lnTo>
                    <a:pt x="28916" y="304795"/>
                  </a:lnTo>
                  <a:lnTo>
                    <a:pt x="24663" y="303944"/>
                  </a:lnTo>
                  <a:lnTo>
                    <a:pt x="0" y="275876"/>
                  </a:lnTo>
                  <a:lnTo>
                    <a:pt x="0" y="271462"/>
                  </a:lnTo>
                  <a:lnTo>
                    <a:pt x="0" y="28910"/>
                  </a:lnTo>
                  <a:lnTo>
                    <a:pt x="28916" y="0"/>
                  </a:lnTo>
                  <a:lnTo>
                    <a:pt x="3342932" y="0"/>
                  </a:lnTo>
                  <a:lnTo>
                    <a:pt x="3371849" y="28910"/>
                  </a:lnTo>
                  <a:lnTo>
                    <a:pt x="3371849" y="275876"/>
                  </a:lnTo>
                  <a:lnTo>
                    <a:pt x="3347184" y="303944"/>
                  </a:lnTo>
                  <a:lnTo>
                    <a:pt x="3342932" y="304795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367211" y="4881559"/>
              <a:ext cx="3371850" cy="304800"/>
            </a:xfrm>
            <a:custGeom>
              <a:avLst/>
              <a:gdLst/>
              <a:ahLst/>
              <a:cxnLst/>
              <a:rect l="l" t="t" r="r" b="b"/>
              <a:pathLst>
                <a:path w="3371850" h="304800">
                  <a:moveTo>
                    <a:pt x="0" y="271462"/>
                  </a:moveTo>
                  <a:lnTo>
                    <a:pt x="0" y="33337"/>
                  </a:lnTo>
                  <a:lnTo>
                    <a:pt x="0" y="28910"/>
                  </a:lnTo>
                  <a:lnTo>
                    <a:pt x="845" y="24654"/>
                  </a:lnTo>
                  <a:lnTo>
                    <a:pt x="2537" y="20566"/>
                  </a:lnTo>
                  <a:lnTo>
                    <a:pt x="4229" y="16483"/>
                  </a:lnTo>
                  <a:lnTo>
                    <a:pt x="6638" y="12878"/>
                  </a:lnTo>
                  <a:lnTo>
                    <a:pt x="9764" y="9757"/>
                  </a:lnTo>
                  <a:lnTo>
                    <a:pt x="12890" y="6627"/>
                  </a:lnTo>
                  <a:lnTo>
                    <a:pt x="16495" y="4218"/>
                  </a:lnTo>
                  <a:lnTo>
                    <a:pt x="20579" y="2529"/>
                  </a:lnTo>
                  <a:lnTo>
                    <a:pt x="24663" y="842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338512" y="0"/>
                  </a:lnTo>
                  <a:lnTo>
                    <a:pt x="3342932" y="0"/>
                  </a:lnTo>
                  <a:lnTo>
                    <a:pt x="3347184" y="842"/>
                  </a:lnTo>
                  <a:lnTo>
                    <a:pt x="3351268" y="2529"/>
                  </a:lnTo>
                  <a:lnTo>
                    <a:pt x="3355352" y="4218"/>
                  </a:lnTo>
                  <a:lnTo>
                    <a:pt x="3358958" y="6627"/>
                  </a:lnTo>
                  <a:lnTo>
                    <a:pt x="3362084" y="9757"/>
                  </a:lnTo>
                  <a:lnTo>
                    <a:pt x="3365210" y="12878"/>
                  </a:lnTo>
                  <a:lnTo>
                    <a:pt x="3371850" y="33337"/>
                  </a:lnTo>
                  <a:lnTo>
                    <a:pt x="3371850" y="271462"/>
                  </a:lnTo>
                  <a:lnTo>
                    <a:pt x="3347184" y="303944"/>
                  </a:lnTo>
                  <a:lnTo>
                    <a:pt x="3338512" y="304799"/>
                  </a:lnTo>
                  <a:lnTo>
                    <a:pt x="33337" y="304799"/>
                  </a:lnTo>
                  <a:lnTo>
                    <a:pt x="28916" y="304795"/>
                  </a:lnTo>
                  <a:lnTo>
                    <a:pt x="24663" y="303944"/>
                  </a:lnTo>
                  <a:lnTo>
                    <a:pt x="20579" y="302251"/>
                  </a:lnTo>
                  <a:lnTo>
                    <a:pt x="16495" y="300558"/>
                  </a:lnTo>
                  <a:lnTo>
                    <a:pt x="0" y="275876"/>
                  </a:lnTo>
                  <a:lnTo>
                    <a:pt x="0" y="27146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4438600" y="4913744"/>
            <a:ext cx="799465" cy="18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30" b="1">
                <a:latin typeface="Noto Sans KR"/>
                <a:cs typeface="Noto Sans KR"/>
              </a:rPr>
              <a:t>20</a:t>
            </a:r>
            <a:r>
              <a:rPr dirty="0" sz="1000" spc="-5" b="1">
                <a:latin typeface="Noto Sans KR"/>
                <a:cs typeface="Noto Sans KR"/>
              </a:rPr>
              <a:t> </a:t>
            </a:r>
            <a:r>
              <a:rPr dirty="0" sz="1000" spc="-50" b="1">
                <a:latin typeface="Noto Sans KR"/>
                <a:cs typeface="Noto Sans KR"/>
              </a:rPr>
              <a:t>lots</a:t>
            </a:r>
            <a:r>
              <a:rPr dirty="0" sz="1000" spc="-5" b="1">
                <a:latin typeface="Noto Sans KR"/>
                <a:cs typeface="Noto Sans KR"/>
              </a:rPr>
              <a:t> </a:t>
            </a:r>
            <a:r>
              <a:rPr dirty="0" sz="1000" spc="-10" b="1">
                <a:latin typeface="Arial"/>
                <a:cs typeface="Arial"/>
              </a:rPr>
              <a:t>(</a:t>
            </a:r>
            <a:r>
              <a:rPr dirty="0" sz="1000" spc="-10" b="1">
                <a:latin typeface="Noto Sans KR"/>
                <a:cs typeface="Noto Sans KR"/>
              </a:rPr>
              <a:t>7</a:t>
            </a:r>
            <a:r>
              <a:rPr dirty="0" sz="1000" spc="-10" b="1">
                <a:latin typeface="Arial"/>
                <a:cs typeface="Arial"/>
              </a:rPr>
              <a:t>.</a:t>
            </a:r>
            <a:r>
              <a:rPr dirty="0" sz="1000" spc="-10" b="1">
                <a:latin typeface="Noto Sans KR"/>
                <a:cs typeface="Noto Sans KR"/>
              </a:rPr>
              <a:t>7%</a:t>
            </a:r>
            <a:r>
              <a:rPr dirty="0" sz="1000" spc="-10" b="1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7305674" y="4943471"/>
            <a:ext cx="333375" cy="180975"/>
          </a:xfrm>
          <a:custGeom>
            <a:avLst/>
            <a:gdLst/>
            <a:ahLst/>
            <a:cxnLst/>
            <a:rect l="l" t="t" r="r" b="b"/>
            <a:pathLst>
              <a:path w="333375" h="180975">
                <a:moveTo>
                  <a:pt x="308589" y="180965"/>
                </a:moveTo>
                <a:lnTo>
                  <a:pt x="24785" y="180965"/>
                </a:lnTo>
                <a:lnTo>
                  <a:pt x="21140" y="180235"/>
                </a:lnTo>
                <a:lnTo>
                  <a:pt x="0" y="156181"/>
                </a:lnTo>
                <a:lnTo>
                  <a:pt x="0" y="152399"/>
                </a:lnTo>
                <a:lnTo>
                  <a:pt x="0" y="24780"/>
                </a:lnTo>
                <a:lnTo>
                  <a:pt x="24785" y="0"/>
                </a:lnTo>
                <a:lnTo>
                  <a:pt x="308589" y="0"/>
                </a:lnTo>
                <a:lnTo>
                  <a:pt x="333374" y="24780"/>
                </a:lnTo>
                <a:lnTo>
                  <a:pt x="333374" y="156181"/>
                </a:lnTo>
                <a:lnTo>
                  <a:pt x="312233" y="180235"/>
                </a:lnTo>
                <a:lnTo>
                  <a:pt x="308589" y="180965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7371705" y="4956492"/>
            <a:ext cx="20066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35" b="1">
                <a:solidFill>
                  <a:srgbClr val="FFFFFF"/>
                </a:solidFill>
                <a:latin typeface="맑은 고딕"/>
                <a:cs typeface="맑은 고딕"/>
              </a:rPr>
              <a:t>주요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8010523" y="942972"/>
            <a:ext cx="3686175" cy="4972050"/>
          </a:xfrm>
          <a:custGeom>
            <a:avLst/>
            <a:gdLst/>
            <a:ahLst/>
            <a:cxnLst/>
            <a:rect l="l" t="t" r="r" b="b"/>
            <a:pathLst>
              <a:path w="3686175" h="4972050">
                <a:moveTo>
                  <a:pt x="3614978" y="4972044"/>
                </a:moveTo>
                <a:lnTo>
                  <a:pt x="71196" y="4972044"/>
                </a:lnTo>
                <a:lnTo>
                  <a:pt x="66241" y="4971556"/>
                </a:lnTo>
                <a:lnTo>
                  <a:pt x="29705" y="4956422"/>
                </a:lnTo>
                <a:lnTo>
                  <a:pt x="3885" y="4920378"/>
                </a:lnTo>
                <a:lnTo>
                  <a:pt x="0" y="4900849"/>
                </a:lnTo>
                <a:lnTo>
                  <a:pt x="0" y="4895849"/>
                </a:lnTo>
                <a:lnTo>
                  <a:pt x="0" y="71195"/>
                </a:lnTo>
                <a:lnTo>
                  <a:pt x="15621" y="29696"/>
                </a:lnTo>
                <a:lnTo>
                  <a:pt x="51661" y="3883"/>
                </a:lnTo>
                <a:lnTo>
                  <a:pt x="71196" y="0"/>
                </a:lnTo>
                <a:lnTo>
                  <a:pt x="3614978" y="0"/>
                </a:lnTo>
                <a:lnTo>
                  <a:pt x="3656467" y="15608"/>
                </a:lnTo>
                <a:lnTo>
                  <a:pt x="3682289" y="51648"/>
                </a:lnTo>
                <a:lnTo>
                  <a:pt x="3686175" y="71195"/>
                </a:lnTo>
                <a:lnTo>
                  <a:pt x="3686175" y="4900849"/>
                </a:lnTo>
                <a:lnTo>
                  <a:pt x="3670551" y="4942340"/>
                </a:lnTo>
                <a:lnTo>
                  <a:pt x="3634512" y="4968156"/>
                </a:lnTo>
                <a:lnTo>
                  <a:pt x="3619932" y="4971556"/>
                </a:lnTo>
                <a:lnTo>
                  <a:pt x="3614978" y="497204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8147099" y="1060992"/>
            <a:ext cx="1142365" cy="2114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240">
                <a:solidFill>
                  <a:srgbClr val="FFFFFF"/>
                </a:solidFill>
                <a:latin typeface="Segoe UI Symbol"/>
                <a:cs typeface="Segoe UI Symbol"/>
              </a:rPr>
              <a:t>🔑</a:t>
            </a:r>
            <a:r>
              <a:rPr dirty="0" sz="120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신뢰성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75" b="1">
                <a:solidFill>
                  <a:srgbClr val="FFFFFF"/>
                </a:solidFill>
                <a:latin typeface="맑은 고딕"/>
                <a:cs typeface="맑은 고딕"/>
              </a:rPr>
              <a:t>프로토콜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147099" y="1360614"/>
            <a:ext cx="23463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디지털</a:t>
            </a:r>
            <a:r>
              <a:rPr dirty="0" sz="1150" spc="-9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트윈은</a:t>
            </a:r>
            <a:r>
              <a:rPr dirty="0" sz="1150" spc="-9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내부적으로</a:t>
            </a:r>
            <a:r>
              <a:rPr dirty="0" sz="1150" spc="-9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80" b="1">
                <a:solidFill>
                  <a:srgbClr val="DF592A"/>
                </a:solidFill>
                <a:latin typeface="맑은 고딕"/>
                <a:cs typeface="맑은 고딕"/>
              </a:rPr>
              <a:t>비결정적</a:t>
            </a:r>
            <a:r>
              <a:rPr dirty="0" sz="1150" spc="-180" b="1">
                <a:solidFill>
                  <a:srgbClr val="BABABA"/>
                </a:solidFill>
                <a:latin typeface="맑은 고딕"/>
                <a:cs typeface="맑은 고딕"/>
              </a:rPr>
              <a:t>이므로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8147099" y="1617789"/>
            <a:ext cx="1647189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단일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시드로는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결과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재현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55" b="1">
                <a:solidFill>
                  <a:srgbClr val="BABABA"/>
                </a:solidFill>
                <a:latin typeface="맑은 고딕"/>
                <a:cs typeface="맑은 고딕"/>
              </a:rPr>
              <a:t>불가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147099" y="2046262"/>
            <a:ext cx="1778000" cy="539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90"/>
              </a:spcBef>
            </a:pPr>
            <a:r>
              <a:rPr dirty="0" sz="1150" b="1">
                <a:solidFill>
                  <a:srgbClr val="FFFFFF"/>
                </a:solidFill>
                <a:latin typeface="Noto Sans KR Black"/>
                <a:cs typeface="Noto Sans KR Black"/>
              </a:rPr>
              <a:t>N</a:t>
            </a:r>
            <a:r>
              <a:rPr dirty="0" sz="1150" spc="-65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150" b="1">
                <a:solidFill>
                  <a:srgbClr val="FFFFFF"/>
                </a:solidFill>
                <a:latin typeface="Noto Sans KR Black"/>
                <a:cs typeface="Noto Sans KR Black"/>
              </a:rPr>
              <a:t>=</a:t>
            </a:r>
            <a:r>
              <a:rPr dirty="0" sz="1150" spc="5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150" b="1">
                <a:solidFill>
                  <a:srgbClr val="FFFFFF"/>
                </a:solidFill>
                <a:latin typeface="Noto Sans KR Black"/>
                <a:cs typeface="Noto Sans KR Black"/>
              </a:rPr>
              <a:t>5</a:t>
            </a:r>
            <a:r>
              <a:rPr dirty="0" sz="1150" spc="10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150" spc="-100" b="1">
                <a:solidFill>
                  <a:srgbClr val="FFFFFF"/>
                </a:solidFill>
                <a:latin typeface="Noto Sans KR Black"/>
                <a:cs typeface="Noto Sans KR Black"/>
              </a:rPr>
              <a:t>독립</a:t>
            </a:r>
            <a:r>
              <a:rPr dirty="0" sz="1150" spc="30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150" spc="-130" b="1">
                <a:solidFill>
                  <a:srgbClr val="FFFFFF"/>
                </a:solidFill>
                <a:latin typeface="Noto Sans KR Black"/>
                <a:cs typeface="Noto Sans KR Black"/>
              </a:rPr>
              <a:t>시드</a:t>
            </a:r>
            <a:r>
              <a:rPr dirty="0" sz="1150" spc="-130" b="1">
                <a:solidFill>
                  <a:srgbClr val="BABABA"/>
                </a:solidFill>
                <a:latin typeface="맑은 고딕"/>
                <a:cs typeface="맑은 고딕"/>
              </a:rPr>
              <a:t>로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각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조건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45" b="1">
                <a:solidFill>
                  <a:srgbClr val="BABABA"/>
                </a:solidFill>
                <a:latin typeface="맑은 고딕"/>
                <a:cs typeface="맑은 고딕"/>
              </a:rPr>
              <a:t>실행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실패율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55" b="1">
                <a:solidFill>
                  <a:srgbClr val="BABABA"/>
                </a:solidFill>
                <a:latin typeface="Noto Sans KR"/>
                <a:cs typeface="Noto Sans KR"/>
              </a:rPr>
              <a:t>·</a:t>
            </a:r>
            <a:r>
              <a:rPr dirty="0" sz="1150" spc="-10" b="1">
                <a:solidFill>
                  <a:srgbClr val="BABABA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분산을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분포로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BABABA"/>
                </a:solidFill>
                <a:latin typeface="맑은 고딕"/>
                <a:cs typeface="맑은 고딕"/>
              </a:rPr>
              <a:t>보고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147099" y="2808768"/>
            <a:ext cx="1699260" cy="5397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통계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BABABA"/>
                </a:solidFill>
                <a:latin typeface="맑은 고딕"/>
                <a:cs typeface="맑은 고딕"/>
              </a:rPr>
              <a:t>검증</a:t>
            </a:r>
            <a:r>
              <a:rPr dirty="0" sz="1200" spc="-25" b="1">
                <a:solidFill>
                  <a:srgbClr val="BABABA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50" spc="-190" b="1">
                <a:solidFill>
                  <a:srgbClr val="FFD060"/>
                </a:solidFill>
                <a:latin typeface="맑은 고딕"/>
                <a:cs typeface="맑은 고딕"/>
              </a:rPr>
              <a:t>이항</a:t>
            </a:r>
            <a:r>
              <a:rPr dirty="0" sz="1150" spc="-105" b="1">
                <a:solidFill>
                  <a:srgbClr val="FFD060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D060"/>
                </a:solidFill>
                <a:latin typeface="맑은 고딕"/>
                <a:cs typeface="맑은 고딕"/>
              </a:rPr>
              <a:t>검정</a:t>
            </a:r>
            <a:r>
              <a:rPr dirty="0" sz="1150" spc="-105" b="1">
                <a:solidFill>
                  <a:srgbClr val="FFD060"/>
                </a:solidFill>
                <a:latin typeface="맑은 고딕"/>
                <a:cs typeface="맑은 고딕"/>
              </a:rPr>
              <a:t> </a:t>
            </a:r>
            <a:r>
              <a:rPr dirty="0" sz="1200" spc="-100" b="1">
                <a:solidFill>
                  <a:srgbClr val="FFD060"/>
                </a:solidFill>
                <a:latin typeface="Arial"/>
                <a:cs typeface="Arial"/>
              </a:rPr>
              <a:t>(</a:t>
            </a:r>
            <a:r>
              <a:rPr dirty="0" sz="1150" spc="-100" b="1">
                <a:solidFill>
                  <a:srgbClr val="FFD060"/>
                </a:solidFill>
                <a:latin typeface="맑은 고딕"/>
                <a:cs typeface="맑은 고딕"/>
              </a:rPr>
              <a:t>단측</a:t>
            </a:r>
            <a:r>
              <a:rPr dirty="0" sz="1200" spc="-100" b="1">
                <a:solidFill>
                  <a:srgbClr val="FFD060"/>
                </a:solidFill>
                <a:latin typeface="Arial"/>
                <a:cs typeface="Arial"/>
              </a:rPr>
              <a:t>,</a:t>
            </a:r>
            <a:r>
              <a:rPr dirty="0" sz="1200" spc="-30" b="1">
                <a:solidFill>
                  <a:srgbClr val="FFD06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D060"/>
                </a:solidFill>
                <a:latin typeface="Noto Sans KR"/>
                <a:cs typeface="Noto Sans KR"/>
              </a:rPr>
              <a:t>H</a:t>
            </a:r>
            <a:r>
              <a:rPr dirty="0" sz="900" spc="-10">
                <a:solidFill>
                  <a:srgbClr val="FFD060"/>
                </a:solidFill>
                <a:latin typeface="Calibri"/>
                <a:cs typeface="Calibri"/>
              </a:rPr>
              <a:t>₀</a:t>
            </a:r>
            <a:r>
              <a:rPr dirty="0" sz="1200" spc="-10" b="1">
                <a:solidFill>
                  <a:srgbClr val="FFD060"/>
                </a:solidFill>
                <a:latin typeface="Arial"/>
                <a:cs typeface="Arial"/>
              </a:rPr>
              <a:t>:</a:t>
            </a:r>
            <a:r>
              <a:rPr dirty="0" sz="1200" spc="-30" b="1">
                <a:solidFill>
                  <a:srgbClr val="FFD06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D060"/>
                </a:solidFill>
                <a:latin typeface="Arial"/>
                <a:cs typeface="Arial"/>
              </a:rPr>
              <a:t>ρ</a:t>
            </a:r>
            <a:r>
              <a:rPr dirty="0" sz="1150" spc="-10" b="1">
                <a:solidFill>
                  <a:srgbClr val="FFD060"/>
                </a:solidFill>
                <a:latin typeface="Noto Sans KR"/>
                <a:cs typeface="Noto Sans KR"/>
              </a:rPr>
              <a:t>=0</a:t>
            </a:r>
            <a:r>
              <a:rPr dirty="0" sz="1200" spc="-10" b="1">
                <a:solidFill>
                  <a:srgbClr val="FFD060"/>
                </a:solidFill>
                <a:latin typeface="Arial"/>
                <a:cs typeface="Arial"/>
              </a:rPr>
              <a:t>.</a:t>
            </a:r>
            <a:r>
              <a:rPr dirty="0" sz="1150" spc="-10" b="1">
                <a:solidFill>
                  <a:srgbClr val="FFD060"/>
                </a:solidFill>
                <a:latin typeface="Noto Sans KR"/>
                <a:cs typeface="Noto Sans KR"/>
              </a:rPr>
              <a:t>60</a:t>
            </a:r>
            <a:r>
              <a:rPr dirty="0" sz="1200" spc="-10" b="1">
                <a:solidFill>
                  <a:srgbClr val="FFD060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8010523" y="6010271"/>
            <a:ext cx="3686175" cy="600075"/>
          </a:xfrm>
          <a:custGeom>
            <a:avLst/>
            <a:gdLst/>
            <a:ahLst/>
            <a:cxnLst/>
            <a:rect l="l" t="t" r="r" b="b"/>
            <a:pathLst>
              <a:path w="3686175" h="600075">
                <a:moveTo>
                  <a:pt x="3623877" y="600070"/>
                </a:moveTo>
                <a:lnTo>
                  <a:pt x="62297" y="600070"/>
                </a:lnTo>
                <a:lnTo>
                  <a:pt x="57960" y="599642"/>
                </a:lnTo>
                <a:lnTo>
                  <a:pt x="22623" y="583629"/>
                </a:lnTo>
                <a:lnTo>
                  <a:pt x="2135" y="550691"/>
                </a:lnTo>
                <a:lnTo>
                  <a:pt x="0" y="537776"/>
                </a:lnTo>
                <a:lnTo>
                  <a:pt x="0" y="533399"/>
                </a:lnTo>
                <a:lnTo>
                  <a:pt x="0" y="62298"/>
                </a:lnTo>
                <a:lnTo>
                  <a:pt x="13668" y="25984"/>
                </a:lnTo>
                <a:lnTo>
                  <a:pt x="45203" y="3399"/>
                </a:lnTo>
                <a:lnTo>
                  <a:pt x="62297" y="0"/>
                </a:lnTo>
                <a:lnTo>
                  <a:pt x="3623877" y="0"/>
                </a:lnTo>
                <a:lnTo>
                  <a:pt x="3660182" y="13664"/>
                </a:lnTo>
                <a:lnTo>
                  <a:pt x="3682774" y="45197"/>
                </a:lnTo>
                <a:lnTo>
                  <a:pt x="3686175" y="62298"/>
                </a:lnTo>
                <a:lnTo>
                  <a:pt x="3686175" y="537776"/>
                </a:lnTo>
                <a:lnTo>
                  <a:pt x="3672505" y="574071"/>
                </a:lnTo>
                <a:lnTo>
                  <a:pt x="3640968" y="596665"/>
                </a:lnTo>
                <a:lnTo>
                  <a:pt x="3628212" y="599642"/>
                </a:lnTo>
                <a:lnTo>
                  <a:pt x="3623877" y="600070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8147099" y="6072995"/>
            <a:ext cx="1558925" cy="4279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12799"/>
              </a:lnSpc>
              <a:spcBef>
                <a:spcPts val="70"/>
              </a:spcBef>
            </a:pP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보상</a:t>
            </a:r>
            <a:r>
              <a:rPr dirty="0" sz="1150" spc="-114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함수는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양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조건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동일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200" spc="-315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dirty="0" sz="1200" spc="-1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거버넌스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효과만</a:t>
            </a:r>
            <a:r>
              <a:rPr dirty="0" sz="1150" spc="-9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순수</a:t>
            </a:r>
            <a:r>
              <a:rPr dirty="0" sz="1150" spc="-10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측정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5299" y="304797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20"/>
                </a:moveTo>
                <a:lnTo>
                  <a:pt x="33047" y="200020"/>
                </a:lnTo>
                <a:lnTo>
                  <a:pt x="28187" y="199048"/>
                </a:lnTo>
                <a:lnTo>
                  <a:pt x="966" y="171827"/>
                </a:lnTo>
                <a:lnTo>
                  <a:pt x="0" y="166971"/>
                </a:lnTo>
                <a:lnTo>
                  <a:pt x="0" y="161924"/>
                </a:lnTo>
                <a:lnTo>
                  <a:pt x="0" y="33044"/>
                </a:lnTo>
                <a:lnTo>
                  <a:pt x="28187" y="962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79"/>
                </a:lnTo>
                <a:lnTo>
                  <a:pt x="600074" y="33044"/>
                </a:lnTo>
                <a:lnTo>
                  <a:pt x="600074" y="166971"/>
                </a:lnTo>
                <a:lnTo>
                  <a:pt x="571887" y="199048"/>
                </a:lnTo>
                <a:lnTo>
                  <a:pt x="567027" y="200020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849" y="32734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핵심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결과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2600" y="2498280"/>
            <a:ext cx="2284095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80"/>
              </a:lnSpc>
              <a:spcBef>
                <a:spcPts val="100"/>
              </a:spcBef>
            </a:pPr>
            <a:r>
              <a:rPr dirty="0" sz="2200" spc="-155" b="1">
                <a:solidFill>
                  <a:srgbClr val="FFFFFF"/>
                </a:solidFill>
                <a:latin typeface="Noto Sans KR"/>
                <a:cs typeface="Noto Sans KR"/>
              </a:rPr>
              <a:t>LLM</a:t>
            </a:r>
            <a:r>
              <a:rPr dirty="0" sz="2200" spc="3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2200" spc="-430" b="1">
                <a:solidFill>
                  <a:srgbClr val="FFFFFF"/>
                </a:solidFill>
                <a:latin typeface="맑은 고딕"/>
                <a:cs typeface="맑은 고딕"/>
              </a:rPr>
              <a:t>거버넌스가</a:t>
            </a:r>
            <a:endParaRPr sz="2200">
              <a:latin typeface="맑은 고딕"/>
              <a:cs typeface="맑은 고딕"/>
            </a:endParaRPr>
          </a:p>
          <a:p>
            <a:pPr marL="12700">
              <a:lnSpc>
                <a:spcPts val="2480"/>
              </a:lnSpc>
            </a:pPr>
            <a:r>
              <a:rPr dirty="0" sz="2200" spc="-420" b="1">
                <a:solidFill>
                  <a:srgbClr val="FFFFFF"/>
                </a:solidFill>
                <a:latin typeface="맑은 고딕"/>
                <a:cs typeface="맑은 고딕"/>
              </a:rPr>
              <a:t>실패</a:t>
            </a:r>
            <a:r>
              <a:rPr dirty="0" sz="2200" spc="-229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2200" spc="-420" b="1">
                <a:solidFill>
                  <a:srgbClr val="FFFFFF"/>
                </a:solidFill>
                <a:latin typeface="맑은 고딕"/>
                <a:cs typeface="맑은 고딕"/>
              </a:rPr>
              <a:t>꼬리를</a:t>
            </a:r>
            <a:r>
              <a:rPr dirty="0" sz="2200" spc="-22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2200" spc="-420" b="1">
                <a:solidFill>
                  <a:srgbClr val="DF592A"/>
                </a:solidFill>
                <a:latin typeface="맑은 고딕"/>
                <a:cs typeface="맑은 고딕"/>
              </a:rPr>
              <a:t>완전</a:t>
            </a:r>
            <a:r>
              <a:rPr dirty="0" sz="2200" spc="-22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2200" spc="-445" b="1">
                <a:solidFill>
                  <a:srgbClr val="DF592A"/>
                </a:solidFill>
                <a:latin typeface="맑은 고딕"/>
                <a:cs typeface="맑은 고딕"/>
              </a:rPr>
              <a:t>제거</a:t>
            </a:r>
            <a:endParaRPr sz="2200">
              <a:latin typeface="맑은 고딕"/>
              <a:cs typeface="맑은 고딕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2600" y="3123310"/>
            <a:ext cx="1097280" cy="992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5130"/>
              </a:lnSpc>
              <a:spcBef>
                <a:spcPts val="105"/>
              </a:spcBef>
            </a:pPr>
            <a:r>
              <a:rPr dirty="0" sz="4400" spc="-420" b="1">
                <a:solidFill>
                  <a:srgbClr val="DF592A"/>
                </a:solidFill>
                <a:latin typeface="Noto Sans KR Black"/>
                <a:cs typeface="Noto Sans KR Black"/>
              </a:rPr>
              <a:t>60%</a:t>
            </a:r>
            <a:endParaRPr sz="4400">
              <a:latin typeface="Noto Sans KR Black"/>
              <a:cs typeface="Noto Sans KR Black"/>
            </a:endParaRPr>
          </a:p>
          <a:p>
            <a:pPr algn="ctr" marR="1905">
              <a:lnSpc>
                <a:spcPts val="1045"/>
              </a:lnSpc>
            </a:pPr>
            <a:r>
              <a:rPr dirty="0" sz="1000" spc="-50">
                <a:solidFill>
                  <a:srgbClr val="777777"/>
                </a:solidFill>
                <a:latin typeface="Noto Sans KR"/>
                <a:cs typeface="Noto Sans KR"/>
              </a:rPr>
              <a:t>Pure</a:t>
            </a:r>
            <a:r>
              <a:rPr dirty="0" sz="1000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-50">
                <a:solidFill>
                  <a:srgbClr val="777777"/>
                </a:solidFill>
                <a:latin typeface="Noto Sans KR"/>
                <a:cs typeface="Noto Sans KR"/>
              </a:rPr>
              <a:t>DRL</a:t>
            </a:r>
            <a:r>
              <a:rPr dirty="0" sz="1000" spc="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229">
                <a:solidFill>
                  <a:srgbClr val="777777"/>
                </a:solidFill>
                <a:latin typeface="휴먼아미체"/>
                <a:cs typeface="휴먼아미체"/>
              </a:rPr>
              <a:t>실패율</a:t>
            </a:r>
            <a:endParaRPr sz="1000">
              <a:latin typeface="휴먼아미체"/>
              <a:cs typeface="휴먼아미체"/>
            </a:endParaRPr>
          </a:p>
          <a:p>
            <a:pPr algn="ctr" marR="1905">
              <a:lnSpc>
                <a:spcPct val="100000"/>
              </a:lnSpc>
              <a:spcBef>
                <a:spcPts val="225"/>
              </a:spcBef>
            </a:pPr>
            <a:r>
              <a:rPr dirty="0" sz="1000" spc="60">
                <a:solidFill>
                  <a:srgbClr val="777777"/>
                </a:solidFill>
                <a:latin typeface="Arial"/>
                <a:cs typeface="Arial"/>
              </a:rPr>
              <a:t>(</a:t>
            </a:r>
            <a:r>
              <a:rPr dirty="0" sz="1000" spc="60">
                <a:solidFill>
                  <a:srgbClr val="777777"/>
                </a:solidFill>
                <a:latin typeface="Noto Sans KR"/>
                <a:cs typeface="Noto Sans KR"/>
              </a:rPr>
              <a:t>5</a:t>
            </a:r>
            <a:r>
              <a:rPr dirty="0" sz="1000" spc="60">
                <a:solidFill>
                  <a:srgbClr val="777777"/>
                </a:solidFill>
                <a:latin typeface="휴먼아미체"/>
                <a:cs typeface="휴먼아미체"/>
              </a:rPr>
              <a:t>회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365">
                <a:solidFill>
                  <a:srgbClr val="777777"/>
                </a:solidFill>
                <a:latin typeface="휴먼아미체"/>
                <a:cs typeface="휴먼아미체"/>
              </a:rPr>
              <a:t>중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105">
                <a:solidFill>
                  <a:srgbClr val="777777"/>
                </a:solidFill>
                <a:latin typeface="Noto Sans KR"/>
                <a:cs typeface="Noto Sans KR"/>
              </a:rPr>
              <a:t>3</a:t>
            </a:r>
            <a:r>
              <a:rPr dirty="0" sz="1000" spc="105">
                <a:solidFill>
                  <a:srgbClr val="777777"/>
                </a:solidFill>
                <a:latin typeface="휴먼아미체"/>
                <a:cs typeface="휴먼아미체"/>
              </a:rPr>
              <a:t>회</a:t>
            </a:r>
            <a:r>
              <a:rPr dirty="0" sz="1000" spc="-15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100">
                <a:solidFill>
                  <a:srgbClr val="777777"/>
                </a:solidFill>
                <a:latin typeface="휴먼아미체"/>
                <a:cs typeface="휴먼아미체"/>
              </a:rPr>
              <a:t>실패</a:t>
            </a:r>
            <a:r>
              <a:rPr dirty="0" sz="1000" spc="100">
                <a:solidFill>
                  <a:srgbClr val="777777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16087" y="3452875"/>
            <a:ext cx="330200" cy="4387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00" spc="135">
                <a:solidFill>
                  <a:srgbClr val="DF592A"/>
                </a:solidFill>
                <a:latin typeface="Cambria"/>
                <a:cs typeface="Cambria"/>
              </a:rPr>
              <a:t>→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92337" y="3123310"/>
            <a:ext cx="847725" cy="992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5130"/>
              </a:lnSpc>
              <a:spcBef>
                <a:spcPts val="105"/>
              </a:spcBef>
            </a:pPr>
            <a:r>
              <a:rPr dirty="0" sz="4400" spc="-434" b="1">
                <a:solidFill>
                  <a:srgbClr val="2D6A2D"/>
                </a:solidFill>
                <a:latin typeface="Noto Sans KR Black"/>
                <a:cs typeface="Noto Sans KR Black"/>
              </a:rPr>
              <a:t>0%</a:t>
            </a:r>
            <a:endParaRPr sz="4400">
              <a:latin typeface="Noto Sans KR Black"/>
              <a:cs typeface="Noto Sans KR Black"/>
            </a:endParaRPr>
          </a:p>
          <a:p>
            <a:pPr marL="12700">
              <a:lnSpc>
                <a:spcPts val="1045"/>
              </a:lnSpc>
            </a:pPr>
            <a:r>
              <a:rPr dirty="0" sz="1000" spc="-55">
                <a:solidFill>
                  <a:srgbClr val="777777"/>
                </a:solidFill>
                <a:latin typeface="Noto Sans KR"/>
                <a:cs typeface="Noto Sans KR"/>
              </a:rPr>
              <a:t>LLM</a:t>
            </a:r>
            <a:r>
              <a:rPr dirty="0" sz="1000" spc="-55">
                <a:solidFill>
                  <a:srgbClr val="777777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777777"/>
                </a:solidFill>
                <a:latin typeface="Noto Sans KR"/>
                <a:cs typeface="Noto Sans KR"/>
              </a:rPr>
              <a:t>HRL</a:t>
            </a:r>
            <a:r>
              <a:rPr dirty="0" sz="1000" spc="1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229">
                <a:solidFill>
                  <a:srgbClr val="777777"/>
                </a:solidFill>
                <a:latin typeface="휴먼아미체"/>
                <a:cs typeface="휴먼아미체"/>
              </a:rPr>
              <a:t>실패율</a:t>
            </a:r>
            <a:endParaRPr sz="1000">
              <a:latin typeface="휴먼아미체"/>
              <a:cs typeface="휴먼아미체"/>
            </a:endParaRPr>
          </a:p>
          <a:p>
            <a:pPr marL="57785">
              <a:lnSpc>
                <a:spcPct val="100000"/>
              </a:lnSpc>
              <a:spcBef>
                <a:spcPts val="225"/>
              </a:spcBef>
            </a:pPr>
            <a:r>
              <a:rPr dirty="0" sz="1000" spc="60">
                <a:solidFill>
                  <a:srgbClr val="777777"/>
                </a:solidFill>
                <a:latin typeface="Arial"/>
                <a:cs typeface="Arial"/>
              </a:rPr>
              <a:t>(</a:t>
            </a:r>
            <a:r>
              <a:rPr dirty="0" sz="1000" spc="60">
                <a:solidFill>
                  <a:srgbClr val="777777"/>
                </a:solidFill>
                <a:latin typeface="Noto Sans KR"/>
                <a:cs typeface="Noto Sans KR"/>
              </a:rPr>
              <a:t>5</a:t>
            </a:r>
            <a:r>
              <a:rPr dirty="0" sz="1000" spc="60">
                <a:solidFill>
                  <a:srgbClr val="777777"/>
                </a:solidFill>
                <a:latin typeface="휴먼아미체"/>
                <a:cs typeface="휴먼아미체"/>
              </a:rPr>
              <a:t>회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365">
                <a:solidFill>
                  <a:srgbClr val="777777"/>
                </a:solidFill>
                <a:latin typeface="휴먼아미체"/>
                <a:cs typeface="휴먼아미체"/>
              </a:rPr>
              <a:t>모두</a:t>
            </a:r>
            <a:r>
              <a:rPr dirty="0" sz="1000" spc="-15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175">
                <a:solidFill>
                  <a:srgbClr val="777777"/>
                </a:solidFill>
                <a:latin typeface="휴먼아미체"/>
                <a:cs typeface="휴먼아미체"/>
              </a:rPr>
              <a:t>성공</a:t>
            </a:r>
            <a:r>
              <a:rPr dirty="0" sz="1000" spc="175">
                <a:solidFill>
                  <a:srgbClr val="777777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95299" y="4229096"/>
            <a:ext cx="5257800" cy="447675"/>
          </a:xfrm>
          <a:custGeom>
            <a:avLst/>
            <a:gdLst/>
            <a:ahLst/>
            <a:cxnLst/>
            <a:rect l="l" t="t" r="r" b="b"/>
            <a:pathLst>
              <a:path w="5257800" h="447675">
                <a:moveTo>
                  <a:pt x="5195502" y="447674"/>
                </a:moveTo>
                <a:lnTo>
                  <a:pt x="62297" y="447674"/>
                </a:lnTo>
                <a:lnTo>
                  <a:pt x="57961" y="447247"/>
                </a:lnTo>
                <a:lnTo>
                  <a:pt x="22624" y="431229"/>
                </a:lnTo>
                <a:lnTo>
                  <a:pt x="2135" y="398283"/>
                </a:lnTo>
                <a:lnTo>
                  <a:pt x="0" y="385371"/>
                </a:lnTo>
                <a:lnTo>
                  <a:pt x="0" y="380999"/>
                </a:lnTo>
                <a:lnTo>
                  <a:pt x="0" y="62293"/>
                </a:lnTo>
                <a:lnTo>
                  <a:pt x="13668" y="25979"/>
                </a:lnTo>
                <a:lnTo>
                  <a:pt x="45204" y="3394"/>
                </a:lnTo>
                <a:lnTo>
                  <a:pt x="62297" y="0"/>
                </a:lnTo>
                <a:lnTo>
                  <a:pt x="5195502" y="0"/>
                </a:lnTo>
                <a:lnTo>
                  <a:pt x="5231806" y="13664"/>
                </a:lnTo>
                <a:lnTo>
                  <a:pt x="5254398" y="45197"/>
                </a:lnTo>
                <a:lnTo>
                  <a:pt x="5257799" y="62293"/>
                </a:lnTo>
                <a:lnTo>
                  <a:pt x="5257799" y="385371"/>
                </a:lnTo>
                <a:lnTo>
                  <a:pt x="5244130" y="421666"/>
                </a:lnTo>
                <a:lnTo>
                  <a:pt x="5212594" y="444270"/>
                </a:lnTo>
                <a:lnTo>
                  <a:pt x="5199837" y="447247"/>
                </a:lnTo>
                <a:lnTo>
                  <a:pt x="5195502" y="44767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34999" y="4339405"/>
            <a:ext cx="3262629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85">
                <a:solidFill>
                  <a:srgbClr val="CCCCCC"/>
                </a:solidFill>
                <a:latin typeface="휴먼아미체"/>
                <a:cs typeface="휴먼아미체"/>
              </a:rPr>
              <a:t>이항</a:t>
            </a:r>
            <a:r>
              <a:rPr dirty="0" sz="1150" spc="-180">
                <a:solidFill>
                  <a:srgbClr val="CCCCCC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CCCCCC"/>
                </a:solidFill>
                <a:latin typeface="휴먼아미체"/>
                <a:cs typeface="휴먼아미체"/>
              </a:rPr>
              <a:t>검정</a:t>
            </a:r>
            <a:r>
              <a:rPr dirty="0" sz="1150" spc="-180">
                <a:solidFill>
                  <a:srgbClr val="CCCCCC"/>
                </a:solidFill>
                <a:latin typeface="휴먼아미체"/>
                <a:cs typeface="휴먼아미체"/>
              </a:rPr>
              <a:t> </a:t>
            </a:r>
            <a:r>
              <a:rPr dirty="0" sz="1150" b="1">
                <a:solidFill>
                  <a:srgbClr val="DF592A"/>
                </a:solidFill>
                <a:latin typeface="Noto Sans KR"/>
                <a:cs typeface="Noto Sans KR"/>
              </a:rPr>
              <a:t>p</a:t>
            </a:r>
            <a:r>
              <a:rPr dirty="0" sz="1150" spc="-65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150" b="1">
                <a:solidFill>
                  <a:srgbClr val="DF592A"/>
                </a:solidFill>
                <a:latin typeface="Noto Sans KR"/>
                <a:cs typeface="Noto Sans KR"/>
              </a:rPr>
              <a:t>=</a:t>
            </a:r>
            <a:r>
              <a:rPr dirty="0" sz="1150" spc="-2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150" spc="-30" b="1">
                <a:solidFill>
                  <a:srgbClr val="DF592A"/>
                </a:solidFill>
                <a:latin typeface="Noto Sans KR"/>
                <a:cs typeface="Noto Sans KR"/>
              </a:rPr>
              <a:t>0</a:t>
            </a:r>
            <a:r>
              <a:rPr dirty="0" sz="1200" spc="-30" b="1">
                <a:solidFill>
                  <a:srgbClr val="DF592A"/>
                </a:solidFill>
                <a:latin typeface="Arial"/>
                <a:cs typeface="Arial"/>
              </a:rPr>
              <a:t>.</a:t>
            </a:r>
            <a:r>
              <a:rPr dirty="0" sz="1150" spc="-30" b="1">
                <a:solidFill>
                  <a:srgbClr val="DF592A"/>
                </a:solidFill>
                <a:latin typeface="Noto Sans KR"/>
                <a:cs typeface="Noto Sans KR"/>
              </a:rPr>
              <a:t>010</a:t>
            </a:r>
            <a:r>
              <a:rPr dirty="0" sz="1150" spc="15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200" spc="-114">
                <a:solidFill>
                  <a:srgbClr val="CCCCCC"/>
                </a:solidFill>
                <a:latin typeface="Arial"/>
                <a:cs typeface="Arial"/>
              </a:rPr>
              <a:t>·</a:t>
            </a:r>
            <a:r>
              <a:rPr dirty="0" sz="1200" spc="-4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CCCCCC"/>
                </a:solidFill>
                <a:latin typeface="Noto Sans KR"/>
                <a:cs typeface="Noto Sans KR"/>
              </a:rPr>
              <a:t>CT</a:t>
            </a:r>
            <a:r>
              <a:rPr dirty="0" sz="1150" spc="15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50" spc="250">
                <a:solidFill>
                  <a:srgbClr val="CCCCCC"/>
                </a:solidFill>
                <a:latin typeface="휴먼아미체"/>
                <a:cs typeface="휴먼아미체"/>
              </a:rPr>
              <a:t>개선</a:t>
            </a:r>
            <a:r>
              <a:rPr dirty="0" sz="1150" spc="-180">
                <a:solidFill>
                  <a:srgbClr val="CCCCCC"/>
                </a:solidFill>
                <a:latin typeface="휴먼아미체"/>
                <a:cs typeface="휴먼아미체"/>
              </a:rPr>
              <a:t> </a:t>
            </a:r>
            <a:r>
              <a:rPr dirty="0" sz="1150" spc="-50" b="1">
                <a:solidFill>
                  <a:srgbClr val="79DF79"/>
                </a:solidFill>
                <a:latin typeface="Arial"/>
                <a:cs typeface="Arial"/>
              </a:rPr>
              <a:t>−</a:t>
            </a:r>
            <a:r>
              <a:rPr dirty="0" sz="1150" spc="-50" b="1">
                <a:solidFill>
                  <a:srgbClr val="79DF79"/>
                </a:solidFill>
                <a:latin typeface="Noto Sans KR"/>
                <a:cs typeface="Noto Sans KR"/>
              </a:rPr>
              <a:t>19</a:t>
            </a:r>
            <a:r>
              <a:rPr dirty="0" sz="1200" spc="-50" b="1">
                <a:solidFill>
                  <a:srgbClr val="79DF79"/>
                </a:solidFill>
                <a:latin typeface="Arial"/>
                <a:cs typeface="Arial"/>
              </a:rPr>
              <a:t>.</a:t>
            </a:r>
            <a:r>
              <a:rPr dirty="0" sz="1150" spc="-50" b="1">
                <a:solidFill>
                  <a:srgbClr val="79DF79"/>
                </a:solidFill>
                <a:latin typeface="Noto Sans KR"/>
                <a:cs typeface="Noto Sans KR"/>
              </a:rPr>
              <a:t>6%</a:t>
            </a:r>
            <a:r>
              <a:rPr dirty="0" sz="1150" spc="15" b="1">
                <a:solidFill>
                  <a:srgbClr val="79DF79"/>
                </a:solidFill>
                <a:latin typeface="Noto Sans KR"/>
                <a:cs typeface="Noto Sans KR"/>
              </a:rPr>
              <a:t> </a:t>
            </a:r>
            <a:r>
              <a:rPr dirty="0" sz="1150" spc="-55">
                <a:solidFill>
                  <a:srgbClr val="CCCCCC"/>
                </a:solidFill>
                <a:latin typeface="Noto Sans KR"/>
                <a:cs typeface="Noto Sans KR"/>
              </a:rPr>
              <a:t>·</a:t>
            </a:r>
            <a:r>
              <a:rPr dirty="0" sz="1150" spc="-25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50" spc="345">
                <a:solidFill>
                  <a:srgbClr val="CCCCCC"/>
                </a:solidFill>
                <a:latin typeface="휴먼아미체"/>
                <a:cs typeface="휴먼아미체"/>
              </a:rPr>
              <a:t>분산</a:t>
            </a:r>
            <a:r>
              <a:rPr dirty="0" sz="1150" spc="-180">
                <a:solidFill>
                  <a:srgbClr val="CCCCCC"/>
                </a:solidFill>
                <a:latin typeface="휴먼아미체"/>
                <a:cs typeface="휴먼아미체"/>
              </a:rPr>
              <a:t> </a:t>
            </a:r>
            <a:r>
              <a:rPr dirty="0" sz="1150" spc="345">
                <a:solidFill>
                  <a:srgbClr val="CCCCCC"/>
                </a:solidFill>
                <a:latin typeface="휴먼아미체"/>
                <a:cs typeface="휴먼아미체"/>
              </a:rPr>
              <a:t>감소</a:t>
            </a:r>
            <a:r>
              <a:rPr dirty="0" sz="1150" spc="-180">
                <a:solidFill>
                  <a:srgbClr val="CCCCCC"/>
                </a:solidFill>
                <a:latin typeface="휴먼아미체"/>
                <a:cs typeface="휴먼아미체"/>
              </a:rPr>
              <a:t> </a:t>
            </a:r>
            <a:r>
              <a:rPr dirty="0" sz="1150" spc="-25" b="1">
                <a:solidFill>
                  <a:srgbClr val="79DF79"/>
                </a:solidFill>
                <a:latin typeface="Noto Sans KR"/>
                <a:cs typeface="Noto Sans KR"/>
              </a:rPr>
              <a:t>73%</a:t>
            </a:r>
            <a:endParaRPr sz="1150">
              <a:latin typeface="Noto Sans KR"/>
              <a:cs typeface="Noto Sans KR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095999" y="676272"/>
            <a:ext cx="9525" cy="5857875"/>
          </a:xfrm>
          <a:custGeom>
            <a:avLst/>
            <a:gdLst/>
            <a:ahLst/>
            <a:cxnLst/>
            <a:rect l="l" t="t" r="r" b="b"/>
            <a:pathLst>
              <a:path w="9525" h="5857875">
                <a:moveTo>
                  <a:pt x="9524" y="5857874"/>
                </a:moveTo>
                <a:lnTo>
                  <a:pt x="0" y="5857874"/>
                </a:lnTo>
                <a:lnTo>
                  <a:pt x="0" y="0"/>
                </a:lnTo>
                <a:lnTo>
                  <a:pt x="9524" y="0"/>
                </a:lnTo>
                <a:lnTo>
                  <a:pt x="9524" y="585787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6448423" y="2876546"/>
            <a:ext cx="5248275" cy="1047750"/>
            <a:chOff x="6448423" y="2876546"/>
            <a:chExt cx="5248275" cy="1047750"/>
          </a:xfrm>
        </p:grpSpPr>
        <p:sp>
          <p:nvSpPr>
            <p:cNvPr id="13" name="object 13" descr=""/>
            <p:cNvSpPr/>
            <p:nvPr/>
          </p:nvSpPr>
          <p:spPr>
            <a:xfrm>
              <a:off x="6453186" y="2881309"/>
              <a:ext cx="5238750" cy="1038225"/>
            </a:xfrm>
            <a:custGeom>
              <a:avLst/>
              <a:gdLst/>
              <a:ahLst/>
              <a:cxnLst/>
              <a:rect l="l" t="t" r="r" b="b"/>
              <a:pathLst>
                <a:path w="5238750" h="1038225">
                  <a:moveTo>
                    <a:pt x="0" y="976312"/>
                  </a:moveTo>
                  <a:lnTo>
                    <a:pt x="0" y="61912"/>
                  </a:lnTo>
                  <a:lnTo>
                    <a:pt x="0" y="57847"/>
                  </a:lnTo>
                  <a:lnTo>
                    <a:pt x="396" y="53820"/>
                  </a:lnTo>
                  <a:lnTo>
                    <a:pt x="1190" y="49829"/>
                  </a:lnTo>
                  <a:lnTo>
                    <a:pt x="1982" y="45839"/>
                  </a:lnTo>
                  <a:lnTo>
                    <a:pt x="3156" y="41970"/>
                  </a:lnTo>
                  <a:lnTo>
                    <a:pt x="4712" y="38211"/>
                  </a:lnTo>
                  <a:lnTo>
                    <a:pt x="6267" y="34453"/>
                  </a:lnTo>
                  <a:lnTo>
                    <a:pt x="8175" y="30891"/>
                  </a:lnTo>
                  <a:lnTo>
                    <a:pt x="10433" y="27514"/>
                  </a:lnTo>
                  <a:lnTo>
                    <a:pt x="12692" y="24128"/>
                  </a:lnTo>
                  <a:lnTo>
                    <a:pt x="15258" y="21003"/>
                  </a:lnTo>
                  <a:lnTo>
                    <a:pt x="49834" y="1181"/>
                  </a:lnTo>
                  <a:lnTo>
                    <a:pt x="57847" y="0"/>
                  </a:lnTo>
                  <a:lnTo>
                    <a:pt x="61913" y="0"/>
                  </a:lnTo>
                  <a:lnTo>
                    <a:pt x="5176837" y="0"/>
                  </a:lnTo>
                  <a:lnTo>
                    <a:pt x="5180902" y="0"/>
                  </a:lnTo>
                  <a:lnTo>
                    <a:pt x="5184929" y="400"/>
                  </a:lnTo>
                  <a:lnTo>
                    <a:pt x="5188916" y="1190"/>
                  </a:lnTo>
                  <a:lnTo>
                    <a:pt x="5192903" y="1981"/>
                  </a:lnTo>
                  <a:lnTo>
                    <a:pt x="5226056" y="24128"/>
                  </a:lnTo>
                  <a:lnTo>
                    <a:pt x="5228314" y="27514"/>
                  </a:lnTo>
                  <a:lnTo>
                    <a:pt x="5230572" y="30891"/>
                  </a:lnTo>
                  <a:lnTo>
                    <a:pt x="5238750" y="61912"/>
                  </a:lnTo>
                  <a:lnTo>
                    <a:pt x="5238750" y="976312"/>
                  </a:lnTo>
                  <a:lnTo>
                    <a:pt x="5228314" y="1010691"/>
                  </a:lnTo>
                  <a:lnTo>
                    <a:pt x="5226056" y="1014068"/>
                  </a:lnTo>
                  <a:lnTo>
                    <a:pt x="5192903" y="1036234"/>
                  </a:lnTo>
                  <a:lnTo>
                    <a:pt x="5188916" y="1037024"/>
                  </a:lnTo>
                  <a:lnTo>
                    <a:pt x="5184929" y="1037824"/>
                  </a:lnTo>
                  <a:lnTo>
                    <a:pt x="5180902" y="1038224"/>
                  </a:lnTo>
                  <a:lnTo>
                    <a:pt x="5176837" y="1038224"/>
                  </a:lnTo>
                  <a:lnTo>
                    <a:pt x="61913" y="1038224"/>
                  </a:lnTo>
                  <a:lnTo>
                    <a:pt x="57847" y="1038224"/>
                  </a:lnTo>
                  <a:lnTo>
                    <a:pt x="53821" y="1037824"/>
                  </a:lnTo>
                  <a:lnTo>
                    <a:pt x="49834" y="1037024"/>
                  </a:lnTo>
                  <a:lnTo>
                    <a:pt x="45846" y="1036234"/>
                  </a:lnTo>
                  <a:lnTo>
                    <a:pt x="27515" y="1027778"/>
                  </a:lnTo>
                  <a:lnTo>
                    <a:pt x="24135" y="1025518"/>
                  </a:lnTo>
                  <a:lnTo>
                    <a:pt x="10433" y="1010691"/>
                  </a:lnTo>
                  <a:lnTo>
                    <a:pt x="8174" y="1007315"/>
                  </a:lnTo>
                  <a:lnTo>
                    <a:pt x="1190" y="988376"/>
                  </a:lnTo>
                  <a:lnTo>
                    <a:pt x="396" y="984395"/>
                  </a:lnTo>
                  <a:lnTo>
                    <a:pt x="0" y="980377"/>
                  </a:lnTo>
                  <a:lnTo>
                    <a:pt x="0" y="976312"/>
                  </a:lnTo>
                  <a:close/>
                </a:path>
              </a:pathLst>
            </a:custGeom>
            <a:ln w="9524">
              <a:solidFill>
                <a:srgbClr val="44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57949" y="2886075"/>
              <a:ext cx="5229225" cy="314325"/>
            </a:xfrm>
            <a:custGeom>
              <a:avLst/>
              <a:gdLst/>
              <a:ahLst/>
              <a:cxnLst/>
              <a:rect l="l" t="t" r="r" b="b"/>
              <a:pathLst>
                <a:path w="5229225" h="314325">
                  <a:moveTo>
                    <a:pt x="5229224" y="314324"/>
                  </a:moveTo>
                  <a:lnTo>
                    <a:pt x="0" y="314324"/>
                  </a:lnTo>
                  <a:lnTo>
                    <a:pt x="0" y="49560"/>
                  </a:lnTo>
                  <a:lnTo>
                    <a:pt x="22097" y="11371"/>
                  </a:lnTo>
                  <a:lnTo>
                    <a:pt x="49530" y="0"/>
                  </a:lnTo>
                  <a:lnTo>
                    <a:pt x="5179692" y="0"/>
                  </a:lnTo>
                  <a:lnTo>
                    <a:pt x="5217843" y="22089"/>
                  </a:lnTo>
                  <a:lnTo>
                    <a:pt x="5229224" y="31432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57949" y="3200400"/>
              <a:ext cx="5229225" cy="352425"/>
            </a:xfrm>
            <a:custGeom>
              <a:avLst/>
              <a:gdLst/>
              <a:ahLst/>
              <a:cxnLst/>
              <a:rect l="l" t="t" r="r" b="b"/>
              <a:pathLst>
                <a:path w="5229225" h="352425">
                  <a:moveTo>
                    <a:pt x="0" y="0"/>
                  </a:moveTo>
                  <a:lnTo>
                    <a:pt x="5229224" y="0"/>
                  </a:lnTo>
                  <a:lnTo>
                    <a:pt x="5229224" y="352424"/>
                  </a:lnTo>
                  <a:lnTo>
                    <a:pt x="0" y="352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57949" y="3552825"/>
              <a:ext cx="5229225" cy="361950"/>
            </a:xfrm>
            <a:custGeom>
              <a:avLst/>
              <a:gdLst/>
              <a:ahLst/>
              <a:cxnLst/>
              <a:rect l="l" t="t" r="r" b="b"/>
              <a:pathLst>
                <a:path w="5229225" h="361950">
                  <a:moveTo>
                    <a:pt x="5179652" y="361941"/>
                  </a:moveTo>
                  <a:lnTo>
                    <a:pt x="49570" y="361941"/>
                  </a:lnTo>
                  <a:lnTo>
                    <a:pt x="42281" y="360491"/>
                  </a:lnTo>
                  <a:lnTo>
                    <a:pt x="7250" y="333663"/>
                  </a:lnTo>
                  <a:lnTo>
                    <a:pt x="0" y="312372"/>
                  </a:lnTo>
                  <a:lnTo>
                    <a:pt x="0" y="0"/>
                  </a:lnTo>
                  <a:lnTo>
                    <a:pt x="5229224" y="0"/>
                  </a:lnTo>
                  <a:lnTo>
                    <a:pt x="5229223" y="312372"/>
                  </a:lnTo>
                  <a:lnTo>
                    <a:pt x="5207126" y="350561"/>
                  </a:lnTo>
                  <a:lnTo>
                    <a:pt x="5179652" y="361941"/>
                  </a:lnTo>
                  <a:close/>
                </a:path>
              </a:pathLst>
            </a:custGeom>
            <a:solidFill>
              <a:srgbClr val="1A29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457949" y="3552825"/>
              <a:ext cx="5229225" cy="9525"/>
            </a:xfrm>
            <a:custGeom>
              <a:avLst/>
              <a:gdLst/>
              <a:ahLst/>
              <a:cxnLst/>
              <a:rect l="l" t="t" r="r" b="b"/>
              <a:pathLst>
                <a:path w="5229225" h="9525">
                  <a:moveTo>
                    <a:pt x="0" y="0"/>
                  </a:moveTo>
                  <a:lnTo>
                    <a:pt x="5229224" y="0"/>
                  </a:lnTo>
                  <a:lnTo>
                    <a:pt x="5229224" y="9524"/>
                  </a:lnTo>
                  <a:lnTo>
                    <a:pt x="0" y="9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864153" y="2953766"/>
            <a:ext cx="412115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60" b="1">
                <a:solidFill>
                  <a:srgbClr val="FFFFFF"/>
                </a:solidFill>
                <a:latin typeface="Noto Sans KR"/>
                <a:cs typeface="Noto Sans KR"/>
              </a:rPr>
              <a:t>CT</a:t>
            </a:r>
            <a:r>
              <a:rPr dirty="0" sz="1000" spc="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 spc="-110" b="1">
                <a:solidFill>
                  <a:srgbClr val="FFFFFF"/>
                </a:solidFill>
                <a:latin typeface="맑은 고딕"/>
                <a:cs typeface="맑은 고딕"/>
              </a:rPr>
              <a:t>평균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805788" y="2953766"/>
            <a:ext cx="62230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60" b="1">
                <a:solidFill>
                  <a:srgbClr val="FFFFFF"/>
                </a:solidFill>
                <a:latin typeface="Noto Sans KR"/>
                <a:cs typeface="Noto Sans KR"/>
              </a:rPr>
              <a:t>CT</a:t>
            </a:r>
            <a:r>
              <a:rPr dirty="0" sz="1000" spc="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 spc="-145" b="1">
                <a:solidFill>
                  <a:srgbClr val="FFFFFF"/>
                </a:solidFill>
                <a:latin typeface="맑은 고딕"/>
                <a:cs typeface="맑은 고딕"/>
              </a:rPr>
              <a:t>표준편차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045824" y="2953766"/>
            <a:ext cx="236220" cy="180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00" spc="-145" b="1">
                <a:solidFill>
                  <a:srgbClr val="FFFFFF"/>
                </a:solidFill>
                <a:latin typeface="맑은 고딕"/>
                <a:cs typeface="맑은 고딕"/>
              </a:rPr>
              <a:t>최악</a:t>
            </a:r>
            <a:endParaRPr sz="1000">
              <a:latin typeface="맑은 고딕"/>
              <a:cs typeface="맑은 고딕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873678" y="3275387"/>
            <a:ext cx="39306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30">
                <a:solidFill>
                  <a:srgbClr val="CCCCCC"/>
                </a:solidFill>
                <a:latin typeface="Noto Sans KR"/>
                <a:cs typeface="Noto Sans KR"/>
              </a:rPr>
              <a:t>3</a:t>
            </a:r>
            <a:r>
              <a:rPr dirty="0" sz="1100" spc="-30">
                <a:solidFill>
                  <a:srgbClr val="CCCCCC"/>
                </a:solidFill>
                <a:latin typeface="Arial"/>
                <a:cs typeface="Arial"/>
              </a:rPr>
              <a:t>,</a:t>
            </a:r>
            <a:r>
              <a:rPr dirty="0" sz="1100" spc="-30">
                <a:solidFill>
                  <a:srgbClr val="CCCCCC"/>
                </a:solidFill>
                <a:latin typeface="Noto Sans KR"/>
                <a:cs typeface="Noto Sans KR"/>
              </a:rPr>
              <a:t>819s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972030" y="3276377"/>
            <a:ext cx="2895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CCCCCC"/>
                </a:solidFill>
                <a:latin typeface="Noto Sans KR"/>
                <a:cs typeface="Noto Sans KR"/>
              </a:rPr>
              <a:t>914s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967242" y="3275387"/>
            <a:ext cx="39306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30">
                <a:solidFill>
                  <a:srgbClr val="CCCCCC"/>
                </a:solidFill>
                <a:latin typeface="Noto Sans KR"/>
                <a:cs typeface="Noto Sans KR"/>
              </a:rPr>
              <a:t>4</a:t>
            </a:r>
            <a:r>
              <a:rPr dirty="0" sz="1100" spc="-30">
                <a:solidFill>
                  <a:srgbClr val="CCCCCC"/>
                </a:solidFill>
                <a:latin typeface="Arial"/>
                <a:cs typeface="Arial"/>
              </a:rPr>
              <a:t>,</a:t>
            </a:r>
            <a:r>
              <a:rPr dirty="0" sz="1100" spc="-30">
                <a:solidFill>
                  <a:srgbClr val="CCCCCC"/>
                </a:solidFill>
                <a:latin typeface="Noto Sans KR"/>
                <a:cs typeface="Noto Sans KR"/>
              </a:rPr>
              <a:t>554s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860432" y="3635974"/>
            <a:ext cx="419734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10" b="1">
                <a:solidFill>
                  <a:srgbClr val="79DF79"/>
                </a:solidFill>
                <a:latin typeface="Noto Sans KR"/>
                <a:cs typeface="Noto Sans KR"/>
              </a:rPr>
              <a:t>3</a:t>
            </a:r>
            <a:r>
              <a:rPr dirty="0" sz="1100" spc="-10" b="1">
                <a:solidFill>
                  <a:srgbClr val="79DF79"/>
                </a:solidFill>
                <a:latin typeface="Arial"/>
                <a:cs typeface="Arial"/>
              </a:rPr>
              <a:t>,</a:t>
            </a:r>
            <a:r>
              <a:rPr dirty="0" sz="1100" spc="-10" b="1">
                <a:solidFill>
                  <a:srgbClr val="79DF79"/>
                </a:solidFill>
                <a:latin typeface="Noto Sans KR"/>
                <a:cs typeface="Noto Sans KR"/>
              </a:rPr>
              <a:t>071s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963843" y="3638327"/>
            <a:ext cx="3060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solidFill>
                  <a:srgbClr val="79DF79"/>
                </a:solidFill>
                <a:latin typeface="Noto Sans KR"/>
                <a:cs typeface="Noto Sans KR"/>
              </a:rPr>
              <a:t>248s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953997" y="3635974"/>
            <a:ext cx="419734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10" b="1">
                <a:solidFill>
                  <a:srgbClr val="79DF79"/>
                </a:solidFill>
                <a:latin typeface="Noto Sans KR"/>
                <a:cs typeface="Noto Sans KR"/>
              </a:rPr>
              <a:t>3</a:t>
            </a:r>
            <a:r>
              <a:rPr dirty="0" sz="1100" spc="-10" b="1">
                <a:solidFill>
                  <a:srgbClr val="79DF79"/>
                </a:solidFill>
                <a:latin typeface="Arial"/>
                <a:cs typeface="Arial"/>
              </a:rPr>
              <a:t>,</a:t>
            </a:r>
            <a:r>
              <a:rPr dirty="0" sz="1100" spc="-10" b="1">
                <a:solidFill>
                  <a:srgbClr val="79DF79"/>
                </a:solidFill>
                <a:latin typeface="Noto Sans KR"/>
                <a:cs typeface="Noto Sans KR"/>
              </a:rPr>
              <a:t>309s</a:t>
            </a:r>
            <a:endParaRPr sz="1100">
              <a:latin typeface="Noto Sans KR"/>
              <a:cs typeface="Noto Sans KR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448423" y="4019546"/>
            <a:ext cx="5248275" cy="590550"/>
          </a:xfrm>
          <a:custGeom>
            <a:avLst/>
            <a:gdLst/>
            <a:ahLst/>
            <a:cxnLst/>
            <a:rect l="l" t="t" r="r" b="b"/>
            <a:pathLst>
              <a:path w="5248275" h="590550">
                <a:moveTo>
                  <a:pt x="5194877" y="590549"/>
                </a:moveTo>
                <a:lnTo>
                  <a:pt x="53397" y="590549"/>
                </a:lnTo>
                <a:lnTo>
                  <a:pt x="49681" y="590177"/>
                </a:lnTo>
                <a:lnTo>
                  <a:pt x="14085" y="571146"/>
                </a:lnTo>
                <a:lnTo>
                  <a:pt x="0" y="537148"/>
                </a:lnTo>
                <a:lnTo>
                  <a:pt x="0" y="533399"/>
                </a:lnTo>
                <a:lnTo>
                  <a:pt x="0" y="53392"/>
                </a:lnTo>
                <a:lnTo>
                  <a:pt x="19392" y="14082"/>
                </a:lnTo>
                <a:lnTo>
                  <a:pt x="53397" y="0"/>
                </a:lnTo>
                <a:lnTo>
                  <a:pt x="5194877" y="0"/>
                </a:lnTo>
                <a:lnTo>
                  <a:pt x="5234188" y="19385"/>
                </a:lnTo>
                <a:lnTo>
                  <a:pt x="5248275" y="53392"/>
                </a:lnTo>
                <a:lnTo>
                  <a:pt x="5248275" y="537148"/>
                </a:lnTo>
                <a:lnTo>
                  <a:pt x="5228882" y="576457"/>
                </a:lnTo>
                <a:lnTo>
                  <a:pt x="5198593" y="590177"/>
                </a:lnTo>
                <a:lnTo>
                  <a:pt x="5194877" y="59054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6430962" y="2599169"/>
            <a:ext cx="2338705" cy="18992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-180" b="1">
                <a:solidFill>
                  <a:srgbClr val="878787"/>
                </a:solidFill>
                <a:latin typeface="맑은 고딕"/>
                <a:cs typeface="맑은 고딕"/>
              </a:rPr>
              <a:t>신뢰성</a:t>
            </a:r>
            <a:r>
              <a:rPr dirty="0" sz="1000" spc="-90" b="1">
                <a:solidFill>
                  <a:srgbClr val="878787"/>
                </a:solidFill>
                <a:latin typeface="맑은 고딕"/>
                <a:cs typeface="맑은 고딕"/>
              </a:rPr>
              <a:t> </a:t>
            </a:r>
            <a:r>
              <a:rPr dirty="0" sz="1000" spc="-180" b="1">
                <a:solidFill>
                  <a:srgbClr val="878787"/>
                </a:solidFill>
                <a:latin typeface="맑은 고딕"/>
                <a:cs typeface="맑은 고딕"/>
              </a:rPr>
              <a:t>비교</a:t>
            </a:r>
            <a:r>
              <a:rPr dirty="0" sz="1000" spc="-90" b="1">
                <a:solidFill>
                  <a:srgbClr val="878787"/>
                </a:solidFill>
                <a:latin typeface="맑은 고딕"/>
                <a:cs typeface="맑은 고딕"/>
              </a:rPr>
              <a:t> </a:t>
            </a:r>
            <a:r>
              <a:rPr dirty="0" sz="1000" spc="-145">
                <a:solidFill>
                  <a:srgbClr val="878787"/>
                </a:solidFill>
                <a:latin typeface="Arial Black"/>
                <a:cs typeface="Arial Black"/>
              </a:rPr>
              <a:t>(</a:t>
            </a:r>
            <a:r>
              <a:rPr dirty="0" sz="1000" spc="-145" b="1">
                <a:solidFill>
                  <a:srgbClr val="878787"/>
                </a:solidFill>
                <a:latin typeface="맑은 고딕"/>
                <a:cs typeface="맑은 고딕"/>
              </a:rPr>
              <a:t>긴급</a:t>
            </a:r>
            <a:r>
              <a:rPr dirty="0" sz="1000" spc="-85" b="1">
                <a:solidFill>
                  <a:srgbClr val="878787"/>
                </a:solidFill>
                <a:latin typeface="맑은 고딕"/>
                <a:cs typeface="맑은 고딕"/>
              </a:rPr>
              <a:t> </a:t>
            </a:r>
            <a:r>
              <a:rPr dirty="0" sz="1000" spc="-180" b="1">
                <a:solidFill>
                  <a:srgbClr val="878787"/>
                </a:solidFill>
                <a:latin typeface="맑은 고딕"/>
                <a:cs typeface="맑은 고딕"/>
              </a:rPr>
              <a:t>로트</a:t>
            </a:r>
            <a:r>
              <a:rPr dirty="0" sz="1000" spc="-90" b="1">
                <a:solidFill>
                  <a:srgbClr val="878787"/>
                </a:solidFill>
                <a:latin typeface="맑은 고딕"/>
                <a:cs typeface="맑은 고딕"/>
              </a:rPr>
              <a:t> </a:t>
            </a:r>
            <a:r>
              <a:rPr dirty="0" sz="1000" spc="-90" b="1">
                <a:solidFill>
                  <a:srgbClr val="878787"/>
                </a:solidFill>
                <a:latin typeface="Noto Sans KR"/>
                <a:cs typeface="Noto Sans KR"/>
              </a:rPr>
              <a:t>20</a:t>
            </a:r>
            <a:r>
              <a:rPr dirty="0" sz="1000" spc="-90" b="1">
                <a:solidFill>
                  <a:srgbClr val="878787"/>
                </a:solidFill>
                <a:latin typeface="맑은 고딕"/>
                <a:cs typeface="맑은 고딕"/>
              </a:rPr>
              <a:t>개</a:t>
            </a:r>
            <a:r>
              <a:rPr dirty="0" sz="1000" spc="-90">
                <a:solidFill>
                  <a:srgbClr val="878787"/>
                </a:solidFill>
                <a:latin typeface="Arial Black"/>
                <a:cs typeface="Arial Black"/>
              </a:rPr>
              <a:t>,</a:t>
            </a:r>
            <a:r>
              <a:rPr dirty="0" sz="1000" spc="-70">
                <a:solidFill>
                  <a:srgbClr val="878787"/>
                </a:solidFill>
                <a:latin typeface="Arial Black"/>
                <a:cs typeface="Arial Black"/>
              </a:rPr>
              <a:t> </a:t>
            </a:r>
            <a:r>
              <a:rPr dirty="0" sz="1000" spc="-20" b="1">
                <a:solidFill>
                  <a:srgbClr val="878787"/>
                </a:solidFill>
                <a:latin typeface="Noto Sans KR"/>
                <a:cs typeface="Noto Sans KR"/>
              </a:rPr>
              <a:t>N=5</a:t>
            </a:r>
            <a:r>
              <a:rPr dirty="0" sz="1000" spc="-20">
                <a:solidFill>
                  <a:srgbClr val="878787"/>
                </a:solidFill>
                <a:latin typeface="Arial Black"/>
                <a:cs typeface="Arial Black"/>
              </a:rPr>
              <a:t>)</a:t>
            </a:r>
            <a:endParaRPr sz="10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 Black"/>
              <a:cs typeface="Arial Black"/>
            </a:endParaRPr>
          </a:p>
          <a:p>
            <a:pPr marL="107314">
              <a:lnSpc>
                <a:spcPct val="100000"/>
              </a:lnSpc>
              <a:tabLst>
                <a:tab pos="1591310" algn="l"/>
              </a:tabLst>
            </a:pPr>
            <a:r>
              <a:rPr dirty="0" sz="1000" spc="-25" b="1">
                <a:solidFill>
                  <a:srgbClr val="FFFFFF"/>
                </a:solidFill>
                <a:latin typeface="맑은 고딕"/>
                <a:cs typeface="맑은 고딕"/>
              </a:rPr>
              <a:t>조건</a:t>
            </a:r>
            <a:r>
              <a:rPr dirty="0" sz="1000" b="1">
                <a:solidFill>
                  <a:srgbClr val="FFFFFF"/>
                </a:solidFill>
                <a:latin typeface="맑은 고딕"/>
                <a:cs typeface="맑은 고딕"/>
              </a:rPr>
              <a:t>	</a:t>
            </a:r>
            <a:r>
              <a:rPr dirty="0" sz="1000" spc="-25" b="1">
                <a:solidFill>
                  <a:srgbClr val="FFFFFF"/>
                </a:solidFill>
                <a:latin typeface="맑은 고딕"/>
                <a:cs typeface="맑은 고딕"/>
              </a:rPr>
              <a:t>실패율</a:t>
            </a:r>
            <a:endParaRPr sz="10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맑은 고딕"/>
              <a:cs typeface="맑은 고딕"/>
            </a:endParaRPr>
          </a:p>
          <a:p>
            <a:pPr marL="107314">
              <a:lnSpc>
                <a:spcPct val="100000"/>
              </a:lnSpc>
              <a:tabLst>
                <a:tab pos="1616075" algn="l"/>
              </a:tabLst>
            </a:pPr>
            <a:r>
              <a:rPr dirty="0" sz="1100" spc="-70">
                <a:solidFill>
                  <a:srgbClr val="DDDDDD"/>
                </a:solidFill>
                <a:latin typeface="Noto Sans KR"/>
                <a:cs typeface="Noto Sans KR"/>
              </a:rPr>
              <a:t>Pure</a:t>
            </a:r>
            <a:r>
              <a:rPr dirty="0" sz="1100" spc="20">
                <a:solidFill>
                  <a:srgbClr val="DDDDDD"/>
                </a:solidFill>
                <a:latin typeface="Noto Sans KR"/>
                <a:cs typeface="Noto Sans KR"/>
              </a:rPr>
              <a:t> </a:t>
            </a:r>
            <a:r>
              <a:rPr dirty="0" sz="1100" spc="-25">
                <a:solidFill>
                  <a:srgbClr val="DDDDDD"/>
                </a:solidFill>
                <a:latin typeface="Noto Sans KR"/>
                <a:cs typeface="Noto Sans KR"/>
              </a:rPr>
              <a:t>DRL</a:t>
            </a:r>
            <a:r>
              <a:rPr dirty="0" sz="1100">
                <a:solidFill>
                  <a:srgbClr val="DDDDDD"/>
                </a:solidFill>
                <a:latin typeface="Noto Sans KR"/>
                <a:cs typeface="Noto Sans KR"/>
              </a:rPr>
              <a:t>	</a:t>
            </a:r>
            <a:r>
              <a:rPr dirty="0" sz="1100" spc="-25" b="1">
                <a:solidFill>
                  <a:srgbClr val="FF6F6F"/>
                </a:solidFill>
                <a:latin typeface="Noto Sans KR"/>
                <a:cs typeface="Noto Sans KR"/>
              </a:rPr>
              <a:t>60%</a:t>
            </a:r>
            <a:endParaRPr sz="1100">
              <a:latin typeface="Noto Sans KR"/>
              <a:cs typeface="Noto Sans KR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Noto Sans KR"/>
              <a:cs typeface="Noto Sans KR"/>
            </a:endParaRPr>
          </a:p>
          <a:p>
            <a:pPr marL="107314">
              <a:lnSpc>
                <a:spcPct val="100000"/>
              </a:lnSpc>
              <a:tabLst>
                <a:tab pos="1652905" algn="l"/>
              </a:tabLst>
            </a:pPr>
            <a:r>
              <a:rPr dirty="0" sz="1100" spc="-70" b="1">
                <a:solidFill>
                  <a:srgbClr val="DF592A"/>
                </a:solidFill>
                <a:latin typeface="Noto Sans KR"/>
                <a:cs typeface="Noto Sans KR"/>
              </a:rPr>
              <a:t>LLM</a:t>
            </a:r>
            <a:r>
              <a:rPr dirty="0" sz="1100" spc="-70" b="1">
                <a:solidFill>
                  <a:srgbClr val="DF592A"/>
                </a:solidFill>
                <a:latin typeface="Arial"/>
                <a:cs typeface="Arial"/>
              </a:rPr>
              <a:t>-</a:t>
            </a:r>
            <a:r>
              <a:rPr dirty="0" sz="1100" spc="-25" b="1">
                <a:solidFill>
                  <a:srgbClr val="DF592A"/>
                </a:solidFill>
                <a:latin typeface="Noto Sans KR"/>
                <a:cs typeface="Noto Sans KR"/>
              </a:rPr>
              <a:t>HRL</a:t>
            </a:r>
            <a:r>
              <a:rPr dirty="0" sz="1100" b="1">
                <a:solidFill>
                  <a:srgbClr val="DF592A"/>
                </a:solidFill>
                <a:latin typeface="Noto Sans KR"/>
                <a:cs typeface="Noto Sans KR"/>
              </a:rPr>
              <a:t>	</a:t>
            </a:r>
            <a:r>
              <a:rPr dirty="0" sz="1100" spc="-25" b="1">
                <a:solidFill>
                  <a:srgbClr val="79DF79"/>
                </a:solidFill>
                <a:latin typeface="Noto Sans KR"/>
                <a:cs typeface="Noto Sans KR"/>
              </a:rPr>
              <a:t>0%</a:t>
            </a:r>
            <a:endParaRPr sz="1100">
              <a:latin typeface="Noto Sans KR"/>
              <a:cs typeface="Noto Sans KR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Noto Sans KR"/>
              <a:cs typeface="Noto Sans KR"/>
            </a:endParaRPr>
          </a:p>
          <a:p>
            <a:pPr marL="135890">
              <a:lnSpc>
                <a:spcPct val="100000"/>
              </a:lnSpc>
            </a:pPr>
            <a:r>
              <a:rPr dirty="0" sz="1100" spc="185">
                <a:solidFill>
                  <a:srgbClr val="AAAAAA"/>
                </a:solidFill>
                <a:latin typeface="휴먼아미체"/>
                <a:cs typeface="휴먼아미체"/>
              </a:rPr>
              <a:t>생산</a:t>
            </a:r>
            <a:r>
              <a:rPr dirty="0" sz="1100" spc="-180">
                <a:solidFill>
                  <a:srgbClr val="AAAAAA"/>
                </a:solidFill>
                <a:latin typeface="휴먼아미체"/>
                <a:cs typeface="휴먼아미체"/>
              </a:rPr>
              <a:t> </a:t>
            </a:r>
            <a:r>
              <a:rPr dirty="0" sz="1100" spc="65">
                <a:solidFill>
                  <a:srgbClr val="AAAAAA"/>
                </a:solidFill>
                <a:latin typeface="휴먼아미체"/>
                <a:cs typeface="휴먼아미체"/>
              </a:rPr>
              <a:t>달성률</a:t>
            </a:r>
            <a:r>
              <a:rPr dirty="0" sz="1100" spc="65">
                <a:solidFill>
                  <a:srgbClr val="AAAAAA"/>
                </a:solidFill>
                <a:latin typeface="Arial"/>
                <a:cs typeface="Arial"/>
              </a:rPr>
              <a:t>(</a:t>
            </a:r>
            <a:r>
              <a:rPr dirty="0" sz="1100" spc="65">
                <a:solidFill>
                  <a:srgbClr val="AAAAAA"/>
                </a:solidFill>
                <a:latin typeface="Noto Sans KR"/>
                <a:cs typeface="Noto Sans KR"/>
              </a:rPr>
              <a:t>TMR</a:t>
            </a:r>
            <a:r>
              <a:rPr dirty="0" sz="1100" spc="65">
                <a:solidFill>
                  <a:srgbClr val="AAAAAA"/>
                </a:solidFill>
                <a:latin typeface="Arial"/>
                <a:cs typeface="Arial"/>
              </a:rPr>
              <a:t>)</a:t>
            </a:r>
            <a:r>
              <a:rPr dirty="0" sz="1100" spc="-8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dirty="0" sz="1100" spc="215">
                <a:solidFill>
                  <a:srgbClr val="AAAAAA"/>
                </a:solidFill>
                <a:latin typeface="휴먼아미체"/>
                <a:cs typeface="휴먼아미체"/>
              </a:rPr>
              <a:t>양</a:t>
            </a:r>
            <a:r>
              <a:rPr dirty="0" sz="1100" spc="-180">
                <a:solidFill>
                  <a:srgbClr val="AAAAAA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AAAAAA"/>
                </a:solidFill>
                <a:latin typeface="휴먼아미체"/>
                <a:cs typeface="휴먼아미체"/>
              </a:rPr>
              <a:t>조건</a:t>
            </a:r>
            <a:r>
              <a:rPr dirty="0" sz="1100" spc="-180">
                <a:solidFill>
                  <a:srgbClr val="AAAAAA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AAAAAA"/>
                </a:solidFill>
                <a:latin typeface="휴먼아미체"/>
                <a:cs typeface="휴먼아미체"/>
              </a:rPr>
              <a:t>동일</a:t>
            </a:r>
            <a:r>
              <a:rPr dirty="0" sz="1100" spc="-180">
                <a:solidFill>
                  <a:srgbClr val="AAAAAA"/>
                </a:solidFill>
                <a:latin typeface="휴먼아미체"/>
                <a:cs typeface="휴먼아미체"/>
              </a:rPr>
              <a:t> </a:t>
            </a:r>
            <a:r>
              <a:rPr dirty="0" sz="1100" spc="-35">
                <a:solidFill>
                  <a:srgbClr val="AAAAAA"/>
                </a:solidFill>
                <a:latin typeface="Arial"/>
                <a:cs typeface="Arial"/>
              </a:rPr>
              <a:t>(</a:t>
            </a:r>
            <a:r>
              <a:rPr dirty="0" sz="1100" spc="-35">
                <a:solidFill>
                  <a:srgbClr val="AAAAAA"/>
                </a:solidFill>
                <a:latin typeface="Noto Sans KR"/>
                <a:cs typeface="Noto Sans KR"/>
              </a:rPr>
              <a:t>p</a:t>
            </a:r>
            <a:r>
              <a:rPr dirty="0" sz="1100" spc="-10">
                <a:solidFill>
                  <a:srgbClr val="AAAAAA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AAAAAA"/>
                </a:solidFill>
                <a:latin typeface="Noto Sans KR"/>
                <a:cs typeface="Noto Sans KR"/>
              </a:rPr>
              <a:t>&gt;</a:t>
            </a:r>
            <a:r>
              <a:rPr dirty="0" sz="1100" spc="15">
                <a:solidFill>
                  <a:srgbClr val="AAAAAA"/>
                </a:solidFill>
                <a:latin typeface="Noto Sans KR"/>
                <a:cs typeface="Noto Sans KR"/>
              </a:rPr>
              <a:t> </a:t>
            </a:r>
            <a:r>
              <a:rPr dirty="0" sz="1100" spc="-20">
                <a:solidFill>
                  <a:srgbClr val="AAAAAA"/>
                </a:solidFill>
                <a:latin typeface="Noto Sans KR"/>
                <a:cs typeface="Noto Sans KR"/>
              </a:rPr>
              <a:t>0</a:t>
            </a:r>
            <a:r>
              <a:rPr dirty="0" sz="1100" spc="-20">
                <a:solidFill>
                  <a:srgbClr val="AAAAAA"/>
                </a:solidFill>
                <a:latin typeface="Arial"/>
                <a:cs typeface="Arial"/>
              </a:rPr>
              <a:t>.</a:t>
            </a:r>
            <a:r>
              <a:rPr dirty="0" sz="1100" spc="-20">
                <a:solidFill>
                  <a:srgbClr val="AAAAAA"/>
                </a:solidFill>
                <a:latin typeface="Noto Sans KR"/>
                <a:cs typeface="Noto Sans KR"/>
              </a:rPr>
              <a:t>05</a:t>
            </a:r>
            <a:r>
              <a:rPr dirty="0" sz="1100" spc="-20">
                <a:solidFill>
                  <a:srgbClr val="AAAAAA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35890">
              <a:lnSpc>
                <a:spcPct val="100000"/>
              </a:lnSpc>
              <a:spcBef>
                <a:spcPts val="254"/>
              </a:spcBef>
            </a:pPr>
            <a:r>
              <a:rPr dirty="0" sz="1100">
                <a:solidFill>
                  <a:srgbClr val="AAAAAA"/>
                </a:solidFill>
                <a:latin typeface="Cambria"/>
                <a:cs typeface="Cambria"/>
              </a:rPr>
              <a:t>→</a:t>
            </a:r>
            <a:r>
              <a:rPr dirty="0" sz="1100" spc="50">
                <a:solidFill>
                  <a:srgbClr val="AAAAAA"/>
                </a:solidFill>
                <a:latin typeface="Cambria"/>
                <a:cs typeface="Cambria"/>
              </a:rPr>
              <a:t> </a:t>
            </a:r>
            <a:r>
              <a:rPr dirty="0" sz="1100" spc="-215" b="1">
                <a:solidFill>
                  <a:srgbClr val="79DF79"/>
                </a:solidFill>
                <a:latin typeface="맑은 고딕"/>
                <a:cs typeface="맑은 고딕"/>
              </a:rPr>
              <a:t>처리량</a:t>
            </a:r>
            <a:r>
              <a:rPr dirty="0" sz="1100" spc="-95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79DF79"/>
                </a:solidFill>
                <a:latin typeface="맑은 고딕"/>
                <a:cs typeface="맑은 고딕"/>
              </a:rPr>
              <a:t>손실</a:t>
            </a:r>
            <a:r>
              <a:rPr dirty="0" sz="1100" spc="-90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79DF79"/>
                </a:solidFill>
                <a:latin typeface="맑은 고딕"/>
                <a:cs typeface="맑은 고딕"/>
              </a:rPr>
              <a:t>없이</a:t>
            </a:r>
            <a:r>
              <a:rPr dirty="0" sz="1100" spc="-95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79DF79"/>
                </a:solidFill>
                <a:latin typeface="맑은 고딕"/>
                <a:cs typeface="맑은 고딕"/>
              </a:rPr>
              <a:t>신뢰성만</a:t>
            </a:r>
            <a:r>
              <a:rPr dirty="0" sz="1100" spc="-90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79DF79"/>
                </a:solidFill>
                <a:latin typeface="맑은 고딕"/>
                <a:cs typeface="맑은 고딕"/>
              </a:rPr>
              <a:t>향상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6"/>
            <a:ext cx="819150" cy="200025"/>
          </a:xfrm>
          <a:custGeom>
            <a:avLst/>
            <a:gdLst/>
            <a:ahLst/>
            <a:cxnLst/>
            <a:rect l="l" t="t" r="r" b="b"/>
            <a:pathLst>
              <a:path w="819150" h="200025">
                <a:moveTo>
                  <a:pt x="786102" y="200015"/>
                </a:moveTo>
                <a:lnTo>
                  <a:pt x="33047" y="200015"/>
                </a:lnTo>
                <a:lnTo>
                  <a:pt x="28187" y="199048"/>
                </a:lnTo>
                <a:lnTo>
                  <a:pt x="966" y="171830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0"/>
                </a:lnTo>
                <a:lnTo>
                  <a:pt x="28187" y="967"/>
                </a:lnTo>
                <a:lnTo>
                  <a:pt x="33047" y="0"/>
                </a:lnTo>
                <a:lnTo>
                  <a:pt x="786102" y="0"/>
                </a:lnTo>
                <a:lnTo>
                  <a:pt x="818183" y="28174"/>
                </a:lnTo>
                <a:lnTo>
                  <a:pt x="819149" y="33040"/>
                </a:lnTo>
                <a:lnTo>
                  <a:pt x="819149" y="166976"/>
                </a:lnTo>
                <a:lnTo>
                  <a:pt x="790962" y="199048"/>
                </a:lnTo>
                <a:lnTo>
                  <a:pt x="786102" y="200015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651510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실험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결과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0" b="1">
                <a:solidFill>
                  <a:srgbClr val="FFFFFF"/>
                </a:solidFill>
                <a:latin typeface="맑은 고딕"/>
                <a:cs typeface="맑은 고딕"/>
              </a:rPr>
              <a:t>상세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335"/>
              <a:t>시드별</a:t>
            </a:r>
            <a:r>
              <a:rPr dirty="0" sz="1850" spc="-190"/>
              <a:t> </a:t>
            </a:r>
            <a:r>
              <a:rPr dirty="0" sz="1850" spc="-335"/>
              <a:t>사이클</a:t>
            </a:r>
            <a:r>
              <a:rPr dirty="0" sz="1850" spc="-185"/>
              <a:t> </a:t>
            </a:r>
            <a:r>
              <a:rPr dirty="0" sz="1850" spc="-335"/>
              <a:t>타임</a:t>
            </a:r>
            <a:r>
              <a:rPr dirty="0" sz="1850" spc="-185"/>
              <a:t> </a:t>
            </a:r>
            <a:r>
              <a:rPr dirty="0" sz="1900" spc="-440">
                <a:latin typeface="Arial"/>
                <a:cs typeface="Arial"/>
              </a:rPr>
              <a:t>—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850" spc="-335">
                <a:solidFill>
                  <a:srgbClr val="DF592A"/>
                </a:solidFill>
              </a:rPr>
              <a:t>실패</a:t>
            </a:r>
            <a:r>
              <a:rPr dirty="0" sz="1850" spc="-185">
                <a:solidFill>
                  <a:srgbClr val="DF592A"/>
                </a:solidFill>
              </a:rPr>
              <a:t> </a:t>
            </a:r>
            <a:r>
              <a:rPr dirty="0" sz="1850" spc="-335">
                <a:solidFill>
                  <a:srgbClr val="DF592A"/>
                </a:solidFill>
              </a:rPr>
              <a:t>방지</a:t>
            </a:r>
            <a:r>
              <a:rPr dirty="0" sz="1850" spc="-185">
                <a:solidFill>
                  <a:srgbClr val="DF592A"/>
                </a:solidFill>
              </a:rPr>
              <a:t> </a:t>
            </a:r>
            <a:r>
              <a:rPr dirty="0" sz="1850" spc="-360">
                <a:solidFill>
                  <a:srgbClr val="DF592A"/>
                </a:solidFill>
              </a:rPr>
              <a:t>시각화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14396"/>
            <a:ext cx="7343775" cy="5276850"/>
            <a:chOff x="495299" y="914396"/>
            <a:chExt cx="7343775" cy="5276850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19159"/>
              <a:ext cx="7334250" cy="5267325"/>
            </a:xfrm>
            <a:custGeom>
              <a:avLst/>
              <a:gdLst/>
              <a:ahLst/>
              <a:cxnLst/>
              <a:rect l="l" t="t" r="r" b="b"/>
              <a:pathLst>
                <a:path w="7334250" h="5267325">
                  <a:moveTo>
                    <a:pt x="7258602" y="5267315"/>
                  </a:moveTo>
                  <a:lnTo>
                    <a:pt x="75646" y="5267315"/>
                  </a:lnTo>
                  <a:lnTo>
                    <a:pt x="70381" y="5266794"/>
                  </a:lnTo>
                  <a:lnTo>
                    <a:pt x="31561" y="5250712"/>
                  </a:lnTo>
                  <a:lnTo>
                    <a:pt x="4128" y="5212425"/>
                  </a:lnTo>
                  <a:lnTo>
                    <a:pt x="0" y="5191673"/>
                  </a:lnTo>
                  <a:lnTo>
                    <a:pt x="0" y="5186362"/>
                  </a:lnTo>
                  <a:lnTo>
                    <a:pt x="0" y="75641"/>
                  </a:lnTo>
                  <a:lnTo>
                    <a:pt x="16598" y="31551"/>
                  </a:lnTo>
                  <a:lnTo>
                    <a:pt x="54890" y="4120"/>
                  </a:lnTo>
                  <a:lnTo>
                    <a:pt x="75646" y="0"/>
                  </a:lnTo>
                  <a:lnTo>
                    <a:pt x="7258602" y="0"/>
                  </a:lnTo>
                  <a:lnTo>
                    <a:pt x="7302686" y="16594"/>
                  </a:lnTo>
                  <a:lnTo>
                    <a:pt x="7330119" y="54880"/>
                  </a:lnTo>
                  <a:lnTo>
                    <a:pt x="7334248" y="75641"/>
                  </a:lnTo>
                  <a:lnTo>
                    <a:pt x="7334248" y="5191673"/>
                  </a:lnTo>
                  <a:lnTo>
                    <a:pt x="7317650" y="5235753"/>
                  </a:lnTo>
                  <a:lnTo>
                    <a:pt x="7279357" y="5263185"/>
                  </a:lnTo>
                  <a:lnTo>
                    <a:pt x="7263867" y="5266794"/>
                  </a:lnTo>
                  <a:lnTo>
                    <a:pt x="7258602" y="5267315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19159"/>
              <a:ext cx="7334250" cy="5267325"/>
            </a:xfrm>
            <a:custGeom>
              <a:avLst/>
              <a:gdLst/>
              <a:ahLst/>
              <a:cxnLst/>
              <a:rect l="l" t="t" r="r" b="b"/>
              <a:pathLst>
                <a:path w="7334250" h="5267325">
                  <a:moveTo>
                    <a:pt x="0" y="5186362"/>
                  </a:moveTo>
                  <a:lnTo>
                    <a:pt x="0" y="80962"/>
                  </a:lnTo>
                  <a:lnTo>
                    <a:pt x="0" y="75641"/>
                  </a:lnTo>
                  <a:lnTo>
                    <a:pt x="518" y="70377"/>
                  </a:lnTo>
                  <a:lnTo>
                    <a:pt x="1555" y="65158"/>
                  </a:lnTo>
                  <a:lnTo>
                    <a:pt x="2592" y="59940"/>
                  </a:lnTo>
                  <a:lnTo>
                    <a:pt x="4128" y="54880"/>
                  </a:lnTo>
                  <a:lnTo>
                    <a:pt x="6162" y="49969"/>
                  </a:lnTo>
                  <a:lnTo>
                    <a:pt x="8197" y="45058"/>
                  </a:lnTo>
                  <a:lnTo>
                    <a:pt x="10691" y="40387"/>
                  </a:lnTo>
                  <a:lnTo>
                    <a:pt x="13644" y="35970"/>
                  </a:lnTo>
                  <a:lnTo>
                    <a:pt x="16598" y="31551"/>
                  </a:lnTo>
                  <a:lnTo>
                    <a:pt x="19954" y="27468"/>
                  </a:lnTo>
                  <a:lnTo>
                    <a:pt x="23713" y="23710"/>
                  </a:lnTo>
                  <a:lnTo>
                    <a:pt x="27472" y="19952"/>
                  </a:lnTo>
                  <a:lnTo>
                    <a:pt x="31561" y="16594"/>
                  </a:lnTo>
                  <a:lnTo>
                    <a:pt x="35982" y="13645"/>
                  </a:lnTo>
                  <a:lnTo>
                    <a:pt x="40402" y="10688"/>
                  </a:lnTo>
                  <a:lnTo>
                    <a:pt x="45068" y="8195"/>
                  </a:lnTo>
                  <a:lnTo>
                    <a:pt x="49979" y="6157"/>
                  </a:lnTo>
                  <a:lnTo>
                    <a:pt x="54890" y="4120"/>
                  </a:lnTo>
                  <a:lnTo>
                    <a:pt x="59953" y="2586"/>
                  </a:lnTo>
                  <a:lnTo>
                    <a:pt x="65167" y="1553"/>
                  </a:lnTo>
                  <a:lnTo>
                    <a:pt x="70381" y="521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7253286" y="0"/>
                  </a:lnTo>
                  <a:lnTo>
                    <a:pt x="7258602" y="0"/>
                  </a:lnTo>
                  <a:lnTo>
                    <a:pt x="7263867" y="521"/>
                  </a:lnTo>
                  <a:lnTo>
                    <a:pt x="7269081" y="1553"/>
                  </a:lnTo>
                  <a:lnTo>
                    <a:pt x="7274294" y="2586"/>
                  </a:lnTo>
                  <a:lnTo>
                    <a:pt x="7310535" y="23710"/>
                  </a:lnTo>
                  <a:lnTo>
                    <a:pt x="7320603" y="35970"/>
                  </a:lnTo>
                  <a:lnTo>
                    <a:pt x="7323557" y="40387"/>
                  </a:lnTo>
                  <a:lnTo>
                    <a:pt x="7326051" y="45058"/>
                  </a:lnTo>
                  <a:lnTo>
                    <a:pt x="7328085" y="49969"/>
                  </a:lnTo>
                  <a:lnTo>
                    <a:pt x="7330119" y="54880"/>
                  </a:lnTo>
                  <a:lnTo>
                    <a:pt x="7331655" y="59940"/>
                  </a:lnTo>
                  <a:lnTo>
                    <a:pt x="7332692" y="65158"/>
                  </a:lnTo>
                  <a:lnTo>
                    <a:pt x="7333730" y="70377"/>
                  </a:lnTo>
                  <a:lnTo>
                    <a:pt x="7334248" y="75641"/>
                  </a:lnTo>
                  <a:lnTo>
                    <a:pt x="7334249" y="80962"/>
                  </a:lnTo>
                  <a:lnTo>
                    <a:pt x="7334249" y="5186362"/>
                  </a:lnTo>
                  <a:lnTo>
                    <a:pt x="7334248" y="5191673"/>
                  </a:lnTo>
                  <a:lnTo>
                    <a:pt x="7333730" y="5196929"/>
                  </a:lnTo>
                  <a:lnTo>
                    <a:pt x="7332692" y="5202146"/>
                  </a:lnTo>
                  <a:lnTo>
                    <a:pt x="7331655" y="5207365"/>
                  </a:lnTo>
                  <a:lnTo>
                    <a:pt x="7320603" y="5231336"/>
                  </a:lnTo>
                  <a:lnTo>
                    <a:pt x="7317650" y="5235753"/>
                  </a:lnTo>
                  <a:lnTo>
                    <a:pt x="7298266" y="5253660"/>
                  </a:lnTo>
                  <a:lnTo>
                    <a:pt x="7293846" y="5256618"/>
                  </a:lnTo>
                  <a:lnTo>
                    <a:pt x="7253286" y="5267324"/>
                  </a:lnTo>
                  <a:lnTo>
                    <a:pt x="80962" y="5267324"/>
                  </a:lnTo>
                  <a:lnTo>
                    <a:pt x="40402" y="5256618"/>
                  </a:lnTo>
                  <a:lnTo>
                    <a:pt x="35982" y="5253660"/>
                  </a:lnTo>
                  <a:lnTo>
                    <a:pt x="31561" y="5250712"/>
                  </a:lnTo>
                  <a:lnTo>
                    <a:pt x="6162" y="5217337"/>
                  </a:lnTo>
                  <a:lnTo>
                    <a:pt x="1555" y="5202146"/>
                  </a:lnTo>
                  <a:lnTo>
                    <a:pt x="518" y="5196929"/>
                  </a:lnTo>
                  <a:lnTo>
                    <a:pt x="0" y="5191673"/>
                  </a:lnTo>
                  <a:lnTo>
                    <a:pt x="0" y="518636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7324" y="1695449"/>
              <a:ext cx="5419724" cy="3714749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495299" y="6276971"/>
            <a:ext cx="7343775" cy="333375"/>
          </a:xfrm>
          <a:custGeom>
            <a:avLst/>
            <a:gdLst/>
            <a:ahLst/>
            <a:cxnLst/>
            <a:rect l="l" t="t" r="r" b="b"/>
            <a:pathLst>
              <a:path w="7343775" h="333375">
                <a:moveTo>
                  <a:pt x="7281476" y="333374"/>
                </a:moveTo>
                <a:lnTo>
                  <a:pt x="62297" y="333374"/>
                </a:lnTo>
                <a:lnTo>
                  <a:pt x="57961" y="332947"/>
                </a:lnTo>
                <a:lnTo>
                  <a:pt x="22624" y="316938"/>
                </a:lnTo>
                <a:lnTo>
                  <a:pt x="2135" y="283991"/>
                </a:lnTo>
                <a:lnTo>
                  <a:pt x="0" y="271071"/>
                </a:lnTo>
                <a:lnTo>
                  <a:pt x="0" y="266699"/>
                </a:lnTo>
                <a:lnTo>
                  <a:pt x="0" y="62293"/>
                </a:lnTo>
                <a:lnTo>
                  <a:pt x="13668" y="25979"/>
                </a:lnTo>
                <a:lnTo>
                  <a:pt x="45204" y="3394"/>
                </a:lnTo>
                <a:lnTo>
                  <a:pt x="62297" y="0"/>
                </a:lnTo>
                <a:lnTo>
                  <a:pt x="7281476" y="0"/>
                </a:lnTo>
                <a:lnTo>
                  <a:pt x="7317781" y="13664"/>
                </a:lnTo>
                <a:lnTo>
                  <a:pt x="7340373" y="45197"/>
                </a:lnTo>
                <a:lnTo>
                  <a:pt x="7343774" y="62293"/>
                </a:lnTo>
                <a:lnTo>
                  <a:pt x="7343774" y="271071"/>
                </a:lnTo>
                <a:lnTo>
                  <a:pt x="7330104" y="307366"/>
                </a:lnTo>
                <a:lnTo>
                  <a:pt x="7298569" y="329970"/>
                </a:lnTo>
                <a:lnTo>
                  <a:pt x="7285812" y="332947"/>
                </a:lnTo>
                <a:lnTo>
                  <a:pt x="7281476" y="333374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278806" y="6353276"/>
            <a:ext cx="3773804" cy="1816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225">
                <a:solidFill>
                  <a:srgbClr val="444444"/>
                </a:solidFill>
                <a:latin typeface="휴먼아미체"/>
                <a:cs typeface="휴먼아미체"/>
              </a:rPr>
              <a:t>가로축</a:t>
            </a:r>
            <a:r>
              <a:rPr dirty="0" sz="1000" spc="22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44444"/>
                </a:solidFill>
                <a:latin typeface="Noto Sans KR"/>
                <a:cs typeface="Noto Sans KR"/>
              </a:rPr>
              <a:t>5</a:t>
            </a:r>
            <a:r>
              <a:rPr dirty="0" sz="1000">
                <a:solidFill>
                  <a:srgbClr val="444444"/>
                </a:solidFill>
                <a:latin typeface="휴먼아미체"/>
                <a:cs typeface="휴먼아미체"/>
              </a:rPr>
              <a:t>개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독립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60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000" spc="-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210">
                <a:solidFill>
                  <a:srgbClr val="444444"/>
                </a:solidFill>
                <a:latin typeface="휴먼아미체"/>
                <a:cs typeface="휴먼아미체"/>
              </a:rPr>
              <a:t>세로축</a:t>
            </a:r>
            <a:r>
              <a:rPr dirty="0" sz="1000" spc="21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평가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s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444444"/>
                </a:solidFill>
                <a:latin typeface="Arial"/>
                <a:cs typeface="Arial"/>
              </a:rPr>
              <a:t>·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빨간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00">
                <a:solidFill>
                  <a:srgbClr val="444444"/>
                </a:solidFill>
                <a:latin typeface="휴먼아미체"/>
                <a:cs typeface="휴먼아미체"/>
              </a:rPr>
              <a:t>음영</a:t>
            </a:r>
            <a:r>
              <a:rPr dirty="0" sz="1000" spc="20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0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444444"/>
                </a:solidFill>
                <a:latin typeface="Noto Sans KR"/>
                <a:cs typeface="Noto Sans KR"/>
              </a:rPr>
              <a:t>&gt;</a:t>
            </a:r>
            <a:r>
              <a:rPr dirty="0" sz="1000" spc="3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3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500s</a:t>
            </a:r>
            <a:r>
              <a:rPr dirty="0" sz="10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실패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90">
                <a:solidFill>
                  <a:srgbClr val="444444"/>
                </a:solidFill>
                <a:latin typeface="휴먼아미체"/>
                <a:cs typeface="휴먼아미체"/>
              </a:rPr>
              <a:t>구역</a:t>
            </a:r>
            <a:endParaRPr sz="1000">
              <a:latin typeface="휴먼아미체"/>
              <a:cs typeface="휴먼아미체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029574" y="581021"/>
            <a:ext cx="3667125" cy="1447800"/>
            <a:chOff x="8029574" y="581021"/>
            <a:chExt cx="3667125" cy="1447800"/>
          </a:xfrm>
        </p:grpSpPr>
        <p:sp>
          <p:nvSpPr>
            <p:cNvPr id="12" name="object 12" descr=""/>
            <p:cNvSpPr/>
            <p:nvPr/>
          </p:nvSpPr>
          <p:spPr>
            <a:xfrm>
              <a:off x="8034336" y="585793"/>
              <a:ext cx="3657600" cy="1438275"/>
            </a:xfrm>
            <a:custGeom>
              <a:avLst/>
              <a:gdLst/>
              <a:ahLst/>
              <a:cxnLst/>
              <a:rect l="l" t="t" r="r" b="b"/>
              <a:pathLst>
                <a:path w="3657600" h="1438275">
                  <a:moveTo>
                    <a:pt x="3590851" y="1438265"/>
                  </a:moveTo>
                  <a:lnTo>
                    <a:pt x="66746" y="1438265"/>
                  </a:lnTo>
                  <a:lnTo>
                    <a:pt x="62100" y="1437809"/>
                  </a:lnTo>
                  <a:lnTo>
                    <a:pt x="24239" y="1420647"/>
                  </a:lnTo>
                  <a:lnTo>
                    <a:pt x="2287" y="1385356"/>
                  </a:lnTo>
                  <a:lnTo>
                    <a:pt x="0" y="1371516"/>
                  </a:lnTo>
                  <a:lnTo>
                    <a:pt x="0" y="1366827"/>
                  </a:lnTo>
                  <a:lnTo>
                    <a:pt x="0" y="66730"/>
                  </a:lnTo>
                  <a:lnTo>
                    <a:pt x="14644" y="27831"/>
                  </a:lnTo>
                  <a:lnTo>
                    <a:pt x="48432" y="3627"/>
                  </a:lnTo>
                  <a:lnTo>
                    <a:pt x="66746" y="0"/>
                  </a:lnTo>
                  <a:lnTo>
                    <a:pt x="3590851" y="0"/>
                  </a:lnTo>
                  <a:lnTo>
                    <a:pt x="3629749" y="14621"/>
                  </a:lnTo>
                  <a:lnTo>
                    <a:pt x="3653955" y="48415"/>
                  </a:lnTo>
                  <a:lnTo>
                    <a:pt x="3657598" y="66730"/>
                  </a:lnTo>
                  <a:lnTo>
                    <a:pt x="3657598" y="1371516"/>
                  </a:lnTo>
                  <a:lnTo>
                    <a:pt x="3642954" y="1410406"/>
                  </a:lnTo>
                  <a:lnTo>
                    <a:pt x="3609165" y="1434609"/>
                  </a:lnTo>
                  <a:lnTo>
                    <a:pt x="3595496" y="1437809"/>
                  </a:lnTo>
                  <a:lnTo>
                    <a:pt x="3590851" y="1438265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34336" y="585784"/>
              <a:ext cx="3657600" cy="1438275"/>
            </a:xfrm>
            <a:custGeom>
              <a:avLst/>
              <a:gdLst/>
              <a:ahLst/>
              <a:cxnLst/>
              <a:rect l="l" t="t" r="r" b="b"/>
              <a:pathLst>
                <a:path w="3657600" h="1438275">
                  <a:moveTo>
                    <a:pt x="0" y="136683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89"/>
                  </a:lnTo>
                  <a:lnTo>
                    <a:pt x="17606" y="24230"/>
                  </a:lnTo>
                  <a:lnTo>
                    <a:pt x="20923" y="20919"/>
                  </a:lnTo>
                  <a:lnTo>
                    <a:pt x="24239" y="17599"/>
                  </a:lnTo>
                  <a:lnTo>
                    <a:pt x="62100" y="464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1" y="9"/>
                  </a:lnTo>
                  <a:lnTo>
                    <a:pt x="3595496" y="464"/>
                  </a:lnTo>
                  <a:lnTo>
                    <a:pt x="3600097" y="1376"/>
                  </a:lnTo>
                  <a:lnTo>
                    <a:pt x="3604698" y="2287"/>
                  </a:lnTo>
                  <a:lnTo>
                    <a:pt x="3636675" y="20919"/>
                  </a:lnTo>
                  <a:lnTo>
                    <a:pt x="3639992" y="24230"/>
                  </a:lnTo>
                  <a:lnTo>
                    <a:pt x="3657141" y="62089"/>
                  </a:lnTo>
                  <a:lnTo>
                    <a:pt x="3657599" y="71437"/>
                  </a:lnTo>
                  <a:lnTo>
                    <a:pt x="3657599" y="1366837"/>
                  </a:lnTo>
                  <a:lnTo>
                    <a:pt x="3652161" y="1394156"/>
                  </a:lnTo>
                  <a:lnTo>
                    <a:pt x="3650366" y="1398490"/>
                  </a:lnTo>
                  <a:lnTo>
                    <a:pt x="3648165" y="1402612"/>
                  </a:lnTo>
                  <a:lnTo>
                    <a:pt x="3645559" y="1406509"/>
                  </a:lnTo>
                  <a:lnTo>
                    <a:pt x="3642954" y="1410416"/>
                  </a:lnTo>
                  <a:lnTo>
                    <a:pt x="3613498" y="1432823"/>
                  </a:lnTo>
                  <a:lnTo>
                    <a:pt x="3609165" y="1434619"/>
                  </a:lnTo>
                  <a:lnTo>
                    <a:pt x="3604698" y="1435977"/>
                  </a:lnTo>
                  <a:lnTo>
                    <a:pt x="3600097" y="1436898"/>
                  </a:lnTo>
                  <a:lnTo>
                    <a:pt x="3595496" y="1437818"/>
                  </a:lnTo>
                  <a:lnTo>
                    <a:pt x="3590851" y="1438274"/>
                  </a:lnTo>
                  <a:lnTo>
                    <a:pt x="3586162" y="1438274"/>
                  </a:lnTo>
                  <a:lnTo>
                    <a:pt x="71437" y="1438274"/>
                  </a:lnTo>
                  <a:lnTo>
                    <a:pt x="66746" y="1438274"/>
                  </a:lnTo>
                  <a:lnTo>
                    <a:pt x="62100" y="1437818"/>
                  </a:lnTo>
                  <a:lnTo>
                    <a:pt x="24239" y="1420657"/>
                  </a:lnTo>
                  <a:lnTo>
                    <a:pt x="12038" y="1406509"/>
                  </a:lnTo>
                  <a:lnTo>
                    <a:pt x="9431" y="1402612"/>
                  </a:lnTo>
                  <a:lnTo>
                    <a:pt x="7231" y="1398490"/>
                  </a:lnTo>
                  <a:lnTo>
                    <a:pt x="5436" y="1394156"/>
                  </a:lnTo>
                  <a:lnTo>
                    <a:pt x="3642" y="1389831"/>
                  </a:lnTo>
                  <a:lnTo>
                    <a:pt x="2287" y="1385366"/>
                  </a:lnTo>
                  <a:lnTo>
                    <a:pt x="1371" y="1380771"/>
                  </a:lnTo>
                  <a:lnTo>
                    <a:pt x="457" y="1376167"/>
                  </a:lnTo>
                  <a:lnTo>
                    <a:pt x="0" y="1371525"/>
                  </a:lnTo>
                  <a:lnTo>
                    <a:pt x="0" y="1366837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143862" y="1009649"/>
              <a:ext cx="47625" cy="781050"/>
            </a:xfrm>
            <a:custGeom>
              <a:avLst/>
              <a:gdLst/>
              <a:ahLst/>
              <a:cxnLst/>
              <a:rect l="l" t="t" r="r" b="b"/>
              <a:pathLst>
                <a:path w="47625" h="781050">
                  <a:moveTo>
                    <a:pt x="47625" y="754075"/>
                  </a:moveTo>
                  <a:lnTo>
                    <a:pt x="26974" y="733425"/>
                  </a:lnTo>
                  <a:lnTo>
                    <a:pt x="20662" y="733425"/>
                  </a:lnTo>
                  <a:lnTo>
                    <a:pt x="0" y="754075"/>
                  </a:lnTo>
                  <a:lnTo>
                    <a:pt x="0" y="760399"/>
                  </a:lnTo>
                  <a:lnTo>
                    <a:pt x="20662" y="781037"/>
                  </a:lnTo>
                  <a:lnTo>
                    <a:pt x="26974" y="781037"/>
                  </a:lnTo>
                  <a:lnTo>
                    <a:pt x="47625" y="760399"/>
                  </a:lnTo>
                  <a:lnTo>
                    <a:pt x="47625" y="757237"/>
                  </a:lnTo>
                  <a:lnTo>
                    <a:pt x="47625" y="754075"/>
                  </a:lnTo>
                  <a:close/>
                </a:path>
                <a:path w="47625" h="781050">
                  <a:moveTo>
                    <a:pt x="47625" y="515950"/>
                  </a:moveTo>
                  <a:lnTo>
                    <a:pt x="26974" y="495300"/>
                  </a:lnTo>
                  <a:lnTo>
                    <a:pt x="20662" y="495300"/>
                  </a:lnTo>
                  <a:lnTo>
                    <a:pt x="0" y="515950"/>
                  </a:lnTo>
                  <a:lnTo>
                    <a:pt x="0" y="522274"/>
                  </a:lnTo>
                  <a:lnTo>
                    <a:pt x="20662" y="542912"/>
                  </a:lnTo>
                  <a:lnTo>
                    <a:pt x="26974" y="542912"/>
                  </a:lnTo>
                  <a:lnTo>
                    <a:pt x="47625" y="522274"/>
                  </a:lnTo>
                  <a:lnTo>
                    <a:pt x="47625" y="519112"/>
                  </a:lnTo>
                  <a:lnTo>
                    <a:pt x="47625" y="515950"/>
                  </a:lnTo>
                  <a:close/>
                </a:path>
                <a:path w="47625" h="781050">
                  <a:moveTo>
                    <a:pt x="47625" y="268300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00"/>
                  </a:lnTo>
                  <a:lnTo>
                    <a:pt x="0" y="274624"/>
                  </a:lnTo>
                  <a:lnTo>
                    <a:pt x="20662" y="295262"/>
                  </a:lnTo>
                  <a:lnTo>
                    <a:pt x="26974" y="295262"/>
                  </a:lnTo>
                  <a:lnTo>
                    <a:pt x="47625" y="274624"/>
                  </a:lnTo>
                  <a:lnTo>
                    <a:pt x="47625" y="271462"/>
                  </a:lnTo>
                  <a:lnTo>
                    <a:pt x="47625" y="268300"/>
                  </a:lnTo>
                  <a:close/>
                </a:path>
                <a:path w="47625" h="78105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147099" y="610302"/>
            <a:ext cx="2961005" cy="125031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200" spc="240">
                <a:solidFill>
                  <a:srgbClr val="1A1A1A"/>
                </a:solidFill>
                <a:latin typeface="Segoe UI Symbol"/>
                <a:cs typeface="Segoe UI Symbol"/>
              </a:rPr>
              <a:t>📌</a:t>
            </a:r>
            <a:r>
              <a:rPr dirty="0" sz="1200" spc="-3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주요</a:t>
            </a:r>
            <a:r>
              <a:rPr dirty="0" sz="1150" spc="-11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35" b="1">
                <a:solidFill>
                  <a:srgbClr val="1A1A1A"/>
                </a:solidFill>
                <a:latin typeface="맑은 고딕"/>
                <a:cs typeface="맑은 고딕"/>
              </a:rPr>
              <a:t>관찰</a:t>
            </a:r>
            <a:endParaRPr sz="1150">
              <a:latin typeface="맑은 고딕"/>
              <a:cs typeface="맑은 고딕"/>
            </a:endParaRPr>
          </a:p>
          <a:p>
            <a:pPr marL="154940">
              <a:lnSpc>
                <a:spcPct val="100000"/>
              </a:lnSpc>
              <a:spcBef>
                <a:spcPts val="535"/>
              </a:spcBef>
            </a:pP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Pure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시드</a:t>
            </a:r>
            <a:r>
              <a:rPr dirty="0" sz="1100" spc="-114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45" b="1">
                <a:solidFill>
                  <a:srgbClr val="DF592A"/>
                </a:solidFill>
                <a:latin typeface="Noto Sans KR"/>
                <a:cs typeface="Noto Sans KR"/>
              </a:rPr>
              <a:t>42</a:t>
            </a:r>
            <a:r>
              <a:rPr dirty="0" sz="1100" spc="-45" b="1">
                <a:solidFill>
                  <a:srgbClr val="DF592A"/>
                </a:solidFill>
                <a:latin typeface="Arial"/>
                <a:cs typeface="Arial"/>
              </a:rPr>
              <a:t>,</a:t>
            </a:r>
            <a:r>
              <a:rPr dirty="0" sz="1100" spc="-30" b="1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100" spc="-60" b="1">
                <a:solidFill>
                  <a:srgbClr val="DF592A"/>
                </a:solidFill>
                <a:latin typeface="Noto Sans KR"/>
                <a:cs typeface="Noto Sans KR"/>
              </a:rPr>
              <a:t>2024</a:t>
            </a:r>
            <a:r>
              <a:rPr dirty="0" sz="1100" spc="-60" b="1">
                <a:solidFill>
                  <a:srgbClr val="DF592A"/>
                </a:solidFill>
                <a:latin typeface="Arial"/>
                <a:cs typeface="Arial"/>
              </a:rPr>
              <a:t>,</a:t>
            </a:r>
            <a:r>
              <a:rPr dirty="0" sz="1100" spc="-30" b="1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100" spc="114" b="1">
                <a:solidFill>
                  <a:srgbClr val="DF592A"/>
                </a:solidFill>
                <a:latin typeface="Noto Sans KR"/>
                <a:cs typeface="Noto Sans KR"/>
              </a:rPr>
              <a:t>7</a:t>
            </a:r>
            <a:r>
              <a:rPr dirty="0" sz="1100" spc="114">
                <a:solidFill>
                  <a:srgbClr val="444444"/>
                </a:solidFill>
                <a:latin typeface="휴먼아미체"/>
                <a:cs typeface="휴먼아미체"/>
              </a:rPr>
              <a:t>에서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실패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7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&gt;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4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100" spc="-10">
                <a:solidFill>
                  <a:srgbClr val="444444"/>
                </a:solidFill>
                <a:latin typeface="Noto Sans KR"/>
                <a:cs typeface="Noto Sans KR"/>
              </a:rPr>
              <a:t>400s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630"/>
              </a:spcBef>
            </a:pP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HRL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모든</a:t>
            </a:r>
            <a:r>
              <a:rPr dirty="0" sz="1100" spc="-8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시드에서</a:t>
            </a:r>
            <a:r>
              <a:rPr dirty="0" sz="1100" spc="-8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임계값</a:t>
            </a:r>
            <a:r>
              <a:rPr dirty="0" sz="1100" spc="-8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2D6A2D"/>
                </a:solidFill>
                <a:latin typeface="맑은 고딕"/>
                <a:cs typeface="맑은 고딕"/>
              </a:rPr>
              <a:t>이하</a:t>
            </a:r>
            <a:endParaRPr sz="1100">
              <a:latin typeface="맑은 고딕"/>
              <a:cs typeface="맑은 고딕"/>
            </a:endParaRPr>
          </a:p>
          <a:p>
            <a:pPr marL="154940" marR="5715">
              <a:lnSpc>
                <a:spcPct val="142000"/>
              </a:lnSpc>
              <a:spcBef>
                <a:spcPts val="75"/>
              </a:spcBef>
            </a:pPr>
            <a:r>
              <a:rPr dirty="0" sz="1100" spc="-80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성공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04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100" spc="204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280">
                <a:solidFill>
                  <a:srgbClr val="444444"/>
                </a:solidFill>
                <a:latin typeface="휴먼아미체"/>
                <a:cs typeface="휴먼아미체"/>
              </a:rPr>
              <a:t>거버넌스가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성능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유지</a:t>
            </a:r>
            <a:r>
              <a:rPr dirty="0" sz="1100" spc="-10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추가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손실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0">
                <a:solidFill>
                  <a:srgbClr val="444444"/>
                </a:solidFill>
                <a:latin typeface="휴먼아미체"/>
                <a:cs typeface="휴먼아미체"/>
              </a:rPr>
              <a:t>없음</a:t>
            </a:r>
            <a:r>
              <a:rPr dirty="0" sz="1100" spc="180">
                <a:solidFill>
                  <a:srgbClr val="444444"/>
                </a:solidFill>
                <a:latin typeface="Arial"/>
                <a:cs typeface="Arial"/>
              </a:rPr>
              <a:t>) </a:t>
            </a:r>
            <a:r>
              <a:rPr dirty="0" sz="1100" spc="-80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 spc="5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실패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04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100" spc="204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100" spc="5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30" b="1">
                <a:solidFill>
                  <a:srgbClr val="DF592A"/>
                </a:solidFill>
                <a:latin typeface="Noto Sans KR"/>
                <a:cs typeface="Noto Sans KR"/>
              </a:rPr>
              <a:t>2</a:t>
            </a:r>
            <a:r>
              <a:rPr dirty="0" sz="1100" spc="-30" b="1">
                <a:solidFill>
                  <a:srgbClr val="DF592A"/>
                </a:solidFill>
                <a:latin typeface="Arial"/>
                <a:cs typeface="Arial"/>
              </a:rPr>
              <a:t>,</a:t>
            </a:r>
            <a:r>
              <a:rPr dirty="0" sz="1100" spc="-30" b="1">
                <a:solidFill>
                  <a:srgbClr val="DF592A"/>
                </a:solidFill>
                <a:latin typeface="Noto Sans KR"/>
                <a:cs typeface="Noto Sans KR"/>
              </a:rPr>
              <a:t>800</a:t>
            </a:r>
            <a:r>
              <a:rPr dirty="0" sz="1100" spc="-30" b="1">
                <a:solidFill>
                  <a:srgbClr val="DF592A"/>
                </a:solidFill>
                <a:latin typeface="Arial"/>
                <a:cs typeface="Arial"/>
              </a:rPr>
              <a:t>–</a:t>
            </a:r>
            <a:r>
              <a:rPr dirty="0" sz="1100" spc="-30" b="1">
                <a:solidFill>
                  <a:srgbClr val="DF592A"/>
                </a:solidFill>
                <a:latin typeface="Noto Sans KR"/>
                <a:cs typeface="Noto Sans KR"/>
              </a:rPr>
              <a:t>3</a:t>
            </a:r>
            <a:r>
              <a:rPr dirty="0" sz="1100" spc="-30" b="1">
                <a:solidFill>
                  <a:srgbClr val="DF592A"/>
                </a:solidFill>
                <a:latin typeface="Arial"/>
                <a:cs typeface="Arial"/>
              </a:rPr>
              <a:t>,</a:t>
            </a:r>
            <a:r>
              <a:rPr dirty="0" sz="1100" spc="-30" b="1">
                <a:solidFill>
                  <a:srgbClr val="DF592A"/>
                </a:solidFill>
                <a:latin typeface="Noto Sans KR"/>
                <a:cs typeface="Noto Sans KR"/>
              </a:rPr>
              <a:t>300s</a:t>
            </a:r>
            <a:r>
              <a:rPr dirty="0" sz="1100" spc="-30">
                <a:solidFill>
                  <a:srgbClr val="444444"/>
                </a:solidFill>
                <a:latin typeface="휴먼아미체"/>
                <a:cs typeface="휴먼아미체"/>
              </a:rPr>
              <a:t>로</a:t>
            </a:r>
            <a:r>
              <a:rPr dirty="0" sz="11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교정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029574" y="2124071"/>
            <a:ext cx="3667125" cy="4486275"/>
          </a:xfrm>
          <a:custGeom>
            <a:avLst/>
            <a:gdLst/>
            <a:ahLst/>
            <a:cxnLst/>
            <a:rect l="l" t="t" r="r" b="b"/>
            <a:pathLst>
              <a:path w="3667125" h="4486275">
                <a:moveTo>
                  <a:pt x="3595927" y="4486274"/>
                </a:moveTo>
                <a:lnTo>
                  <a:pt x="71196" y="4486274"/>
                </a:lnTo>
                <a:lnTo>
                  <a:pt x="66240" y="4485790"/>
                </a:lnTo>
                <a:lnTo>
                  <a:pt x="29705" y="4470647"/>
                </a:lnTo>
                <a:lnTo>
                  <a:pt x="3885" y="4434603"/>
                </a:lnTo>
                <a:lnTo>
                  <a:pt x="0" y="4415069"/>
                </a:lnTo>
                <a:lnTo>
                  <a:pt x="0" y="4410074"/>
                </a:lnTo>
                <a:lnTo>
                  <a:pt x="0" y="71195"/>
                </a:lnTo>
                <a:lnTo>
                  <a:pt x="15621" y="29700"/>
                </a:lnTo>
                <a:lnTo>
                  <a:pt x="51660" y="3878"/>
                </a:lnTo>
                <a:lnTo>
                  <a:pt x="71196" y="0"/>
                </a:lnTo>
                <a:lnTo>
                  <a:pt x="3595927" y="0"/>
                </a:lnTo>
                <a:lnTo>
                  <a:pt x="3637417" y="15617"/>
                </a:lnTo>
                <a:lnTo>
                  <a:pt x="3663238" y="51653"/>
                </a:lnTo>
                <a:lnTo>
                  <a:pt x="3667124" y="71195"/>
                </a:lnTo>
                <a:lnTo>
                  <a:pt x="3667124" y="4415069"/>
                </a:lnTo>
                <a:lnTo>
                  <a:pt x="3651501" y="4456555"/>
                </a:lnTo>
                <a:lnTo>
                  <a:pt x="3615461" y="4482386"/>
                </a:lnTo>
                <a:lnTo>
                  <a:pt x="3600882" y="4485790"/>
                </a:lnTo>
                <a:lnTo>
                  <a:pt x="3595927" y="44862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166149" y="3608514"/>
            <a:ext cx="1910714" cy="1482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핵심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해석</a:t>
            </a:r>
            <a:endParaRPr sz="1150">
              <a:latin typeface="맑은 고딕"/>
              <a:cs typeface="맑은 고딕"/>
            </a:endParaRPr>
          </a:p>
          <a:p>
            <a:pPr marL="12700" marR="66675">
              <a:lnSpc>
                <a:spcPct val="135900"/>
              </a:lnSpc>
              <a:spcBef>
                <a:spcPts val="675"/>
              </a:spcBef>
            </a:pP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거버넌스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b="1">
                <a:solidFill>
                  <a:srgbClr val="BABABA"/>
                </a:solidFill>
                <a:latin typeface="Noto Sans KR"/>
                <a:cs typeface="Noto Sans KR"/>
              </a:rPr>
              <a:t>=</a:t>
            </a:r>
            <a:r>
              <a:rPr dirty="0" sz="1150" spc="35" b="1">
                <a:solidFill>
                  <a:srgbClr val="BABABA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성능</a:t>
            </a:r>
            <a:r>
              <a:rPr dirty="0" sz="1150" spc="-114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최적화기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가</a:t>
            </a:r>
            <a:r>
              <a:rPr dirty="0" sz="1150" spc="-11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BABABA"/>
                </a:solidFill>
                <a:latin typeface="맑은 고딕"/>
                <a:cs typeface="맑은 고딕"/>
              </a:rPr>
              <a:t>아닌 </a:t>
            </a:r>
            <a:r>
              <a:rPr dirty="0" sz="1150" spc="-190" b="1">
                <a:solidFill>
                  <a:srgbClr val="79DF79"/>
                </a:solidFill>
                <a:latin typeface="맑은 고딕"/>
                <a:cs typeface="맑은 고딕"/>
              </a:rPr>
              <a:t>실패</a:t>
            </a:r>
            <a:r>
              <a:rPr dirty="0" sz="1150" spc="-105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79DF79"/>
                </a:solidFill>
                <a:latin typeface="맑은 고딕"/>
                <a:cs typeface="맑은 고딕"/>
              </a:rPr>
              <a:t>방지</a:t>
            </a:r>
            <a:r>
              <a:rPr dirty="0" sz="1150" spc="-105" b="1">
                <a:solidFill>
                  <a:srgbClr val="79DF79"/>
                </a:solidFill>
                <a:latin typeface="맑은 고딕"/>
                <a:cs typeface="맑은 고딕"/>
              </a:rPr>
              <a:t> </a:t>
            </a:r>
            <a:r>
              <a:rPr dirty="0" sz="1150" spc="-20" b="1">
                <a:solidFill>
                  <a:srgbClr val="79DF79"/>
                </a:solidFill>
                <a:latin typeface="맑은 고딕"/>
                <a:cs typeface="맑은 고딕"/>
              </a:rPr>
              <a:t>메커니즘</a:t>
            </a:r>
            <a:endParaRPr sz="115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0">
              <a:latin typeface="맑은 고딕"/>
              <a:cs typeface="맑은 고딕"/>
            </a:endParaRPr>
          </a:p>
          <a:p>
            <a:pPr marL="12700" marR="5080">
              <a:lnSpc>
                <a:spcPct val="135900"/>
              </a:lnSpc>
            </a:pPr>
            <a:r>
              <a:rPr dirty="0" sz="1150" spc="-100" b="1">
                <a:solidFill>
                  <a:srgbClr val="BABABA"/>
                </a:solidFill>
                <a:latin typeface="Noto Sans KR"/>
                <a:cs typeface="Noto Sans KR"/>
              </a:rPr>
              <a:t>DRL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이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이미</a:t>
            </a:r>
            <a:r>
              <a:rPr dirty="0" sz="1150" spc="-9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잘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수렴한</a:t>
            </a:r>
            <a:r>
              <a:rPr dirty="0" sz="1150" spc="-9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50" b="1">
                <a:solidFill>
                  <a:srgbClr val="BABABA"/>
                </a:solidFill>
                <a:latin typeface="맑은 고딕"/>
                <a:cs typeface="맑은 고딕"/>
              </a:rPr>
              <a:t>시드에서는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추가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개입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없이</a:t>
            </a:r>
            <a:r>
              <a:rPr dirty="0" sz="1150" spc="-10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그대로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BABABA"/>
                </a:solidFill>
                <a:latin typeface="맑은 고딕"/>
                <a:cs typeface="맑은 고딕"/>
              </a:rPr>
              <a:t>유지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6"/>
            <a:ext cx="695325" cy="200025"/>
          </a:xfrm>
          <a:custGeom>
            <a:avLst/>
            <a:gdLst/>
            <a:ahLst/>
            <a:cxnLst/>
            <a:rect l="l" t="t" r="r" b="b"/>
            <a:pathLst>
              <a:path w="695325" h="200025">
                <a:moveTo>
                  <a:pt x="662277" y="200015"/>
                </a:moveTo>
                <a:lnTo>
                  <a:pt x="33047" y="200015"/>
                </a:lnTo>
                <a:lnTo>
                  <a:pt x="28187" y="199039"/>
                </a:lnTo>
                <a:lnTo>
                  <a:pt x="966" y="171830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8"/>
                </a:lnTo>
                <a:lnTo>
                  <a:pt x="28187" y="967"/>
                </a:lnTo>
                <a:lnTo>
                  <a:pt x="33047" y="0"/>
                </a:lnTo>
                <a:lnTo>
                  <a:pt x="662277" y="0"/>
                </a:lnTo>
                <a:lnTo>
                  <a:pt x="694358" y="28184"/>
                </a:lnTo>
                <a:lnTo>
                  <a:pt x="695324" y="33048"/>
                </a:lnTo>
                <a:lnTo>
                  <a:pt x="695324" y="166976"/>
                </a:lnTo>
                <a:lnTo>
                  <a:pt x="667137" y="199039"/>
                </a:lnTo>
                <a:lnTo>
                  <a:pt x="662277" y="200015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52387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35" b="1">
                <a:solidFill>
                  <a:srgbClr val="FFFFFF"/>
                </a:solidFill>
                <a:latin typeface="맑은 고딕"/>
                <a:cs typeface="맑은 고딕"/>
              </a:rPr>
              <a:t>희소성</a:t>
            </a:r>
            <a:r>
              <a:rPr dirty="0" sz="850" spc="3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0" b="1">
                <a:solidFill>
                  <a:srgbClr val="FFFFFF"/>
                </a:solidFill>
                <a:latin typeface="맑은 고딕"/>
                <a:cs typeface="맑은 고딕"/>
              </a:rPr>
              <a:t>스윕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2600" y="2138807"/>
            <a:ext cx="1899920" cy="612140"/>
          </a:xfrm>
          <a:prstGeom prst="rect"/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90"/>
              </a:spcBef>
            </a:pPr>
            <a:r>
              <a:rPr dirty="0" spc="-360"/>
              <a:t>긴급</a:t>
            </a:r>
            <a:r>
              <a:rPr dirty="0" spc="-200"/>
              <a:t> </a:t>
            </a:r>
            <a:r>
              <a:rPr dirty="0" spc="-360"/>
              <a:t>로트</a:t>
            </a:r>
            <a:r>
              <a:rPr dirty="0" spc="-200"/>
              <a:t> </a:t>
            </a:r>
            <a:r>
              <a:rPr dirty="0" spc="-360"/>
              <a:t>수에</a:t>
            </a:r>
            <a:r>
              <a:rPr dirty="0" spc="-200"/>
              <a:t> </a:t>
            </a:r>
            <a:r>
              <a:rPr dirty="0" spc="-385"/>
              <a:t>따른 </a:t>
            </a:r>
            <a:r>
              <a:rPr dirty="0" spc="-360">
                <a:solidFill>
                  <a:srgbClr val="DF592A"/>
                </a:solidFill>
              </a:rPr>
              <a:t>거버넌스</a:t>
            </a:r>
            <a:r>
              <a:rPr dirty="0" spc="-200">
                <a:solidFill>
                  <a:srgbClr val="DF592A"/>
                </a:solidFill>
              </a:rPr>
              <a:t> </a:t>
            </a:r>
            <a:r>
              <a:rPr dirty="0" spc="-385">
                <a:solidFill>
                  <a:srgbClr val="DF592A"/>
                </a:solidFill>
              </a:rPr>
              <a:t>효과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2828921"/>
            <a:ext cx="3667125" cy="676275"/>
            <a:chOff x="495299" y="2828921"/>
            <a:chExt cx="3667125" cy="67627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2833683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3590852" y="666740"/>
                  </a:moveTo>
                  <a:lnTo>
                    <a:pt x="66746" y="666740"/>
                  </a:lnTo>
                  <a:lnTo>
                    <a:pt x="62101" y="666285"/>
                  </a:lnTo>
                  <a:lnTo>
                    <a:pt x="24240" y="649132"/>
                  </a:lnTo>
                  <a:lnTo>
                    <a:pt x="2287" y="613831"/>
                  </a:lnTo>
                  <a:lnTo>
                    <a:pt x="0" y="600000"/>
                  </a:lnTo>
                  <a:lnTo>
                    <a:pt x="0" y="595312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90852" y="0"/>
                  </a:lnTo>
                  <a:lnTo>
                    <a:pt x="3629750" y="14631"/>
                  </a:lnTo>
                  <a:lnTo>
                    <a:pt x="3653956" y="48425"/>
                  </a:lnTo>
                  <a:lnTo>
                    <a:pt x="3657599" y="66739"/>
                  </a:lnTo>
                  <a:lnTo>
                    <a:pt x="3657599" y="600000"/>
                  </a:lnTo>
                  <a:lnTo>
                    <a:pt x="3642953" y="638891"/>
                  </a:lnTo>
                  <a:lnTo>
                    <a:pt x="3609166" y="663084"/>
                  </a:lnTo>
                  <a:lnTo>
                    <a:pt x="3595498" y="666285"/>
                  </a:lnTo>
                  <a:lnTo>
                    <a:pt x="3590852" y="66674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2833683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0" y="5953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25"/>
                  </a:lnTo>
                  <a:lnTo>
                    <a:pt x="5437" y="44090"/>
                  </a:lnTo>
                  <a:lnTo>
                    <a:pt x="7232" y="39746"/>
                  </a:lnTo>
                  <a:lnTo>
                    <a:pt x="9433" y="35634"/>
                  </a:lnTo>
                  <a:lnTo>
                    <a:pt x="12039" y="31737"/>
                  </a:lnTo>
                  <a:lnTo>
                    <a:pt x="14645" y="27831"/>
                  </a:lnTo>
                  <a:lnTo>
                    <a:pt x="17606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2" y="0"/>
                  </a:lnTo>
                  <a:lnTo>
                    <a:pt x="3595498" y="456"/>
                  </a:lnTo>
                  <a:lnTo>
                    <a:pt x="3625850" y="12027"/>
                  </a:lnTo>
                  <a:lnTo>
                    <a:pt x="3629750" y="14631"/>
                  </a:lnTo>
                  <a:lnTo>
                    <a:pt x="3633359" y="17589"/>
                  </a:lnTo>
                  <a:lnTo>
                    <a:pt x="3636675" y="20910"/>
                  </a:lnTo>
                  <a:lnTo>
                    <a:pt x="3639992" y="24222"/>
                  </a:lnTo>
                  <a:lnTo>
                    <a:pt x="3642954" y="27831"/>
                  </a:lnTo>
                  <a:lnTo>
                    <a:pt x="3645560" y="31737"/>
                  </a:lnTo>
                  <a:lnTo>
                    <a:pt x="3648165" y="35634"/>
                  </a:lnTo>
                  <a:lnTo>
                    <a:pt x="3650366" y="39746"/>
                  </a:lnTo>
                  <a:lnTo>
                    <a:pt x="3652161" y="44090"/>
                  </a:lnTo>
                  <a:lnTo>
                    <a:pt x="3653956" y="48425"/>
                  </a:lnTo>
                  <a:lnTo>
                    <a:pt x="3655311" y="52889"/>
                  </a:lnTo>
                  <a:lnTo>
                    <a:pt x="3656226" y="57493"/>
                  </a:lnTo>
                  <a:lnTo>
                    <a:pt x="3657142" y="62098"/>
                  </a:lnTo>
                  <a:lnTo>
                    <a:pt x="3657599" y="66739"/>
                  </a:lnTo>
                  <a:lnTo>
                    <a:pt x="3657599" y="71437"/>
                  </a:lnTo>
                  <a:lnTo>
                    <a:pt x="3657599" y="595312"/>
                  </a:lnTo>
                  <a:lnTo>
                    <a:pt x="3657599" y="600000"/>
                  </a:lnTo>
                  <a:lnTo>
                    <a:pt x="3657142" y="604642"/>
                  </a:lnTo>
                  <a:lnTo>
                    <a:pt x="3639992" y="642500"/>
                  </a:lnTo>
                  <a:lnTo>
                    <a:pt x="3604699" y="664442"/>
                  </a:lnTo>
                  <a:lnTo>
                    <a:pt x="3586162" y="666749"/>
                  </a:lnTo>
                  <a:lnTo>
                    <a:pt x="71437" y="666749"/>
                  </a:lnTo>
                  <a:lnTo>
                    <a:pt x="31748" y="654695"/>
                  </a:lnTo>
                  <a:lnTo>
                    <a:pt x="5437" y="622632"/>
                  </a:lnTo>
                  <a:lnTo>
                    <a:pt x="1372" y="609237"/>
                  </a:lnTo>
                  <a:lnTo>
                    <a:pt x="457" y="604642"/>
                  </a:lnTo>
                  <a:lnTo>
                    <a:pt x="0" y="600000"/>
                  </a:lnTo>
                  <a:lnTo>
                    <a:pt x="0" y="5953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57499" y="2971796"/>
              <a:ext cx="552450" cy="190500"/>
            </a:xfrm>
            <a:custGeom>
              <a:avLst/>
              <a:gdLst/>
              <a:ahLst/>
              <a:cxnLst/>
              <a:rect l="l" t="t" r="r" b="b"/>
              <a:pathLst>
                <a:path w="552450" h="190500">
                  <a:moveTo>
                    <a:pt x="527664" y="190499"/>
                  </a:moveTo>
                  <a:lnTo>
                    <a:pt x="24785" y="190499"/>
                  </a:lnTo>
                  <a:lnTo>
                    <a:pt x="21140" y="189774"/>
                  </a:lnTo>
                  <a:lnTo>
                    <a:pt x="0" y="165711"/>
                  </a:lnTo>
                  <a:lnTo>
                    <a:pt x="0" y="161924"/>
                  </a:lnTo>
                  <a:lnTo>
                    <a:pt x="0" y="24780"/>
                  </a:lnTo>
                  <a:lnTo>
                    <a:pt x="24785" y="0"/>
                  </a:lnTo>
                  <a:lnTo>
                    <a:pt x="527664" y="0"/>
                  </a:lnTo>
                  <a:lnTo>
                    <a:pt x="552449" y="24780"/>
                  </a:lnTo>
                  <a:lnTo>
                    <a:pt x="552449" y="165711"/>
                  </a:lnTo>
                  <a:lnTo>
                    <a:pt x="531309" y="189774"/>
                  </a:lnTo>
                  <a:lnTo>
                    <a:pt x="527664" y="190499"/>
                  </a:lnTo>
                  <a:close/>
                </a:path>
              </a:pathLst>
            </a:custGeom>
            <a:solidFill>
              <a:srgbClr val="2D6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925018" y="2983579"/>
            <a:ext cx="42481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FFFFFF"/>
                </a:solidFill>
                <a:latin typeface="Noto Sans KR"/>
                <a:cs typeface="Noto Sans KR"/>
              </a:rPr>
              <a:t>DRL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448049" y="2971796"/>
            <a:ext cx="561975" cy="190500"/>
          </a:xfrm>
          <a:custGeom>
            <a:avLst/>
            <a:gdLst/>
            <a:ahLst/>
            <a:cxnLst/>
            <a:rect l="l" t="t" r="r" b="b"/>
            <a:pathLst>
              <a:path w="561975" h="190500">
                <a:moveTo>
                  <a:pt x="537189" y="190499"/>
                </a:moveTo>
                <a:lnTo>
                  <a:pt x="24785" y="190499"/>
                </a:lnTo>
                <a:lnTo>
                  <a:pt x="21140" y="189774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0"/>
                </a:lnTo>
                <a:lnTo>
                  <a:pt x="24785" y="0"/>
                </a:lnTo>
                <a:lnTo>
                  <a:pt x="537189" y="0"/>
                </a:lnTo>
                <a:lnTo>
                  <a:pt x="561974" y="24780"/>
                </a:lnTo>
                <a:lnTo>
                  <a:pt x="561974" y="165711"/>
                </a:lnTo>
                <a:lnTo>
                  <a:pt x="540834" y="189774"/>
                </a:lnTo>
                <a:lnTo>
                  <a:pt x="537189" y="190499"/>
                </a:lnTo>
                <a:close/>
              </a:path>
            </a:pathLst>
          </a:custGeom>
          <a:solidFill>
            <a:srgbClr val="2D6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514526" y="2983579"/>
            <a:ext cx="429259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FFFFFF"/>
                </a:solidFill>
                <a:latin typeface="Noto Sans KR"/>
                <a:cs typeface="Noto Sans KR"/>
              </a:rPr>
              <a:t>HRL</a:t>
            </a:r>
            <a:r>
              <a:rPr dirty="0" sz="900" spc="-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5949" y="2846353"/>
            <a:ext cx="2034539" cy="55499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150" spc="-125" b="1">
                <a:latin typeface="Noto Sans KR"/>
                <a:cs typeface="Noto Sans KR"/>
              </a:rPr>
              <a:t>4</a:t>
            </a:r>
            <a:r>
              <a:rPr dirty="0" sz="1150" spc="-125" b="1">
                <a:latin typeface="맑은 고딕"/>
                <a:cs typeface="맑은 고딕"/>
              </a:rPr>
              <a:t>개</a:t>
            </a:r>
            <a:r>
              <a:rPr dirty="0" sz="1150" spc="-105" b="1">
                <a:latin typeface="맑은 고딕"/>
                <a:cs typeface="맑은 고딕"/>
              </a:rPr>
              <a:t> </a:t>
            </a:r>
            <a:r>
              <a:rPr dirty="0" sz="1200" spc="-10" b="1">
                <a:latin typeface="Arial"/>
                <a:cs typeface="Arial"/>
              </a:rPr>
              <a:t>(</a:t>
            </a:r>
            <a:r>
              <a:rPr dirty="0" sz="1150" spc="-10" b="1">
                <a:latin typeface="Noto Sans KR"/>
                <a:cs typeface="Noto Sans KR"/>
              </a:rPr>
              <a:t>1</a:t>
            </a:r>
            <a:r>
              <a:rPr dirty="0" sz="1200" spc="-10" b="1">
                <a:latin typeface="Arial"/>
                <a:cs typeface="Arial"/>
              </a:rPr>
              <a:t>.</a:t>
            </a:r>
            <a:r>
              <a:rPr dirty="0" sz="1150" spc="-10" b="1">
                <a:latin typeface="Noto Sans KR"/>
                <a:cs typeface="Noto Sans KR"/>
              </a:rPr>
              <a:t>6%</a:t>
            </a:r>
            <a:r>
              <a:rPr dirty="0" sz="1200" spc="-1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000" spc="315">
                <a:solidFill>
                  <a:srgbClr val="777777"/>
                </a:solidFill>
                <a:latin typeface="휴먼아미체"/>
                <a:cs typeface="휴먼아미체"/>
              </a:rPr>
              <a:t>병목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204">
                <a:solidFill>
                  <a:srgbClr val="777777"/>
                </a:solidFill>
                <a:latin typeface="휴먼아미체"/>
                <a:cs typeface="휴먼아미체"/>
              </a:rPr>
              <a:t>경쟁</a:t>
            </a:r>
            <a:r>
              <a:rPr dirty="0" sz="1000" spc="-15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365">
                <a:solidFill>
                  <a:srgbClr val="777777"/>
                </a:solidFill>
                <a:latin typeface="휴먼아미체"/>
                <a:cs typeface="휴먼아미체"/>
              </a:rPr>
              <a:t>부족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777777"/>
                </a:solidFill>
                <a:latin typeface="Arial"/>
                <a:cs typeface="Arial"/>
              </a:rPr>
              <a:t>—</a:t>
            </a:r>
            <a:r>
              <a:rPr dirty="0" sz="1000" spc="-2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1000" spc="290">
                <a:solidFill>
                  <a:srgbClr val="777777"/>
                </a:solidFill>
                <a:latin typeface="휴먼아미체"/>
                <a:cs typeface="휴먼아미체"/>
              </a:rPr>
              <a:t>거버넌스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285">
                <a:solidFill>
                  <a:srgbClr val="777777"/>
                </a:solidFill>
                <a:latin typeface="휴먼아미체"/>
                <a:cs typeface="휴먼아미체"/>
              </a:rPr>
              <a:t>추가</a:t>
            </a:r>
            <a:r>
              <a:rPr dirty="0" sz="1000" spc="-155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777777"/>
                </a:solidFill>
                <a:latin typeface="휴먼아미체"/>
                <a:cs typeface="휴먼아미체"/>
              </a:rPr>
              <a:t>가치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290">
                <a:solidFill>
                  <a:srgbClr val="777777"/>
                </a:solidFill>
                <a:latin typeface="휴먼아미체"/>
                <a:cs typeface="휴먼아미체"/>
              </a:rPr>
              <a:t>없음</a:t>
            </a:r>
            <a:endParaRPr sz="1000">
              <a:latin typeface="휴먼아미체"/>
              <a:cs typeface="휴먼아미체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95299" y="3581396"/>
            <a:ext cx="3667125" cy="676275"/>
            <a:chOff x="495299" y="3581396"/>
            <a:chExt cx="3667125" cy="676275"/>
          </a:xfrm>
        </p:grpSpPr>
        <p:sp>
          <p:nvSpPr>
            <p:cNvPr id="14" name="object 14" descr=""/>
            <p:cNvSpPr/>
            <p:nvPr/>
          </p:nvSpPr>
          <p:spPr>
            <a:xfrm>
              <a:off x="500062" y="3586159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3590852" y="666749"/>
                  </a:moveTo>
                  <a:lnTo>
                    <a:pt x="66746" y="666749"/>
                  </a:lnTo>
                  <a:lnTo>
                    <a:pt x="62101" y="666285"/>
                  </a:lnTo>
                  <a:lnTo>
                    <a:pt x="24240" y="649142"/>
                  </a:lnTo>
                  <a:lnTo>
                    <a:pt x="2287" y="613841"/>
                  </a:lnTo>
                  <a:lnTo>
                    <a:pt x="0" y="599991"/>
                  </a:lnTo>
                  <a:lnTo>
                    <a:pt x="0" y="595312"/>
                  </a:lnTo>
                  <a:lnTo>
                    <a:pt x="0" y="66739"/>
                  </a:lnTo>
                  <a:lnTo>
                    <a:pt x="14645" y="27849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90852" y="0"/>
                  </a:lnTo>
                  <a:lnTo>
                    <a:pt x="3629750" y="14640"/>
                  </a:lnTo>
                  <a:lnTo>
                    <a:pt x="3653956" y="48425"/>
                  </a:lnTo>
                  <a:lnTo>
                    <a:pt x="3657599" y="66739"/>
                  </a:lnTo>
                  <a:lnTo>
                    <a:pt x="3657599" y="599991"/>
                  </a:lnTo>
                  <a:lnTo>
                    <a:pt x="3642953" y="638891"/>
                  </a:lnTo>
                  <a:lnTo>
                    <a:pt x="3609166" y="663094"/>
                  </a:lnTo>
                  <a:lnTo>
                    <a:pt x="3595498" y="666285"/>
                  </a:lnTo>
                  <a:lnTo>
                    <a:pt x="3590852" y="666749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0062" y="3586159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0" y="5953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2039" y="31746"/>
                  </a:lnTo>
                  <a:lnTo>
                    <a:pt x="14645" y="27849"/>
                  </a:lnTo>
                  <a:lnTo>
                    <a:pt x="17606" y="24240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27848" y="14640"/>
                  </a:lnTo>
                  <a:lnTo>
                    <a:pt x="31748" y="12036"/>
                  </a:lnTo>
                  <a:lnTo>
                    <a:pt x="35648" y="9423"/>
                  </a:lnTo>
                  <a:lnTo>
                    <a:pt x="39765" y="7227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2" y="0"/>
                  </a:lnTo>
                  <a:lnTo>
                    <a:pt x="3595498" y="456"/>
                  </a:lnTo>
                  <a:lnTo>
                    <a:pt x="3625850" y="12036"/>
                  </a:lnTo>
                  <a:lnTo>
                    <a:pt x="3629750" y="14640"/>
                  </a:lnTo>
                  <a:lnTo>
                    <a:pt x="3653956" y="48425"/>
                  </a:lnTo>
                  <a:lnTo>
                    <a:pt x="3657599" y="66739"/>
                  </a:lnTo>
                  <a:lnTo>
                    <a:pt x="3657599" y="71437"/>
                  </a:lnTo>
                  <a:lnTo>
                    <a:pt x="3657599" y="595312"/>
                  </a:lnTo>
                  <a:lnTo>
                    <a:pt x="3657599" y="599991"/>
                  </a:lnTo>
                  <a:lnTo>
                    <a:pt x="3657142" y="604632"/>
                  </a:lnTo>
                  <a:lnTo>
                    <a:pt x="3656227" y="609237"/>
                  </a:lnTo>
                  <a:lnTo>
                    <a:pt x="3655311" y="613841"/>
                  </a:lnTo>
                  <a:lnTo>
                    <a:pt x="3653956" y="618306"/>
                  </a:lnTo>
                  <a:lnTo>
                    <a:pt x="3652161" y="622640"/>
                  </a:lnTo>
                  <a:lnTo>
                    <a:pt x="3650366" y="626975"/>
                  </a:lnTo>
                  <a:lnTo>
                    <a:pt x="3636675" y="645820"/>
                  </a:lnTo>
                  <a:lnTo>
                    <a:pt x="3633359" y="649142"/>
                  </a:lnTo>
                  <a:lnTo>
                    <a:pt x="3613499" y="661298"/>
                  </a:lnTo>
                  <a:lnTo>
                    <a:pt x="3609166" y="663094"/>
                  </a:lnTo>
                  <a:lnTo>
                    <a:pt x="3604699" y="664442"/>
                  </a:lnTo>
                  <a:lnTo>
                    <a:pt x="3600098" y="665364"/>
                  </a:lnTo>
                  <a:lnTo>
                    <a:pt x="3595498" y="666285"/>
                  </a:lnTo>
                  <a:lnTo>
                    <a:pt x="3590852" y="666749"/>
                  </a:lnTo>
                  <a:lnTo>
                    <a:pt x="3586162" y="666749"/>
                  </a:lnTo>
                  <a:lnTo>
                    <a:pt x="71437" y="666749"/>
                  </a:lnTo>
                  <a:lnTo>
                    <a:pt x="66746" y="666749"/>
                  </a:lnTo>
                  <a:lnTo>
                    <a:pt x="62101" y="666285"/>
                  </a:lnTo>
                  <a:lnTo>
                    <a:pt x="57500" y="665364"/>
                  </a:lnTo>
                  <a:lnTo>
                    <a:pt x="52900" y="664442"/>
                  </a:lnTo>
                  <a:lnTo>
                    <a:pt x="48433" y="663094"/>
                  </a:lnTo>
                  <a:lnTo>
                    <a:pt x="44099" y="661298"/>
                  </a:lnTo>
                  <a:lnTo>
                    <a:pt x="39765" y="659504"/>
                  </a:lnTo>
                  <a:lnTo>
                    <a:pt x="20923" y="645820"/>
                  </a:lnTo>
                  <a:lnTo>
                    <a:pt x="17606" y="642500"/>
                  </a:lnTo>
                  <a:lnTo>
                    <a:pt x="5437" y="622640"/>
                  </a:lnTo>
                  <a:lnTo>
                    <a:pt x="3642" y="618306"/>
                  </a:lnTo>
                  <a:lnTo>
                    <a:pt x="2287" y="613841"/>
                  </a:lnTo>
                  <a:lnTo>
                    <a:pt x="1372" y="609237"/>
                  </a:lnTo>
                  <a:lnTo>
                    <a:pt x="457" y="604632"/>
                  </a:lnTo>
                  <a:lnTo>
                    <a:pt x="0" y="599991"/>
                  </a:lnTo>
                  <a:lnTo>
                    <a:pt x="0" y="5953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33674" y="3724271"/>
              <a:ext cx="619125" cy="190500"/>
            </a:xfrm>
            <a:custGeom>
              <a:avLst/>
              <a:gdLst/>
              <a:ahLst/>
              <a:cxnLst/>
              <a:rect l="l" t="t" r="r" b="b"/>
              <a:pathLst>
                <a:path w="619125" h="190500">
                  <a:moveTo>
                    <a:pt x="594339" y="190490"/>
                  </a:moveTo>
                  <a:lnTo>
                    <a:pt x="24785" y="190490"/>
                  </a:lnTo>
                  <a:lnTo>
                    <a:pt x="21140" y="189765"/>
                  </a:lnTo>
                  <a:lnTo>
                    <a:pt x="0" y="165711"/>
                  </a:lnTo>
                  <a:lnTo>
                    <a:pt x="0" y="161924"/>
                  </a:lnTo>
                  <a:lnTo>
                    <a:pt x="0" y="24780"/>
                  </a:lnTo>
                  <a:lnTo>
                    <a:pt x="24785" y="0"/>
                  </a:lnTo>
                  <a:lnTo>
                    <a:pt x="594339" y="0"/>
                  </a:lnTo>
                  <a:lnTo>
                    <a:pt x="619124" y="24780"/>
                  </a:lnTo>
                  <a:lnTo>
                    <a:pt x="619124" y="165711"/>
                  </a:lnTo>
                  <a:lnTo>
                    <a:pt x="597984" y="189765"/>
                  </a:lnTo>
                  <a:lnTo>
                    <a:pt x="594339" y="190490"/>
                  </a:lnTo>
                  <a:close/>
                </a:path>
              </a:pathLst>
            </a:custGeom>
            <a:solidFill>
              <a:srgbClr val="F0C3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801491" y="3736054"/>
            <a:ext cx="486409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DF592A"/>
                </a:solidFill>
                <a:latin typeface="Noto Sans KR"/>
                <a:cs typeface="Noto Sans KR"/>
              </a:rPr>
              <a:t>DRL</a:t>
            </a:r>
            <a:r>
              <a:rPr dirty="0" sz="90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DF592A"/>
                </a:solidFill>
                <a:latin typeface="Noto Sans KR"/>
                <a:cs typeface="Noto Sans KR"/>
              </a:rPr>
              <a:t>60%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390899" y="3724271"/>
            <a:ext cx="619125" cy="190500"/>
          </a:xfrm>
          <a:custGeom>
            <a:avLst/>
            <a:gdLst/>
            <a:ahLst/>
            <a:cxnLst/>
            <a:rect l="l" t="t" r="r" b="b"/>
            <a:pathLst>
              <a:path w="619125" h="190500">
                <a:moveTo>
                  <a:pt x="594339" y="190490"/>
                </a:moveTo>
                <a:lnTo>
                  <a:pt x="24785" y="190490"/>
                </a:lnTo>
                <a:lnTo>
                  <a:pt x="21140" y="189765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0"/>
                </a:lnTo>
                <a:lnTo>
                  <a:pt x="24785" y="0"/>
                </a:lnTo>
                <a:lnTo>
                  <a:pt x="594339" y="0"/>
                </a:lnTo>
                <a:lnTo>
                  <a:pt x="619124" y="24780"/>
                </a:lnTo>
                <a:lnTo>
                  <a:pt x="619124" y="165711"/>
                </a:lnTo>
                <a:lnTo>
                  <a:pt x="597984" y="189765"/>
                </a:lnTo>
                <a:lnTo>
                  <a:pt x="594339" y="190490"/>
                </a:lnTo>
                <a:close/>
              </a:path>
            </a:pathLst>
          </a:custGeom>
          <a:solidFill>
            <a:srgbClr val="D0E7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452762" y="3736054"/>
            <a:ext cx="49085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2D6A2D"/>
                </a:solidFill>
                <a:latin typeface="Noto Sans KR"/>
                <a:cs typeface="Noto Sans KR"/>
              </a:rPr>
              <a:t>HRL</a:t>
            </a:r>
            <a:r>
              <a:rPr dirty="0" sz="900" spc="-5" b="1">
                <a:solidFill>
                  <a:srgbClr val="2D6A2D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2D6A2D"/>
                </a:solidFill>
                <a:latin typeface="Noto Sans KR"/>
                <a:cs typeface="Noto Sans KR"/>
              </a:rPr>
              <a:t>40%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15949" y="3598828"/>
            <a:ext cx="1900555" cy="55499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150" spc="-105" b="1">
                <a:latin typeface="Noto Sans KR"/>
                <a:cs typeface="Noto Sans KR"/>
              </a:rPr>
              <a:t>12</a:t>
            </a:r>
            <a:r>
              <a:rPr dirty="0" sz="1150" spc="-105" b="1">
                <a:latin typeface="맑은 고딕"/>
                <a:cs typeface="맑은 고딕"/>
              </a:rPr>
              <a:t>개</a:t>
            </a:r>
            <a:r>
              <a:rPr dirty="0" sz="1150" spc="-95" b="1">
                <a:latin typeface="맑은 고딕"/>
                <a:cs typeface="맑은 고딕"/>
              </a:rPr>
              <a:t> </a:t>
            </a:r>
            <a:r>
              <a:rPr dirty="0" sz="1200" spc="-10" b="1">
                <a:latin typeface="Arial"/>
                <a:cs typeface="Arial"/>
              </a:rPr>
              <a:t>(</a:t>
            </a:r>
            <a:r>
              <a:rPr dirty="0" sz="1150" spc="-10" b="1">
                <a:latin typeface="Noto Sans KR"/>
                <a:cs typeface="Noto Sans KR"/>
              </a:rPr>
              <a:t>4</a:t>
            </a:r>
            <a:r>
              <a:rPr dirty="0" sz="1200" spc="-10" b="1">
                <a:latin typeface="Arial"/>
                <a:cs typeface="Arial"/>
              </a:rPr>
              <a:t>.</a:t>
            </a:r>
            <a:r>
              <a:rPr dirty="0" sz="1150" spc="-10" b="1">
                <a:latin typeface="Noto Sans KR"/>
                <a:cs typeface="Noto Sans KR"/>
              </a:rPr>
              <a:t>7%</a:t>
            </a:r>
            <a:r>
              <a:rPr dirty="0" sz="1200" spc="-10" b="1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000" spc="-50">
                <a:solidFill>
                  <a:srgbClr val="777777"/>
                </a:solidFill>
                <a:latin typeface="Noto Sans KR"/>
                <a:cs typeface="Noto Sans KR"/>
              </a:rPr>
              <a:t>DRL</a:t>
            </a:r>
            <a:r>
              <a:rPr dirty="0" sz="1000" spc="5">
                <a:solidFill>
                  <a:srgbClr val="777777"/>
                </a:solidFill>
                <a:latin typeface="Noto Sans KR"/>
                <a:cs typeface="Noto Sans KR"/>
              </a:rPr>
              <a:t> </a:t>
            </a:r>
            <a:r>
              <a:rPr dirty="0" sz="1000" spc="280">
                <a:solidFill>
                  <a:srgbClr val="777777"/>
                </a:solidFill>
                <a:latin typeface="휴먼아미체"/>
                <a:cs typeface="휴먼아미체"/>
              </a:rPr>
              <a:t>불안정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777777"/>
                </a:solidFill>
                <a:latin typeface="휴먼아미체"/>
                <a:cs typeface="휴먼아미체"/>
              </a:rPr>
              <a:t>시작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777777"/>
                </a:solidFill>
                <a:latin typeface="Arial"/>
                <a:cs typeface="Arial"/>
              </a:rPr>
              <a:t>—</a:t>
            </a:r>
            <a:r>
              <a:rPr dirty="0" sz="1000" spc="-3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1000" spc="290">
                <a:solidFill>
                  <a:srgbClr val="777777"/>
                </a:solidFill>
                <a:latin typeface="휴먼아미체"/>
                <a:cs typeface="휴먼아미체"/>
              </a:rPr>
              <a:t>거버넌스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365">
                <a:solidFill>
                  <a:srgbClr val="777777"/>
                </a:solidFill>
                <a:latin typeface="휴먼아미체"/>
                <a:cs typeface="휴먼아미체"/>
              </a:rPr>
              <a:t>부분</a:t>
            </a:r>
            <a:r>
              <a:rPr dirty="0" sz="1000" spc="-160">
                <a:solidFill>
                  <a:srgbClr val="777777"/>
                </a:solidFill>
                <a:latin typeface="휴먼아미체"/>
                <a:cs typeface="휴먼아미체"/>
              </a:rPr>
              <a:t> </a:t>
            </a:r>
            <a:r>
              <a:rPr dirty="0" sz="1000" spc="180">
                <a:solidFill>
                  <a:srgbClr val="777777"/>
                </a:solidFill>
                <a:latin typeface="휴먼아미체"/>
                <a:cs typeface="휴먼아미체"/>
              </a:rPr>
              <a:t>개선</a:t>
            </a:r>
            <a:endParaRPr sz="1000">
              <a:latin typeface="휴먼아미체"/>
              <a:cs typeface="휴먼아미체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95299" y="4333871"/>
            <a:ext cx="3667125" cy="676275"/>
            <a:chOff x="495299" y="4333871"/>
            <a:chExt cx="3667125" cy="676275"/>
          </a:xfrm>
        </p:grpSpPr>
        <p:sp>
          <p:nvSpPr>
            <p:cNvPr id="22" name="object 22" descr=""/>
            <p:cNvSpPr/>
            <p:nvPr/>
          </p:nvSpPr>
          <p:spPr>
            <a:xfrm>
              <a:off x="500062" y="4338633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3590852" y="666740"/>
                  </a:moveTo>
                  <a:lnTo>
                    <a:pt x="66746" y="666740"/>
                  </a:lnTo>
                  <a:lnTo>
                    <a:pt x="62101" y="666285"/>
                  </a:lnTo>
                  <a:lnTo>
                    <a:pt x="24240" y="649132"/>
                  </a:lnTo>
                  <a:lnTo>
                    <a:pt x="2287" y="613831"/>
                  </a:lnTo>
                  <a:lnTo>
                    <a:pt x="0" y="600000"/>
                  </a:lnTo>
                  <a:lnTo>
                    <a:pt x="0" y="595312"/>
                  </a:lnTo>
                  <a:lnTo>
                    <a:pt x="0" y="66739"/>
                  </a:lnTo>
                  <a:lnTo>
                    <a:pt x="14645" y="27840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3590852" y="0"/>
                  </a:lnTo>
                  <a:lnTo>
                    <a:pt x="3629750" y="14631"/>
                  </a:lnTo>
                  <a:lnTo>
                    <a:pt x="3653956" y="48415"/>
                  </a:lnTo>
                  <a:lnTo>
                    <a:pt x="3657599" y="66739"/>
                  </a:lnTo>
                  <a:lnTo>
                    <a:pt x="3657599" y="600000"/>
                  </a:lnTo>
                  <a:lnTo>
                    <a:pt x="3642953" y="638891"/>
                  </a:lnTo>
                  <a:lnTo>
                    <a:pt x="3609166" y="663094"/>
                  </a:lnTo>
                  <a:lnTo>
                    <a:pt x="3595498" y="666285"/>
                  </a:lnTo>
                  <a:lnTo>
                    <a:pt x="3590852" y="666740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00062" y="4338633"/>
              <a:ext cx="3657600" cy="666750"/>
            </a:xfrm>
            <a:custGeom>
              <a:avLst/>
              <a:gdLst/>
              <a:ahLst/>
              <a:cxnLst/>
              <a:rect l="l" t="t" r="r" b="b"/>
              <a:pathLst>
                <a:path w="3657600" h="666750">
                  <a:moveTo>
                    <a:pt x="0" y="5953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5437" y="44090"/>
                  </a:lnTo>
                  <a:lnTo>
                    <a:pt x="7232" y="39755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2" y="0"/>
                  </a:lnTo>
                  <a:lnTo>
                    <a:pt x="3595498" y="456"/>
                  </a:lnTo>
                  <a:lnTo>
                    <a:pt x="3600098" y="1367"/>
                  </a:lnTo>
                  <a:lnTo>
                    <a:pt x="3604699" y="2287"/>
                  </a:lnTo>
                  <a:lnTo>
                    <a:pt x="3609166" y="3636"/>
                  </a:lnTo>
                  <a:lnTo>
                    <a:pt x="3613499" y="5432"/>
                  </a:lnTo>
                  <a:lnTo>
                    <a:pt x="3617833" y="7218"/>
                  </a:lnTo>
                  <a:lnTo>
                    <a:pt x="3648165" y="35634"/>
                  </a:lnTo>
                  <a:lnTo>
                    <a:pt x="3652161" y="44090"/>
                  </a:lnTo>
                  <a:lnTo>
                    <a:pt x="3653956" y="48415"/>
                  </a:lnTo>
                  <a:lnTo>
                    <a:pt x="3655311" y="52889"/>
                  </a:lnTo>
                  <a:lnTo>
                    <a:pt x="3656226" y="57493"/>
                  </a:lnTo>
                  <a:lnTo>
                    <a:pt x="3657142" y="62098"/>
                  </a:lnTo>
                  <a:lnTo>
                    <a:pt x="3657599" y="66739"/>
                  </a:lnTo>
                  <a:lnTo>
                    <a:pt x="3657599" y="71437"/>
                  </a:lnTo>
                  <a:lnTo>
                    <a:pt x="3657599" y="595312"/>
                  </a:lnTo>
                  <a:lnTo>
                    <a:pt x="3657599" y="600000"/>
                  </a:lnTo>
                  <a:lnTo>
                    <a:pt x="3657142" y="604642"/>
                  </a:lnTo>
                  <a:lnTo>
                    <a:pt x="3639992" y="642500"/>
                  </a:lnTo>
                  <a:lnTo>
                    <a:pt x="3613499" y="661298"/>
                  </a:lnTo>
                  <a:lnTo>
                    <a:pt x="3609166" y="663094"/>
                  </a:lnTo>
                  <a:lnTo>
                    <a:pt x="3604699" y="664452"/>
                  </a:lnTo>
                  <a:lnTo>
                    <a:pt x="3600098" y="665364"/>
                  </a:lnTo>
                  <a:lnTo>
                    <a:pt x="3595498" y="666285"/>
                  </a:lnTo>
                  <a:lnTo>
                    <a:pt x="3590852" y="666740"/>
                  </a:lnTo>
                  <a:lnTo>
                    <a:pt x="3586162" y="666749"/>
                  </a:lnTo>
                  <a:lnTo>
                    <a:pt x="71437" y="666749"/>
                  </a:lnTo>
                  <a:lnTo>
                    <a:pt x="66746" y="666740"/>
                  </a:lnTo>
                  <a:lnTo>
                    <a:pt x="62101" y="666285"/>
                  </a:lnTo>
                  <a:lnTo>
                    <a:pt x="57500" y="665364"/>
                  </a:lnTo>
                  <a:lnTo>
                    <a:pt x="52900" y="664452"/>
                  </a:lnTo>
                  <a:lnTo>
                    <a:pt x="48433" y="663094"/>
                  </a:lnTo>
                  <a:lnTo>
                    <a:pt x="44099" y="661298"/>
                  </a:lnTo>
                  <a:lnTo>
                    <a:pt x="39765" y="659504"/>
                  </a:lnTo>
                  <a:lnTo>
                    <a:pt x="12039" y="634984"/>
                  </a:lnTo>
                  <a:lnTo>
                    <a:pt x="9433" y="631087"/>
                  </a:lnTo>
                  <a:lnTo>
                    <a:pt x="1372" y="609237"/>
                  </a:lnTo>
                  <a:lnTo>
                    <a:pt x="457" y="604642"/>
                  </a:lnTo>
                  <a:lnTo>
                    <a:pt x="0" y="600000"/>
                  </a:lnTo>
                  <a:lnTo>
                    <a:pt x="0" y="595312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800349" y="4476746"/>
              <a:ext cx="609600" cy="190500"/>
            </a:xfrm>
            <a:custGeom>
              <a:avLst/>
              <a:gdLst/>
              <a:ahLst/>
              <a:cxnLst/>
              <a:rect l="l" t="t" r="r" b="b"/>
              <a:pathLst>
                <a:path w="609600" h="190500">
                  <a:moveTo>
                    <a:pt x="584813" y="190490"/>
                  </a:moveTo>
                  <a:lnTo>
                    <a:pt x="24785" y="190490"/>
                  </a:lnTo>
                  <a:lnTo>
                    <a:pt x="21140" y="189765"/>
                  </a:lnTo>
                  <a:lnTo>
                    <a:pt x="0" y="165711"/>
                  </a:lnTo>
                  <a:lnTo>
                    <a:pt x="0" y="161924"/>
                  </a:lnTo>
                  <a:lnTo>
                    <a:pt x="0" y="24780"/>
                  </a:lnTo>
                  <a:lnTo>
                    <a:pt x="24785" y="0"/>
                  </a:lnTo>
                  <a:lnTo>
                    <a:pt x="584813" y="0"/>
                  </a:lnTo>
                  <a:lnTo>
                    <a:pt x="609599" y="24780"/>
                  </a:lnTo>
                  <a:lnTo>
                    <a:pt x="609599" y="165711"/>
                  </a:lnTo>
                  <a:lnTo>
                    <a:pt x="588458" y="189765"/>
                  </a:lnTo>
                  <a:lnTo>
                    <a:pt x="584813" y="190490"/>
                  </a:lnTo>
                  <a:close/>
                </a:path>
              </a:pathLst>
            </a:custGeom>
            <a:solidFill>
              <a:srgbClr val="8B1A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863254" y="4488529"/>
            <a:ext cx="486409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FFFFFF"/>
                </a:solidFill>
                <a:latin typeface="Noto Sans KR"/>
                <a:cs typeface="Noto Sans KR"/>
              </a:rPr>
              <a:t>DRL</a:t>
            </a:r>
            <a:r>
              <a:rPr dirty="0" sz="90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60%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3448049" y="4476746"/>
            <a:ext cx="561975" cy="190500"/>
          </a:xfrm>
          <a:custGeom>
            <a:avLst/>
            <a:gdLst/>
            <a:ahLst/>
            <a:cxnLst/>
            <a:rect l="l" t="t" r="r" b="b"/>
            <a:pathLst>
              <a:path w="561975" h="190500">
                <a:moveTo>
                  <a:pt x="537189" y="190490"/>
                </a:moveTo>
                <a:lnTo>
                  <a:pt x="24785" y="190490"/>
                </a:lnTo>
                <a:lnTo>
                  <a:pt x="21140" y="189765"/>
                </a:lnTo>
                <a:lnTo>
                  <a:pt x="0" y="165711"/>
                </a:lnTo>
                <a:lnTo>
                  <a:pt x="0" y="161924"/>
                </a:lnTo>
                <a:lnTo>
                  <a:pt x="0" y="24780"/>
                </a:lnTo>
                <a:lnTo>
                  <a:pt x="24785" y="0"/>
                </a:lnTo>
                <a:lnTo>
                  <a:pt x="537189" y="0"/>
                </a:lnTo>
                <a:lnTo>
                  <a:pt x="561974" y="24780"/>
                </a:lnTo>
                <a:lnTo>
                  <a:pt x="561974" y="165711"/>
                </a:lnTo>
                <a:lnTo>
                  <a:pt x="540834" y="189765"/>
                </a:lnTo>
                <a:lnTo>
                  <a:pt x="537189" y="190490"/>
                </a:lnTo>
                <a:close/>
              </a:path>
            </a:pathLst>
          </a:custGeom>
          <a:solidFill>
            <a:srgbClr val="2D6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514526" y="4488529"/>
            <a:ext cx="429259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40" b="1">
                <a:solidFill>
                  <a:srgbClr val="FFFFFF"/>
                </a:solidFill>
                <a:latin typeface="Noto Sans KR"/>
                <a:cs typeface="Noto Sans KR"/>
              </a:rPr>
              <a:t>HRL</a:t>
            </a:r>
            <a:r>
              <a:rPr dirty="0" sz="900" spc="-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Noto Sans KR"/>
                <a:cs typeface="Noto Sans KR"/>
              </a:rPr>
              <a:t>0%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15949" y="4351303"/>
            <a:ext cx="2002789" cy="55499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150" spc="-105" b="1">
                <a:solidFill>
                  <a:srgbClr val="DF592A"/>
                </a:solidFill>
                <a:latin typeface="Noto Sans KR"/>
                <a:cs typeface="Noto Sans KR"/>
              </a:rPr>
              <a:t>20</a:t>
            </a:r>
            <a:r>
              <a:rPr dirty="0" sz="1150" spc="-105" b="1">
                <a:solidFill>
                  <a:srgbClr val="DF592A"/>
                </a:solidFill>
                <a:latin typeface="맑은 고딕"/>
                <a:cs typeface="맑은 고딕"/>
              </a:rPr>
              <a:t>개 </a:t>
            </a:r>
            <a:r>
              <a:rPr dirty="0" sz="1200" spc="-35" b="1">
                <a:solidFill>
                  <a:srgbClr val="DF592A"/>
                </a:solidFill>
                <a:latin typeface="Arial"/>
                <a:cs typeface="Arial"/>
              </a:rPr>
              <a:t>(</a:t>
            </a:r>
            <a:r>
              <a:rPr dirty="0" sz="1150" spc="-35" b="1">
                <a:solidFill>
                  <a:srgbClr val="DF592A"/>
                </a:solidFill>
                <a:latin typeface="Noto Sans KR"/>
                <a:cs typeface="Noto Sans KR"/>
              </a:rPr>
              <a:t>7</a:t>
            </a:r>
            <a:r>
              <a:rPr dirty="0" sz="1200" spc="-35" b="1">
                <a:solidFill>
                  <a:srgbClr val="DF592A"/>
                </a:solidFill>
                <a:latin typeface="Arial"/>
                <a:cs typeface="Arial"/>
              </a:rPr>
              <a:t>.</a:t>
            </a:r>
            <a:r>
              <a:rPr dirty="0" sz="1150" spc="-35" b="1">
                <a:solidFill>
                  <a:srgbClr val="DF592A"/>
                </a:solidFill>
                <a:latin typeface="Noto Sans KR"/>
                <a:cs typeface="Noto Sans KR"/>
              </a:rPr>
              <a:t>7%</a:t>
            </a:r>
            <a:r>
              <a:rPr dirty="0" sz="1200" spc="-35" b="1">
                <a:solidFill>
                  <a:srgbClr val="DF592A"/>
                </a:solidFill>
                <a:latin typeface="Arial"/>
                <a:cs typeface="Arial"/>
              </a:rPr>
              <a:t>)</a:t>
            </a:r>
            <a:r>
              <a:rPr dirty="0" sz="1200" spc="-25" b="1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150" spc="-110" b="1">
                <a:solidFill>
                  <a:srgbClr val="DF592A"/>
                </a:solidFill>
                <a:latin typeface="Arial"/>
                <a:cs typeface="Arial"/>
              </a:rPr>
              <a:t>←</a:t>
            </a:r>
            <a:r>
              <a:rPr dirty="0" sz="1150" spc="-20" b="1">
                <a:solidFill>
                  <a:srgbClr val="DF592A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DF592A"/>
                </a:solidFill>
                <a:latin typeface="맑은 고딕"/>
                <a:cs typeface="맑은 고딕"/>
              </a:rPr>
              <a:t>주요</a:t>
            </a:r>
            <a:endParaRPr sz="115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대비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04">
                <a:solidFill>
                  <a:srgbClr val="444444"/>
                </a:solidFill>
                <a:latin typeface="휴먼아미체"/>
                <a:cs typeface="휴먼아미체"/>
              </a:rPr>
              <a:t>최대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200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70">
                <a:solidFill>
                  <a:srgbClr val="444444"/>
                </a:solidFill>
                <a:latin typeface="휴먼아미체"/>
                <a:cs typeface="휴먼아미체"/>
              </a:rPr>
              <a:t>거버넌스가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54">
                <a:solidFill>
                  <a:srgbClr val="444444"/>
                </a:solidFill>
                <a:latin typeface="휴먼아미체"/>
                <a:cs typeface="휴먼아미체"/>
              </a:rPr>
              <a:t>실패를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완전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180">
                <a:solidFill>
                  <a:srgbClr val="444444"/>
                </a:solidFill>
                <a:latin typeface="휴먼아미체"/>
                <a:cs typeface="휴먼아미체"/>
              </a:rPr>
              <a:t>제거</a:t>
            </a:r>
            <a:endParaRPr sz="1000">
              <a:latin typeface="휴먼아미체"/>
              <a:cs typeface="휴먼아미체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3048" y="1457321"/>
            <a:ext cx="5362575" cy="4276724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6"/>
            <a:ext cx="790575" cy="200025"/>
          </a:xfrm>
          <a:custGeom>
            <a:avLst/>
            <a:gdLst/>
            <a:ahLst/>
            <a:cxnLst/>
            <a:rect l="l" t="t" r="r" b="b"/>
            <a:pathLst>
              <a:path w="790575" h="200025">
                <a:moveTo>
                  <a:pt x="757527" y="200015"/>
                </a:moveTo>
                <a:lnTo>
                  <a:pt x="33047" y="200015"/>
                </a:lnTo>
                <a:lnTo>
                  <a:pt x="28187" y="199048"/>
                </a:lnTo>
                <a:lnTo>
                  <a:pt x="966" y="171830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0"/>
                </a:lnTo>
                <a:lnTo>
                  <a:pt x="28187" y="967"/>
                </a:lnTo>
                <a:lnTo>
                  <a:pt x="33047" y="0"/>
                </a:lnTo>
                <a:lnTo>
                  <a:pt x="757527" y="0"/>
                </a:lnTo>
                <a:lnTo>
                  <a:pt x="789608" y="28174"/>
                </a:lnTo>
                <a:lnTo>
                  <a:pt x="790574" y="33040"/>
                </a:lnTo>
                <a:lnTo>
                  <a:pt x="790574" y="166976"/>
                </a:lnTo>
                <a:lnTo>
                  <a:pt x="762387" y="199048"/>
                </a:lnTo>
                <a:lnTo>
                  <a:pt x="757527" y="200015"/>
                </a:lnTo>
                <a:close/>
              </a:path>
            </a:pathLst>
          </a:custGeom>
          <a:solidFill>
            <a:srgbClr val="2D6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61785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30" b="1">
                <a:solidFill>
                  <a:srgbClr val="FFFFFF"/>
                </a:solidFill>
                <a:latin typeface="맑은 고딕"/>
                <a:cs typeface="맑은 고딕"/>
              </a:rPr>
              <a:t>메커니즘</a:t>
            </a:r>
            <a:r>
              <a:rPr dirty="0" sz="850" spc="3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0" b="1">
                <a:solidFill>
                  <a:srgbClr val="FFFFFF"/>
                </a:solidFill>
                <a:latin typeface="맑은 고딕"/>
                <a:cs typeface="맑은 고딕"/>
              </a:rPr>
              <a:t>분석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335"/>
              <a:t>적은</a:t>
            </a:r>
            <a:r>
              <a:rPr dirty="0" sz="1850" spc="-190"/>
              <a:t> </a:t>
            </a:r>
            <a:r>
              <a:rPr dirty="0" sz="1850" spc="-335"/>
              <a:t>개입으로</a:t>
            </a:r>
            <a:r>
              <a:rPr dirty="0" sz="1850" spc="-185"/>
              <a:t> </a:t>
            </a:r>
            <a:r>
              <a:rPr dirty="0" sz="1850" spc="-335"/>
              <a:t>큰</a:t>
            </a:r>
            <a:r>
              <a:rPr dirty="0" sz="1850" spc="-185"/>
              <a:t> </a:t>
            </a:r>
            <a:r>
              <a:rPr dirty="0" sz="1850" spc="-335"/>
              <a:t>효과</a:t>
            </a:r>
            <a:r>
              <a:rPr dirty="0" sz="1850" spc="-185"/>
              <a:t> </a:t>
            </a:r>
            <a:r>
              <a:rPr dirty="0" sz="1900" spc="-440">
                <a:latin typeface="Arial"/>
                <a:cs typeface="Arial"/>
              </a:rPr>
              <a:t>—</a:t>
            </a:r>
            <a:r>
              <a:rPr dirty="0" sz="1900" spc="-65">
                <a:latin typeface="Arial"/>
                <a:cs typeface="Arial"/>
              </a:rPr>
              <a:t> </a:t>
            </a:r>
            <a:r>
              <a:rPr dirty="0" sz="1850" spc="-335">
                <a:solidFill>
                  <a:srgbClr val="2D6A2D"/>
                </a:solidFill>
              </a:rPr>
              <a:t>훈련</a:t>
            </a:r>
            <a:r>
              <a:rPr dirty="0" sz="1850" spc="-190">
                <a:solidFill>
                  <a:srgbClr val="2D6A2D"/>
                </a:solidFill>
              </a:rPr>
              <a:t> </a:t>
            </a:r>
            <a:r>
              <a:rPr dirty="0" sz="1850" spc="-335">
                <a:solidFill>
                  <a:srgbClr val="2D6A2D"/>
                </a:solidFill>
              </a:rPr>
              <a:t>수렴</a:t>
            </a:r>
            <a:r>
              <a:rPr dirty="0" sz="1850" spc="-185">
                <a:solidFill>
                  <a:srgbClr val="2D6A2D"/>
                </a:solidFill>
              </a:rPr>
              <a:t> </a:t>
            </a:r>
            <a:r>
              <a:rPr dirty="0" sz="1850" spc="-360">
                <a:solidFill>
                  <a:srgbClr val="2D6A2D"/>
                </a:solidFill>
              </a:rPr>
              <a:t>안정화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14396"/>
            <a:ext cx="7324725" cy="5095875"/>
            <a:chOff x="495299" y="914396"/>
            <a:chExt cx="7324725" cy="509587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19158"/>
              <a:ext cx="7315200" cy="5086350"/>
            </a:xfrm>
            <a:custGeom>
              <a:avLst/>
              <a:gdLst/>
              <a:ahLst/>
              <a:cxnLst/>
              <a:rect l="l" t="t" r="r" b="b"/>
              <a:pathLst>
                <a:path w="7315200" h="5086350">
                  <a:moveTo>
                    <a:pt x="7239552" y="5086340"/>
                  </a:moveTo>
                  <a:lnTo>
                    <a:pt x="75646" y="5086340"/>
                  </a:lnTo>
                  <a:lnTo>
                    <a:pt x="70381" y="5085819"/>
                  </a:lnTo>
                  <a:lnTo>
                    <a:pt x="31561" y="5069737"/>
                  </a:lnTo>
                  <a:lnTo>
                    <a:pt x="4128" y="5031441"/>
                  </a:lnTo>
                  <a:lnTo>
                    <a:pt x="0" y="5010698"/>
                  </a:lnTo>
                  <a:lnTo>
                    <a:pt x="0" y="5005387"/>
                  </a:lnTo>
                  <a:lnTo>
                    <a:pt x="0" y="75641"/>
                  </a:lnTo>
                  <a:lnTo>
                    <a:pt x="16598" y="31542"/>
                  </a:lnTo>
                  <a:lnTo>
                    <a:pt x="54890" y="4130"/>
                  </a:lnTo>
                  <a:lnTo>
                    <a:pt x="75646" y="0"/>
                  </a:lnTo>
                  <a:lnTo>
                    <a:pt x="7239552" y="0"/>
                  </a:lnTo>
                  <a:lnTo>
                    <a:pt x="7283636" y="16584"/>
                  </a:lnTo>
                  <a:lnTo>
                    <a:pt x="7311070" y="54870"/>
                  </a:lnTo>
                  <a:lnTo>
                    <a:pt x="7315199" y="75641"/>
                  </a:lnTo>
                  <a:lnTo>
                    <a:pt x="7315199" y="5010698"/>
                  </a:lnTo>
                  <a:lnTo>
                    <a:pt x="7298600" y="5054770"/>
                  </a:lnTo>
                  <a:lnTo>
                    <a:pt x="7260307" y="5082201"/>
                  </a:lnTo>
                  <a:lnTo>
                    <a:pt x="7244817" y="5085819"/>
                  </a:lnTo>
                  <a:lnTo>
                    <a:pt x="7239552" y="508634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19158"/>
              <a:ext cx="7315200" cy="5086350"/>
            </a:xfrm>
            <a:custGeom>
              <a:avLst/>
              <a:gdLst/>
              <a:ahLst/>
              <a:cxnLst/>
              <a:rect l="l" t="t" r="r" b="b"/>
              <a:pathLst>
                <a:path w="7315200" h="5086350">
                  <a:moveTo>
                    <a:pt x="0" y="5005387"/>
                  </a:moveTo>
                  <a:lnTo>
                    <a:pt x="0" y="80962"/>
                  </a:lnTo>
                  <a:lnTo>
                    <a:pt x="0" y="75641"/>
                  </a:lnTo>
                  <a:lnTo>
                    <a:pt x="518" y="70377"/>
                  </a:lnTo>
                  <a:lnTo>
                    <a:pt x="1555" y="65158"/>
                  </a:lnTo>
                  <a:lnTo>
                    <a:pt x="2592" y="59940"/>
                  </a:lnTo>
                  <a:lnTo>
                    <a:pt x="4128" y="54870"/>
                  </a:lnTo>
                  <a:lnTo>
                    <a:pt x="6162" y="49959"/>
                  </a:lnTo>
                  <a:lnTo>
                    <a:pt x="8197" y="45048"/>
                  </a:lnTo>
                  <a:lnTo>
                    <a:pt x="23713" y="23701"/>
                  </a:lnTo>
                  <a:lnTo>
                    <a:pt x="27472" y="19933"/>
                  </a:lnTo>
                  <a:lnTo>
                    <a:pt x="31561" y="16584"/>
                  </a:lnTo>
                  <a:lnTo>
                    <a:pt x="35982" y="13635"/>
                  </a:lnTo>
                  <a:lnTo>
                    <a:pt x="40402" y="10678"/>
                  </a:lnTo>
                  <a:lnTo>
                    <a:pt x="45068" y="8185"/>
                  </a:lnTo>
                  <a:lnTo>
                    <a:pt x="49979" y="6157"/>
                  </a:lnTo>
                  <a:lnTo>
                    <a:pt x="54890" y="4130"/>
                  </a:lnTo>
                  <a:lnTo>
                    <a:pt x="59953" y="2595"/>
                  </a:lnTo>
                  <a:lnTo>
                    <a:pt x="65167" y="1553"/>
                  </a:lnTo>
                  <a:lnTo>
                    <a:pt x="70381" y="521"/>
                  </a:lnTo>
                  <a:lnTo>
                    <a:pt x="75646" y="0"/>
                  </a:lnTo>
                  <a:lnTo>
                    <a:pt x="80962" y="0"/>
                  </a:lnTo>
                  <a:lnTo>
                    <a:pt x="7234236" y="0"/>
                  </a:lnTo>
                  <a:lnTo>
                    <a:pt x="7239552" y="0"/>
                  </a:lnTo>
                  <a:lnTo>
                    <a:pt x="7244817" y="521"/>
                  </a:lnTo>
                  <a:lnTo>
                    <a:pt x="7279216" y="13635"/>
                  </a:lnTo>
                  <a:lnTo>
                    <a:pt x="7283636" y="16584"/>
                  </a:lnTo>
                  <a:lnTo>
                    <a:pt x="7287726" y="19933"/>
                  </a:lnTo>
                  <a:lnTo>
                    <a:pt x="7291485" y="23701"/>
                  </a:lnTo>
                  <a:lnTo>
                    <a:pt x="7295244" y="27458"/>
                  </a:lnTo>
                  <a:lnTo>
                    <a:pt x="7313643" y="65158"/>
                  </a:lnTo>
                  <a:lnTo>
                    <a:pt x="7314680" y="70377"/>
                  </a:lnTo>
                  <a:lnTo>
                    <a:pt x="7315199" y="75641"/>
                  </a:lnTo>
                  <a:lnTo>
                    <a:pt x="7315199" y="80962"/>
                  </a:lnTo>
                  <a:lnTo>
                    <a:pt x="7315199" y="5005387"/>
                  </a:lnTo>
                  <a:lnTo>
                    <a:pt x="7315199" y="5010698"/>
                  </a:lnTo>
                  <a:lnTo>
                    <a:pt x="7314680" y="5015954"/>
                  </a:lnTo>
                  <a:lnTo>
                    <a:pt x="7298600" y="5054770"/>
                  </a:lnTo>
                  <a:lnTo>
                    <a:pt x="7279216" y="5072685"/>
                  </a:lnTo>
                  <a:lnTo>
                    <a:pt x="7274796" y="5075633"/>
                  </a:lnTo>
                  <a:lnTo>
                    <a:pt x="7250031" y="5084777"/>
                  </a:lnTo>
                  <a:lnTo>
                    <a:pt x="7244817" y="5085819"/>
                  </a:lnTo>
                  <a:lnTo>
                    <a:pt x="7239552" y="5086340"/>
                  </a:lnTo>
                  <a:lnTo>
                    <a:pt x="7234236" y="5086349"/>
                  </a:lnTo>
                  <a:lnTo>
                    <a:pt x="80962" y="5086349"/>
                  </a:lnTo>
                  <a:lnTo>
                    <a:pt x="75646" y="5086340"/>
                  </a:lnTo>
                  <a:lnTo>
                    <a:pt x="70381" y="5085819"/>
                  </a:lnTo>
                  <a:lnTo>
                    <a:pt x="65167" y="5084777"/>
                  </a:lnTo>
                  <a:lnTo>
                    <a:pt x="59953" y="5083745"/>
                  </a:lnTo>
                  <a:lnTo>
                    <a:pt x="54890" y="5082201"/>
                  </a:lnTo>
                  <a:lnTo>
                    <a:pt x="49979" y="5080164"/>
                  </a:lnTo>
                  <a:lnTo>
                    <a:pt x="45068" y="5078126"/>
                  </a:lnTo>
                  <a:lnTo>
                    <a:pt x="40402" y="5075633"/>
                  </a:lnTo>
                  <a:lnTo>
                    <a:pt x="35982" y="5072685"/>
                  </a:lnTo>
                  <a:lnTo>
                    <a:pt x="31561" y="5069737"/>
                  </a:lnTo>
                  <a:lnTo>
                    <a:pt x="6162" y="5036352"/>
                  </a:lnTo>
                  <a:lnTo>
                    <a:pt x="0" y="5010698"/>
                  </a:lnTo>
                  <a:lnTo>
                    <a:pt x="0" y="500538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899" y="1657350"/>
              <a:ext cx="6867524" cy="3619499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495299" y="6095995"/>
            <a:ext cx="7324725" cy="514350"/>
          </a:xfrm>
          <a:custGeom>
            <a:avLst/>
            <a:gdLst/>
            <a:ahLst/>
            <a:cxnLst/>
            <a:rect l="l" t="t" r="r" b="b"/>
            <a:pathLst>
              <a:path w="7324725" h="514350">
                <a:moveTo>
                  <a:pt x="7262427" y="514349"/>
                </a:moveTo>
                <a:lnTo>
                  <a:pt x="62297" y="514349"/>
                </a:lnTo>
                <a:lnTo>
                  <a:pt x="57961" y="513922"/>
                </a:lnTo>
                <a:lnTo>
                  <a:pt x="22624" y="497904"/>
                </a:lnTo>
                <a:lnTo>
                  <a:pt x="2135" y="464958"/>
                </a:lnTo>
                <a:lnTo>
                  <a:pt x="0" y="452056"/>
                </a:lnTo>
                <a:lnTo>
                  <a:pt x="0" y="447674"/>
                </a:lnTo>
                <a:lnTo>
                  <a:pt x="0" y="62293"/>
                </a:lnTo>
                <a:lnTo>
                  <a:pt x="13668" y="25970"/>
                </a:lnTo>
                <a:lnTo>
                  <a:pt x="45204" y="3394"/>
                </a:lnTo>
                <a:lnTo>
                  <a:pt x="62297" y="0"/>
                </a:lnTo>
                <a:lnTo>
                  <a:pt x="7262427" y="0"/>
                </a:lnTo>
                <a:lnTo>
                  <a:pt x="7298731" y="13655"/>
                </a:lnTo>
                <a:lnTo>
                  <a:pt x="7321324" y="45187"/>
                </a:lnTo>
                <a:lnTo>
                  <a:pt x="7324723" y="62293"/>
                </a:lnTo>
                <a:lnTo>
                  <a:pt x="7324723" y="452056"/>
                </a:lnTo>
                <a:lnTo>
                  <a:pt x="7311054" y="488333"/>
                </a:lnTo>
                <a:lnTo>
                  <a:pt x="7279519" y="510936"/>
                </a:lnTo>
                <a:lnTo>
                  <a:pt x="7266763" y="513922"/>
                </a:lnTo>
                <a:lnTo>
                  <a:pt x="7262427" y="514349"/>
                </a:lnTo>
                <a:close/>
              </a:path>
            </a:pathLst>
          </a:custGeom>
          <a:solidFill>
            <a:srgbClr val="EFEF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673349" y="6147414"/>
            <a:ext cx="2971800" cy="387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1915">
              <a:lnSpc>
                <a:spcPct val="118700"/>
              </a:lnSpc>
              <a:spcBef>
                <a:spcPts val="95"/>
              </a:spcBef>
            </a:pPr>
            <a:r>
              <a:rPr dirty="0" sz="1000" spc="225">
                <a:solidFill>
                  <a:srgbClr val="444444"/>
                </a:solidFill>
                <a:latin typeface="휴먼아미체"/>
                <a:cs typeface="휴먼아미체"/>
              </a:rPr>
              <a:t>가로축</a:t>
            </a:r>
            <a:r>
              <a:rPr dirty="0" sz="1000" spc="22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315">
                <a:solidFill>
                  <a:srgbClr val="444444"/>
                </a:solidFill>
                <a:latin typeface="휴먼아미체"/>
                <a:cs typeface="휴먼아미체"/>
              </a:rPr>
              <a:t>훈련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85">
                <a:solidFill>
                  <a:srgbClr val="444444"/>
                </a:solidFill>
                <a:latin typeface="휴먼아미체"/>
                <a:cs typeface="휴먼아미체"/>
              </a:rPr>
              <a:t>에피소드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60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000" spc="-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210">
                <a:solidFill>
                  <a:srgbClr val="444444"/>
                </a:solidFill>
                <a:latin typeface="휴먼아미체"/>
                <a:cs typeface="휴먼아미체"/>
              </a:rPr>
              <a:t>세로축</a:t>
            </a:r>
            <a:r>
              <a:rPr dirty="0" sz="1000" spc="21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35">
                <a:solidFill>
                  <a:srgbClr val="444444"/>
                </a:solidFill>
                <a:latin typeface="휴먼아미체"/>
                <a:cs typeface="휴먼아미체"/>
              </a:rPr>
              <a:t>평가</a:t>
            </a:r>
            <a:r>
              <a:rPr dirty="0" sz="1000" spc="-15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s</a:t>
            </a:r>
            <a:r>
              <a:rPr dirty="0" sz="1000" spc="-50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444444"/>
                </a:solidFill>
                <a:latin typeface="Arial"/>
                <a:cs typeface="Arial"/>
              </a:rPr>
              <a:t>·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200">
                <a:solidFill>
                  <a:srgbClr val="444444"/>
                </a:solidFill>
                <a:latin typeface="휴먼아미체"/>
                <a:cs typeface="휴먼아미체"/>
              </a:rPr>
              <a:t>음영</a:t>
            </a:r>
            <a:r>
              <a:rPr dirty="0" sz="1000" spc="20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80">
                <a:solidFill>
                  <a:srgbClr val="444444"/>
                </a:solidFill>
                <a:latin typeface="Noto Sans KR"/>
                <a:cs typeface="Noto Sans KR"/>
              </a:rPr>
              <a:t>±1</a:t>
            </a:r>
            <a:r>
              <a:rPr dirty="0" sz="1000" spc="3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25">
                <a:solidFill>
                  <a:srgbClr val="444444"/>
                </a:solidFill>
                <a:latin typeface="Noto Sans KR"/>
                <a:cs typeface="Noto Sans KR"/>
              </a:rPr>
              <a:t>SD</a:t>
            </a:r>
            <a:r>
              <a:rPr dirty="0" sz="1000" spc="50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150" b="1">
                <a:solidFill>
                  <a:srgbClr val="8B1A1A"/>
                </a:solidFill>
                <a:latin typeface="맑은 고딕"/>
                <a:cs typeface="맑은 고딕"/>
              </a:rPr>
              <a:t>빨간선</a:t>
            </a:r>
            <a:r>
              <a:rPr dirty="0" sz="1000" spc="-15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Pure</a:t>
            </a:r>
            <a:r>
              <a:rPr dirty="0" sz="10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0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18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180">
                <a:solidFill>
                  <a:srgbClr val="444444"/>
                </a:solidFill>
                <a:latin typeface="휴먼아미체"/>
                <a:cs typeface="휴먼아미체"/>
              </a:rPr>
              <a:t>분산</a:t>
            </a:r>
            <a:r>
              <a:rPr dirty="0" sz="10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200">
                <a:solidFill>
                  <a:srgbClr val="444444"/>
                </a:solidFill>
                <a:latin typeface="휴먼아미체"/>
                <a:cs typeface="휴먼아미체"/>
              </a:rPr>
              <a:t>유지</a:t>
            </a:r>
            <a:r>
              <a:rPr dirty="0" sz="1000" spc="200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90">
                <a:solidFill>
                  <a:srgbClr val="444444"/>
                </a:solidFill>
                <a:latin typeface="Arial"/>
                <a:cs typeface="Arial"/>
              </a:rPr>
              <a:t>·</a:t>
            </a:r>
            <a:r>
              <a:rPr dirty="0" sz="100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150" b="1">
                <a:solidFill>
                  <a:srgbClr val="2D6A2D"/>
                </a:solidFill>
                <a:latin typeface="맑은 고딕"/>
                <a:cs typeface="맑은 고딕"/>
              </a:rPr>
              <a:t>초록선</a:t>
            </a:r>
            <a:r>
              <a:rPr dirty="0" sz="1000" spc="-150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00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000" spc="-5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444444"/>
                </a:solidFill>
                <a:latin typeface="Noto Sans KR"/>
                <a:cs typeface="Noto Sans KR"/>
              </a:rPr>
              <a:t>HRL</a:t>
            </a:r>
            <a:r>
              <a:rPr dirty="0" sz="10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000" spc="18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000" spc="180">
                <a:solidFill>
                  <a:srgbClr val="444444"/>
                </a:solidFill>
                <a:latin typeface="휴먼아미체"/>
                <a:cs typeface="휴먼아미체"/>
              </a:rPr>
              <a:t>분산</a:t>
            </a:r>
            <a:r>
              <a:rPr dirty="0" sz="100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000" spc="175">
                <a:solidFill>
                  <a:srgbClr val="444444"/>
                </a:solidFill>
                <a:latin typeface="휴먼아미체"/>
                <a:cs typeface="휴먼아미체"/>
              </a:rPr>
              <a:t>수렴</a:t>
            </a:r>
            <a:r>
              <a:rPr dirty="0" sz="1000" spc="175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029574" y="1771646"/>
            <a:ext cx="3667125" cy="942975"/>
            <a:chOff x="8029574" y="1771646"/>
            <a:chExt cx="3667125" cy="942975"/>
          </a:xfrm>
        </p:grpSpPr>
        <p:sp>
          <p:nvSpPr>
            <p:cNvPr id="12" name="object 12" descr=""/>
            <p:cNvSpPr/>
            <p:nvPr/>
          </p:nvSpPr>
          <p:spPr>
            <a:xfrm>
              <a:off x="8034336" y="1776408"/>
              <a:ext cx="3657600" cy="933450"/>
            </a:xfrm>
            <a:custGeom>
              <a:avLst/>
              <a:gdLst/>
              <a:ahLst/>
              <a:cxnLst/>
              <a:rect l="l" t="t" r="r" b="b"/>
              <a:pathLst>
                <a:path w="3657600" h="933450">
                  <a:moveTo>
                    <a:pt x="3590851" y="933449"/>
                  </a:moveTo>
                  <a:lnTo>
                    <a:pt x="66746" y="933449"/>
                  </a:lnTo>
                  <a:lnTo>
                    <a:pt x="62100" y="932993"/>
                  </a:lnTo>
                  <a:lnTo>
                    <a:pt x="24239" y="915842"/>
                  </a:lnTo>
                  <a:lnTo>
                    <a:pt x="2287" y="880541"/>
                  </a:lnTo>
                  <a:lnTo>
                    <a:pt x="0" y="866710"/>
                  </a:lnTo>
                  <a:lnTo>
                    <a:pt x="0" y="862012"/>
                  </a:lnTo>
                  <a:lnTo>
                    <a:pt x="0" y="66739"/>
                  </a:lnTo>
                  <a:lnTo>
                    <a:pt x="14644" y="27840"/>
                  </a:lnTo>
                  <a:lnTo>
                    <a:pt x="48432" y="3636"/>
                  </a:lnTo>
                  <a:lnTo>
                    <a:pt x="66746" y="0"/>
                  </a:lnTo>
                  <a:lnTo>
                    <a:pt x="3590851" y="0"/>
                  </a:lnTo>
                  <a:lnTo>
                    <a:pt x="3629749" y="14640"/>
                  </a:lnTo>
                  <a:lnTo>
                    <a:pt x="3653955" y="48415"/>
                  </a:lnTo>
                  <a:lnTo>
                    <a:pt x="3657598" y="66739"/>
                  </a:lnTo>
                  <a:lnTo>
                    <a:pt x="3657598" y="866710"/>
                  </a:lnTo>
                  <a:lnTo>
                    <a:pt x="3642954" y="905591"/>
                  </a:lnTo>
                  <a:lnTo>
                    <a:pt x="3609165" y="929803"/>
                  </a:lnTo>
                  <a:lnTo>
                    <a:pt x="3595496" y="932993"/>
                  </a:lnTo>
                  <a:lnTo>
                    <a:pt x="3590851" y="933449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34336" y="1776408"/>
              <a:ext cx="3657600" cy="933450"/>
            </a:xfrm>
            <a:custGeom>
              <a:avLst/>
              <a:gdLst/>
              <a:ahLst/>
              <a:cxnLst/>
              <a:rect l="l" t="t" r="r" b="b"/>
              <a:pathLst>
                <a:path w="3657600" h="933450">
                  <a:moveTo>
                    <a:pt x="0" y="8620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89"/>
                  </a:lnTo>
                  <a:lnTo>
                    <a:pt x="1371" y="57485"/>
                  </a:lnTo>
                  <a:lnTo>
                    <a:pt x="2287" y="52880"/>
                  </a:lnTo>
                  <a:lnTo>
                    <a:pt x="3642" y="48415"/>
                  </a:lnTo>
                  <a:lnTo>
                    <a:pt x="5436" y="44090"/>
                  </a:lnTo>
                  <a:lnTo>
                    <a:pt x="7231" y="39755"/>
                  </a:lnTo>
                  <a:lnTo>
                    <a:pt x="20923" y="20919"/>
                  </a:lnTo>
                  <a:lnTo>
                    <a:pt x="24239" y="17599"/>
                  </a:lnTo>
                  <a:lnTo>
                    <a:pt x="27848" y="14640"/>
                  </a:lnTo>
                  <a:lnTo>
                    <a:pt x="31748" y="12036"/>
                  </a:lnTo>
                  <a:lnTo>
                    <a:pt x="35649" y="942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1" y="0"/>
                  </a:lnTo>
                  <a:lnTo>
                    <a:pt x="3595496" y="456"/>
                  </a:lnTo>
                  <a:lnTo>
                    <a:pt x="3625849" y="12036"/>
                  </a:lnTo>
                  <a:lnTo>
                    <a:pt x="3629749" y="14640"/>
                  </a:lnTo>
                  <a:lnTo>
                    <a:pt x="3633358" y="17599"/>
                  </a:lnTo>
                  <a:lnTo>
                    <a:pt x="3636675" y="20919"/>
                  </a:lnTo>
                  <a:lnTo>
                    <a:pt x="3639992" y="24240"/>
                  </a:lnTo>
                  <a:lnTo>
                    <a:pt x="3652161" y="44090"/>
                  </a:lnTo>
                  <a:lnTo>
                    <a:pt x="3653955" y="48415"/>
                  </a:lnTo>
                  <a:lnTo>
                    <a:pt x="3655311" y="52880"/>
                  </a:lnTo>
                  <a:lnTo>
                    <a:pt x="3656226" y="57485"/>
                  </a:lnTo>
                  <a:lnTo>
                    <a:pt x="3657141" y="62089"/>
                  </a:lnTo>
                  <a:lnTo>
                    <a:pt x="3657598" y="66739"/>
                  </a:lnTo>
                  <a:lnTo>
                    <a:pt x="3657599" y="71437"/>
                  </a:lnTo>
                  <a:lnTo>
                    <a:pt x="3657599" y="862012"/>
                  </a:lnTo>
                  <a:lnTo>
                    <a:pt x="3657598" y="866710"/>
                  </a:lnTo>
                  <a:lnTo>
                    <a:pt x="3657141" y="871351"/>
                  </a:lnTo>
                  <a:lnTo>
                    <a:pt x="3656226" y="875946"/>
                  </a:lnTo>
                  <a:lnTo>
                    <a:pt x="3655311" y="880541"/>
                  </a:lnTo>
                  <a:lnTo>
                    <a:pt x="3653955" y="885006"/>
                  </a:lnTo>
                  <a:lnTo>
                    <a:pt x="3652161" y="889332"/>
                  </a:lnTo>
                  <a:lnTo>
                    <a:pt x="3650366" y="893665"/>
                  </a:lnTo>
                  <a:lnTo>
                    <a:pt x="3636675" y="912520"/>
                  </a:lnTo>
                  <a:lnTo>
                    <a:pt x="3633358" y="915842"/>
                  </a:lnTo>
                  <a:lnTo>
                    <a:pt x="3595496" y="932993"/>
                  </a:lnTo>
                  <a:lnTo>
                    <a:pt x="3590851" y="933449"/>
                  </a:lnTo>
                  <a:lnTo>
                    <a:pt x="3586162" y="933449"/>
                  </a:lnTo>
                  <a:lnTo>
                    <a:pt x="71437" y="933449"/>
                  </a:lnTo>
                  <a:lnTo>
                    <a:pt x="66746" y="933449"/>
                  </a:lnTo>
                  <a:lnTo>
                    <a:pt x="62100" y="932993"/>
                  </a:lnTo>
                  <a:lnTo>
                    <a:pt x="24239" y="915842"/>
                  </a:lnTo>
                  <a:lnTo>
                    <a:pt x="20923" y="912520"/>
                  </a:lnTo>
                  <a:lnTo>
                    <a:pt x="17606" y="909200"/>
                  </a:lnTo>
                  <a:lnTo>
                    <a:pt x="14644" y="905581"/>
                  </a:lnTo>
                  <a:lnTo>
                    <a:pt x="12038" y="901684"/>
                  </a:lnTo>
                  <a:lnTo>
                    <a:pt x="9431" y="897787"/>
                  </a:lnTo>
                  <a:lnTo>
                    <a:pt x="7231" y="893665"/>
                  </a:lnTo>
                  <a:lnTo>
                    <a:pt x="5436" y="889332"/>
                  </a:lnTo>
                  <a:lnTo>
                    <a:pt x="3642" y="885006"/>
                  </a:lnTo>
                  <a:lnTo>
                    <a:pt x="2287" y="880541"/>
                  </a:lnTo>
                  <a:lnTo>
                    <a:pt x="1371" y="875946"/>
                  </a:lnTo>
                  <a:lnTo>
                    <a:pt x="457" y="871351"/>
                  </a:lnTo>
                  <a:lnTo>
                    <a:pt x="0" y="866710"/>
                  </a:lnTo>
                  <a:lnTo>
                    <a:pt x="0" y="862012"/>
                  </a:lnTo>
                  <a:close/>
                </a:path>
              </a:pathLst>
            </a:custGeom>
            <a:ln w="9524">
              <a:solidFill>
                <a:srgbClr val="B8D8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8029574" y="2809871"/>
            <a:ext cx="3667125" cy="1362075"/>
            <a:chOff x="8029574" y="2809871"/>
            <a:chExt cx="3667125" cy="1362075"/>
          </a:xfrm>
        </p:grpSpPr>
        <p:sp>
          <p:nvSpPr>
            <p:cNvPr id="15" name="object 15" descr=""/>
            <p:cNvSpPr/>
            <p:nvPr/>
          </p:nvSpPr>
          <p:spPr>
            <a:xfrm>
              <a:off x="8034336" y="2814633"/>
              <a:ext cx="3657600" cy="1352550"/>
            </a:xfrm>
            <a:custGeom>
              <a:avLst/>
              <a:gdLst/>
              <a:ahLst/>
              <a:cxnLst/>
              <a:rect l="l" t="t" r="r" b="b"/>
              <a:pathLst>
                <a:path w="3657600" h="1352550">
                  <a:moveTo>
                    <a:pt x="3590851" y="1352540"/>
                  </a:moveTo>
                  <a:lnTo>
                    <a:pt x="66746" y="1352540"/>
                  </a:lnTo>
                  <a:lnTo>
                    <a:pt x="62100" y="1352085"/>
                  </a:lnTo>
                  <a:lnTo>
                    <a:pt x="24239" y="1334941"/>
                  </a:lnTo>
                  <a:lnTo>
                    <a:pt x="2287" y="1299650"/>
                  </a:lnTo>
                  <a:lnTo>
                    <a:pt x="0" y="1285800"/>
                  </a:lnTo>
                  <a:lnTo>
                    <a:pt x="0" y="1281112"/>
                  </a:lnTo>
                  <a:lnTo>
                    <a:pt x="0" y="66739"/>
                  </a:lnTo>
                  <a:lnTo>
                    <a:pt x="14644" y="27831"/>
                  </a:lnTo>
                  <a:lnTo>
                    <a:pt x="48432" y="3636"/>
                  </a:lnTo>
                  <a:lnTo>
                    <a:pt x="66746" y="0"/>
                  </a:lnTo>
                  <a:lnTo>
                    <a:pt x="3590851" y="0"/>
                  </a:lnTo>
                  <a:lnTo>
                    <a:pt x="3629749" y="14640"/>
                  </a:lnTo>
                  <a:lnTo>
                    <a:pt x="3653955" y="48415"/>
                  </a:lnTo>
                  <a:lnTo>
                    <a:pt x="3657598" y="66739"/>
                  </a:lnTo>
                  <a:lnTo>
                    <a:pt x="3657598" y="1285800"/>
                  </a:lnTo>
                  <a:lnTo>
                    <a:pt x="3642954" y="1324691"/>
                  </a:lnTo>
                  <a:lnTo>
                    <a:pt x="3609165" y="1348894"/>
                  </a:lnTo>
                  <a:lnTo>
                    <a:pt x="3595496" y="1352085"/>
                  </a:lnTo>
                  <a:lnTo>
                    <a:pt x="3590851" y="135254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34336" y="2814633"/>
              <a:ext cx="3657600" cy="1352550"/>
            </a:xfrm>
            <a:custGeom>
              <a:avLst/>
              <a:gdLst/>
              <a:ahLst/>
              <a:cxnLst/>
              <a:rect l="l" t="t" r="r" b="b"/>
              <a:pathLst>
                <a:path w="3657600" h="1352550">
                  <a:moveTo>
                    <a:pt x="0" y="12811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2038" y="31728"/>
                  </a:lnTo>
                  <a:lnTo>
                    <a:pt x="14644" y="27831"/>
                  </a:lnTo>
                  <a:lnTo>
                    <a:pt x="31748" y="12036"/>
                  </a:lnTo>
                  <a:lnTo>
                    <a:pt x="35649" y="9431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86162" y="0"/>
                  </a:lnTo>
                  <a:lnTo>
                    <a:pt x="3590851" y="0"/>
                  </a:lnTo>
                  <a:lnTo>
                    <a:pt x="3595496" y="456"/>
                  </a:lnTo>
                  <a:lnTo>
                    <a:pt x="3600097" y="1367"/>
                  </a:lnTo>
                  <a:lnTo>
                    <a:pt x="3604698" y="2279"/>
                  </a:lnTo>
                  <a:lnTo>
                    <a:pt x="3625849" y="12036"/>
                  </a:lnTo>
                  <a:lnTo>
                    <a:pt x="3629749" y="14640"/>
                  </a:lnTo>
                  <a:lnTo>
                    <a:pt x="3645559" y="31728"/>
                  </a:lnTo>
                  <a:lnTo>
                    <a:pt x="3648165" y="35625"/>
                  </a:lnTo>
                  <a:lnTo>
                    <a:pt x="3656226" y="57493"/>
                  </a:lnTo>
                  <a:lnTo>
                    <a:pt x="3657141" y="62098"/>
                  </a:lnTo>
                  <a:lnTo>
                    <a:pt x="3657598" y="66739"/>
                  </a:lnTo>
                  <a:lnTo>
                    <a:pt x="3657599" y="71437"/>
                  </a:lnTo>
                  <a:lnTo>
                    <a:pt x="3657599" y="1281112"/>
                  </a:lnTo>
                  <a:lnTo>
                    <a:pt x="3657598" y="1285800"/>
                  </a:lnTo>
                  <a:lnTo>
                    <a:pt x="3657141" y="1290442"/>
                  </a:lnTo>
                  <a:lnTo>
                    <a:pt x="3656226" y="1295046"/>
                  </a:lnTo>
                  <a:lnTo>
                    <a:pt x="3655311" y="1299650"/>
                  </a:lnTo>
                  <a:lnTo>
                    <a:pt x="3645559" y="1320784"/>
                  </a:lnTo>
                  <a:lnTo>
                    <a:pt x="3642954" y="1324691"/>
                  </a:lnTo>
                  <a:lnTo>
                    <a:pt x="3639992" y="1328300"/>
                  </a:lnTo>
                  <a:lnTo>
                    <a:pt x="3636675" y="1331620"/>
                  </a:lnTo>
                  <a:lnTo>
                    <a:pt x="3633358" y="1334941"/>
                  </a:lnTo>
                  <a:lnTo>
                    <a:pt x="3613498" y="1347098"/>
                  </a:lnTo>
                  <a:lnTo>
                    <a:pt x="3609165" y="1348894"/>
                  </a:lnTo>
                  <a:lnTo>
                    <a:pt x="3604698" y="1350242"/>
                  </a:lnTo>
                  <a:lnTo>
                    <a:pt x="3600097" y="1351164"/>
                  </a:lnTo>
                  <a:lnTo>
                    <a:pt x="3595496" y="1352085"/>
                  </a:lnTo>
                  <a:lnTo>
                    <a:pt x="3590851" y="1352540"/>
                  </a:lnTo>
                  <a:lnTo>
                    <a:pt x="3586162" y="1352549"/>
                  </a:lnTo>
                  <a:lnTo>
                    <a:pt x="71437" y="1352549"/>
                  </a:lnTo>
                  <a:lnTo>
                    <a:pt x="66746" y="1352540"/>
                  </a:lnTo>
                  <a:lnTo>
                    <a:pt x="62100" y="1352085"/>
                  </a:lnTo>
                  <a:lnTo>
                    <a:pt x="57500" y="1351164"/>
                  </a:lnTo>
                  <a:lnTo>
                    <a:pt x="52899" y="1350242"/>
                  </a:lnTo>
                  <a:lnTo>
                    <a:pt x="48432" y="1348894"/>
                  </a:lnTo>
                  <a:lnTo>
                    <a:pt x="44099" y="1347098"/>
                  </a:lnTo>
                  <a:lnTo>
                    <a:pt x="39765" y="1345304"/>
                  </a:lnTo>
                  <a:lnTo>
                    <a:pt x="20923" y="1331620"/>
                  </a:lnTo>
                  <a:lnTo>
                    <a:pt x="17606" y="1328300"/>
                  </a:lnTo>
                  <a:lnTo>
                    <a:pt x="14644" y="1324691"/>
                  </a:lnTo>
                  <a:lnTo>
                    <a:pt x="12038" y="1320784"/>
                  </a:lnTo>
                  <a:lnTo>
                    <a:pt x="9431" y="1316887"/>
                  </a:lnTo>
                  <a:lnTo>
                    <a:pt x="0" y="1285800"/>
                  </a:lnTo>
                  <a:lnTo>
                    <a:pt x="0" y="12811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153387" y="3238499"/>
              <a:ext cx="47625" cy="495300"/>
            </a:xfrm>
            <a:custGeom>
              <a:avLst/>
              <a:gdLst/>
              <a:ahLst/>
              <a:cxnLst/>
              <a:rect l="l" t="t" r="r" b="b"/>
              <a:pathLst>
                <a:path w="47625" h="495300">
                  <a:moveTo>
                    <a:pt x="47625" y="468325"/>
                  </a:moveTo>
                  <a:lnTo>
                    <a:pt x="26974" y="447675"/>
                  </a:lnTo>
                  <a:lnTo>
                    <a:pt x="20662" y="447675"/>
                  </a:lnTo>
                  <a:lnTo>
                    <a:pt x="0" y="468325"/>
                  </a:lnTo>
                  <a:lnTo>
                    <a:pt x="0" y="474649"/>
                  </a:lnTo>
                  <a:lnTo>
                    <a:pt x="20662" y="495287"/>
                  </a:lnTo>
                  <a:lnTo>
                    <a:pt x="26974" y="495287"/>
                  </a:lnTo>
                  <a:lnTo>
                    <a:pt x="47625" y="474649"/>
                  </a:lnTo>
                  <a:lnTo>
                    <a:pt x="47625" y="471487"/>
                  </a:lnTo>
                  <a:lnTo>
                    <a:pt x="47625" y="468325"/>
                  </a:lnTo>
                  <a:close/>
                </a:path>
                <a:path w="47625" h="495300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74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8029574" y="4267196"/>
            <a:ext cx="3667125" cy="1152525"/>
          </a:xfrm>
          <a:custGeom>
            <a:avLst/>
            <a:gdLst/>
            <a:ahLst/>
            <a:cxnLst/>
            <a:rect l="l" t="t" r="r" b="b"/>
            <a:pathLst>
              <a:path w="3667125" h="1152525">
                <a:moveTo>
                  <a:pt x="3595927" y="1152524"/>
                </a:moveTo>
                <a:lnTo>
                  <a:pt x="71196" y="1152524"/>
                </a:lnTo>
                <a:lnTo>
                  <a:pt x="66240" y="1152031"/>
                </a:lnTo>
                <a:lnTo>
                  <a:pt x="29705" y="1136898"/>
                </a:lnTo>
                <a:lnTo>
                  <a:pt x="3885" y="1100844"/>
                </a:lnTo>
                <a:lnTo>
                  <a:pt x="0" y="1081319"/>
                </a:lnTo>
                <a:lnTo>
                  <a:pt x="0" y="1076324"/>
                </a:lnTo>
                <a:lnTo>
                  <a:pt x="0" y="71195"/>
                </a:lnTo>
                <a:lnTo>
                  <a:pt x="15621" y="29700"/>
                </a:lnTo>
                <a:lnTo>
                  <a:pt x="51660" y="3888"/>
                </a:lnTo>
                <a:lnTo>
                  <a:pt x="71196" y="0"/>
                </a:lnTo>
                <a:lnTo>
                  <a:pt x="3595927" y="0"/>
                </a:lnTo>
                <a:lnTo>
                  <a:pt x="3637417" y="15617"/>
                </a:lnTo>
                <a:lnTo>
                  <a:pt x="3663238" y="51643"/>
                </a:lnTo>
                <a:lnTo>
                  <a:pt x="3667124" y="71195"/>
                </a:lnTo>
                <a:lnTo>
                  <a:pt x="3667124" y="1081319"/>
                </a:lnTo>
                <a:lnTo>
                  <a:pt x="3651501" y="1122805"/>
                </a:lnTo>
                <a:lnTo>
                  <a:pt x="3615461" y="1148636"/>
                </a:lnTo>
                <a:lnTo>
                  <a:pt x="3600882" y="1152031"/>
                </a:lnTo>
                <a:lnTo>
                  <a:pt x="3595927" y="11525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153350" y="1819191"/>
            <a:ext cx="3337560" cy="3462654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650"/>
              </a:spcBef>
            </a:pPr>
            <a:r>
              <a:rPr dirty="0" sz="1050" spc="375">
                <a:solidFill>
                  <a:srgbClr val="1A1A1A"/>
                </a:solidFill>
                <a:latin typeface="Segoe UI Symbol"/>
                <a:cs typeface="Segoe UI Symbol"/>
              </a:rPr>
              <a:t>🎓</a:t>
            </a:r>
            <a:r>
              <a:rPr dirty="0" sz="1050" spc="20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75" b="1">
                <a:solidFill>
                  <a:srgbClr val="1A1A1A"/>
                </a:solidFill>
                <a:latin typeface="Noto Sans KR"/>
                <a:cs typeface="Noto Sans KR"/>
              </a:rPr>
              <a:t>Teacher</a:t>
            </a:r>
            <a:r>
              <a:rPr dirty="0" sz="1150" spc="5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효과</a:t>
            </a:r>
            <a:endParaRPr sz="1150">
              <a:latin typeface="맑은 고딕"/>
              <a:cs typeface="맑은 고딕"/>
            </a:endParaRPr>
          </a:p>
          <a:p>
            <a:pPr marL="21590" marR="5080">
              <a:lnSpc>
                <a:spcPct val="128499"/>
              </a:lnSpc>
              <a:spcBef>
                <a:spcPts val="110"/>
              </a:spcBef>
            </a:pP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훈련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중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긴급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로트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0">
                <a:solidFill>
                  <a:srgbClr val="444444"/>
                </a:solidFill>
                <a:latin typeface="휴먼아미체"/>
                <a:cs typeface="휴먼아미체"/>
              </a:rPr>
              <a:t>존재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444444"/>
                </a:solidFill>
                <a:latin typeface="휴먼아미체"/>
                <a:cs typeface="휴먼아미체"/>
              </a:rPr>
              <a:t>시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-50">
                <a:solidFill>
                  <a:srgbClr val="444444"/>
                </a:solidFill>
                <a:latin typeface="Noto Sans KR"/>
                <a:cs typeface="Noto Sans KR"/>
              </a:rPr>
              <a:t>Action</a:t>
            </a:r>
            <a:r>
              <a:rPr dirty="0" sz="1150" spc="3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185">
                <a:solidFill>
                  <a:srgbClr val="444444"/>
                </a:solidFill>
                <a:latin typeface="Noto Sans KR"/>
                <a:cs typeface="Noto Sans KR"/>
              </a:rPr>
              <a:t>9</a:t>
            </a:r>
            <a:r>
              <a:rPr dirty="0" sz="1200" spc="18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50" spc="185">
                <a:solidFill>
                  <a:srgbClr val="444444"/>
                </a:solidFill>
                <a:latin typeface="휴먼아미체"/>
                <a:cs typeface="휴먼아미체"/>
              </a:rPr>
              <a:t>우선화</a:t>
            </a:r>
            <a:r>
              <a:rPr dirty="0" sz="1200" spc="185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150" spc="185">
                <a:solidFill>
                  <a:srgbClr val="444444"/>
                </a:solidFill>
                <a:latin typeface="휴먼아미체"/>
                <a:cs typeface="휴먼아미체"/>
              </a:rPr>
              <a:t>를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-190" b="1">
                <a:solidFill>
                  <a:srgbClr val="444444"/>
                </a:solidFill>
                <a:latin typeface="맑은 고딕"/>
                <a:cs typeface="맑은 고딕"/>
              </a:rPr>
              <a:t>단</a:t>
            </a:r>
            <a:r>
              <a:rPr dirty="0" sz="1150" spc="-11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444444"/>
                </a:solidFill>
                <a:latin typeface="맑은 고딕"/>
                <a:cs typeface="맑은 고딕"/>
              </a:rPr>
              <a:t>몇</a:t>
            </a:r>
            <a:r>
              <a:rPr dirty="0" sz="1150" spc="-11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444444"/>
                </a:solidFill>
                <a:latin typeface="맑은 고딕"/>
                <a:cs typeface="맑은 고딕"/>
              </a:rPr>
              <a:t>번만</a:t>
            </a:r>
            <a:r>
              <a:rPr dirty="0" sz="1150" spc="-110" b="1">
                <a:solidFill>
                  <a:srgbClr val="444444"/>
                </a:solidFill>
                <a:latin typeface="맑은 고딕"/>
                <a:cs typeface="맑은 고딕"/>
              </a:rPr>
              <a:t> </a:t>
            </a:r>
            <a:r>
              <a:rPr dirty="0" sz="1150" spc="-50" b="1">
                <a:solidFill>
                  <a:srgbClr val="444444"/>
                </a:solidFill>
                <a:latin typeface="맑은 고딕"/>
                <a:cs typeface="맑은 고딕"/>
              </a:rPr>
              <a:t>강 </a:t>
            </a:r>
            <a:r>
              <a:rPr dirty="0" sz="1150" spc="145" b="1">
                <a:solidFill>
                  <a:srgbClr val="444444"/>
                </a:solidFill>
                <a:latin typeface="맑은 고딕"/>
                <a:cs typeface="맑은 고딕"/>
              </a:rPr>
              <a:t>제</a:t>
            </a:r>
            <a:r>
              <a:rPr dirty="0" sz="1150" spc="145">
                <a:solidFill>
                  <a:srgbClr val="444444"/>
                </a:solidFill>
                <a:latin typeface="휴먼아미체"/>
                <a:cs typeface="휴먼아미체"/>
              </a:rPr>
              <a:t>해도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00">
                <a:solidFill>
                  <a:srgbClr val="444444"/>
                </a:solidFill>
                <a:latin typeface="휴먼아미체"/>
                <a:cs typeface="휴먼아미체"/>
              </a:rPr>
              <a:t>에이전트가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올바른</a:t>
            </a:r>
            <a:r>
              <a:rPr dirty="0" sz="115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0">
                <a:solidFill>
                  <a:srgbClr val="444444"/>
                </a:solidFill>
                <a:latin typeface="휴먼아미체"/>
                <a:cs typeface="휴먼아미체"/>
              </a:rPr>
              <a:t>정책을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45">
                <a:solidFill>
                  <a:srgbClr val="444444"/>
                </a:solidFill>
                <a:latin typeface="휴먼아미체"/>
                <a:cs typeface="휴먼아미체"/>
              </a:rPr>
              <a:t>학습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5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이후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스스로</a:t>
            </a:r>
            <a:r>
              <a:rPr dirty="0" sz="115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40">
                <a:solidFill>
                  <a:srgbClr val="444444"/>
                </a:solidFill>
                <a:latin typeface="휴먼아미체"/>
                <a:cs typeface="휴먼아미체"/>
              </a:rPr>
              <a:t>유지</a:t>
            </a:r>
            <a:endParaRPr sz="115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0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000">
              <a:latin typeface="휴먼아미체"/>
              <a:cs typeface="휴먼아미체"/>
            </a:endParaRPr>
          </a:p>
          <a:p>
            <a:pPr marL="21590">
              <a:lnSpc>
                <a:spcPct val="100000"/>
              </a:lnSpc>
            </a:pPr>
            <a:r>
              <a:rPr dirty="0" sz="1150" spc="204">
                <a:solidFill>
                  <a:srgbClr val="1A1A1A"/>
                </a:solidFill>
                <a:latin typeface="Segoe UI Symbol"/>
                <a:cs typeface="Segoe UI Symbol"/>
              </a:rPr>
              <a:t>📉</a:t>
            </a:r>
            <a:r>
              <a:rPr dirty="0" sz="1150" spc="-15">
                <a:solidFill>
                  <a:srgbClr val="1A1A1A"/>
                </a:solidFill>
                <a:latin typeface="Segoe UI Symbol"/>
                <a:cs typeface="Segoe UI Symbol"/>
              </a:rPr>
              <a:t> </a:t>
            </a:r>
            <a:r>
              <a:rPr dirty="0" sz="1150" spc="-190" b="1">
                <a:solidFill>
                  <a:srgbClr val="1A1A1A"/>
                </a:solidFill>
                <a:latin typeface="맑은 고딕"/>
                <a:cs typeface="맑은 고딕"/>
              </a:rPr>
              <a:t>그래프</a:t>
            </a:r>
            <a:r>
              <a:rPr dirty="0" sz="1150" spc="-10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1A1A1A"/>
                </a:solidFill>
                <a:latin typeface="맑은 고딕"/>
                <a:cs typeface="맑은 고딕"/>
              </a:rPr>
              <a:t>해석</a:t>
            </a:r>
            <a:endParaRPr sz="1150">
              <a:latin typeface="맑은 고딕"/>
              <a:cs typeface="맑은 고딕"/>
            </a:endParaRPr>
          </a:p>
          <a:p>
            <a:pPr marL="164465" marR="1089660">
              <a:lnSpc>
                <a:spcPct val="119300"/>
              </a:lnSpc>
              <a:spcBef>
                <a:spcPts val="215"/>
              </a:spcBef>
            </a:pPr>
            <a:r>
              <a:rPr dirty="0" sz="1100" spc="-70">
                <a:solidFill>
                  <a:srgbClr val="444444"/>
                </a:solidFill>
                <a:latin typeface="Noto Sans KR"/>
                <a:cs typeface="Noto Sans KR"/>
              </a:rPr>
              <a:t>Pure</a:t>
            </a:r>
            <a:r>
              <a:rPr dirty="0" sz="1100" spc="4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DRL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에피소드</a:t>
            </a:r>
            <a:r>
              <a:rPr dirty="0" sz="110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증가에도</a:t>
            </a:r>
            <a:r>
              <a:rPr dirty="0" sz="110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DF592A"/>
                </a:solidFill>
                <a:latin typeface="맑은 고딕"/>
                <a:cs typeface="맑은 고딕"/>
              </a:rPr>
              <a:t>분산</a:t>
            </a:r>
            <a:r>
              <a:rPr dirty="0" sz="110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00" spc="-55" b="1">
                <a:solidFill>
                  <a:srgbClr val="DF592A"/>
                </a:solidFill>
                <a:latin typeface="맑은 고딕"/>
                <a:cs typeface="맑은 고딕"/>
              </a:rPr>
              <a:t>유지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일부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시드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444444"/>
                </a:solidFill>
                <a:latin typeface="휴먼아미체"/>
                <a:cs typeface="휴먼아미체"/>
              </a:rPr>
              <a:t>끝까지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수렴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실패</a:t>
            </a:r>
            <a:endParaRPr sz="1100">
              <a:latin typeface="휴먼아미체"/>
              <a:cs typeface="휴먼아미체"/>
            </a:endParaRPr>
          </a:p>
          <a:p>
            <a:pPr marL="164465" marR="1713864">
              <a:lnSpc>
                <a:spcPct val="113599"/>
              </a:lnSpc>
              <a:spcBef>
                <a:spcPts val="450"/>
              </a:spcBef>
            </a:pP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75">
                <a:solidFill>
                  <a:srgbClr val="444444"/>
                </a:solidFill>
                <a:latin typeface="Noto Sans KR"/>
                <a:cs typeface="Noto Sans KR"/>
              </a:rPr>
              <a:t>HRL</a:t>
            </a:r>
            <a:r>
              <a:rPr dirty="0" sz="1100" spc="-75">
                <a:solidFill>
                  <a:srgbClr val="444444"/>
                </a:solidFill>
                <a:latin typeface="Arial"/>
                <a:cs typeface="Arial"/>
              </a:rPr>
              <a:t>:</a:t>
            </a:r>
            <a:r>
              <a:rPr dirty="0" sz="110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분산</a:t>
            </a:r>
            <a:r>
              <a:rPr dirty="0" sz="1100" spc="-85" b="1">
                <a:solidFill>
                  <a:srgbClr val="2D6A2D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2D6A2D"/>
                </a:solidFill>
                <a:latin typeface="맑은 고딕"/>
                <a:cs typeface="맑은 고딕"/>
              </a:rPr>
              <a:t>빠르게</a:t>
            </a:r>
            <a:r>
              <a:rPr dirty="0" sz="1100" spc="-85" b="1">
                <a:solidFill>
                  <a:srgbClr val="2D6A2D"/>
                </a:solidFill>
                <a:latin typeface="맑은 고딕"/>
                <a:cs typeface="맑은 고딕"/>
              </a:rPr>
              <a:t> 감소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모든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444444"/>
                </a:solidFill>
                <a:latin typeface="휴먼아미체"/>
                <a:cs typeface="휴먼아미체"/>
              </a:rPr>
              <a:t>시드가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444444"/>
                </a:solidFill>
                <a:latin typeface="휴먼아미체"/>
                <a:cs typeface="휴먼아미체"/>
              </a:rPr>
              <a:t>낮은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65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100" spc="65">
                <a:solidFill>
                  <a:srgbClr val="444444"/>
                </a:solidFill>
                <a:latin typeface="휴먼아미체"/>
                <a:cs typeface="휴먼아미체"/>
              </a:rPr>
              <a:t>로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수렴</a:t>
            </a: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</a:pPr>
            <a:endParaRPr sz="1100">
              <a:latin typeface="휴먼아미체"/>
              <a:cs typeface="휴먼아미체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</a:pPr>
            <a:r>
              <a:rPr dirty="0" sz="1150" spc="-190" b="1">
                <a:solidFill>
                  <a:srgbClr val="FFFFFF"/>
                </a:solidFill>
                <a:latin typeface="맑은 고딕"/>
                <a:cs typeface="맑은 고딕"/>
              </a:rPr>
              <a:t>핵심</a:t>
            </a:r>
            <a:r>
              <a:rPr dirty="0" sz="1150" spc="-10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FFFFFF"/>
                </a:solidFill>
                <a:latin typeface="맑은 고딕"/>
                <a:cs typeface="맑은 고딕"/>
              </a:rPr>
              <a:t>결론</a:t>
            </a:r>
            <a:endParaRPr sz="1150">
              <a:latin typeface="맑은 고딕"/>
              <a:cs typeface="맑은 고딕"/>
            </a:endParaRPr>
          </a:p>
          <a:p>
            <a:pPr marL="12700" marR="1616075">
              <a:lnSpc>
                <a:spcPct val="130400"/>
              </a:lnSpc>
              <a:spcBef>
                <a:spcPts val="150"/>
              </a:spcBef>
            </a:pP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평가</a:t>
            </a:r>
            <a:r>
              <a:rPr dirty="0" sz="1150" spc="-11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시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룰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발동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비율</a:t>
            </a:r>
            <a:r>
              <a:rPr dirty="0" sz="1150" spc="-105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79DF79"/>
                </a:solidFill>
                <a:latin typeface="Microsoft JhengHei"/>
                <a:cs typeface="Microsoft JhengHei"/>
              </a:rPr>
              <a:t>＜</a:t>
            </a:r>
            <a:r>
              <a:rPr dirty="0" sz="1150" spc="-25" b="1">
                <a:solidFill>
                  <a:srgbClr val="79DF79"/>
                </a:solidFill>
                <a:latin typeface="Noto Sans KR"/>
                <a:cs typeface="Noto Sans KR"/>
              </a:rPr>
              <a:t>2%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거버넌스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b="1">
                <a:solidFill>
                  <a:srgbClr val="BABABA"/>
                </a:solidFill>
                <a:latin typeface="Noto Sans KR"/>
                <a:cs typeface="Noto Sans KR"/>
              </a:rPr>
              <a:t>=</a:t>
            </a:r>
            <a:r>
              <a:rPr dirty="0" sz="1150" spc="30" b="1">
                <a:solidFill>
                  <a:srgbClr val="BABABA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런타임</a:t>
            </a:r>
            <a:r>
              <a:rPr dirty="0" sz="1150" spc="-114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BABABA"/>
                </a:solidFill>
                <a:latin typeface="맑은 고딕"/>
                <a:cs typeface="맑은 고딕"/>
              </a:rPr>
              <a:t>필터가</a:t>
            </a:r>
            <a:r>
              <a:rPr dirty="0" sz="1150" spc="-110" b="1">
                <a:solidFill>
                  <a:srgbClr val="BABABA"/>
                </a:solidFill>
                <a:latin typeface="맑은 고딕"/>
                <a:cs typeface="맑은 고딕"/>
              </a:rPr>
              <a:t> </a:t>
            </a:r>
            <a:r>
              <a:rPr dirty="0" sz="1150" spc="-160" b="1">
                <a:solidFill>
                  <a:srgbClr val="BABABA"/>
                </a:solidFill>
                <a:latin typeface="맑은 고딕"/>
                <a:cs typeface="맑은 고딕"/>
              </a:rPr>
              <a:t>아닌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훈련</a:t>
            </a:r>
            <a:r>
              <a:rPr dirty="0" sz="1150" spc="-10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궤적</a:t>
            </a:r>
            <a:r>
              <a:rPr dirty="0" sz="1150" spc="-10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DF592A"/>
                </a:solidFill>
                <a:latin typeface="맑은 고딕"/>
                <a:cs typeface="맑은 고딕"/>
              </a:rPr>
              <a:t>교정자</a:t>
            </a:r>
            <a:endParaRPr sz="1150">
              <a:latin typeface="맑은 고딕"/>
              <a:cs typeface="맑은 고딕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6819896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6"/>
            <a:ext cx="381000" cy="200025"/>
          </a:xfrm>
          <a:custGeom>
            <a:avLst/>
            <a:gdLst/>
            <a:ahLst/>
            <a:cxnLst/>
            <a:rect l="l" t="t" r="r" b="b"/>
            <a:pathLst>
              <a:path w="381000" h="200025">
                <a:moveTo>
                  <a:pt x="347952" y="200015"/>
                </a:moveTo>
                <a:lnTo>
                  <a:pt x="33047" y="200015"/>
                </a:lnTo>
                <a:lnTo>
                  <a:pt x="28187" y="199048"/>
                </a:lnTo>
                <a:lnTo>
                  <a:pt x="966" y="171830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8"/>
                </a:lnTo>
                <a:lnTo>
                  <a:pt x="28187" y="967"/>
                </a:lnTo>
                <a:lnTo>
                  <a:pt x="33047" y="0"/>
                </a:lnTo>
                <a:lnTo>
                  <a:pt x="347952" y="0"/>
                </a:lnTo>
                <a:lnTo>
                  <a:pt x="380033" y="28184"/>
                </a:lnTo>
                <a:lnTo>
                  <a:pt x="380999" y="33048"/>
                </a:lnTo>
                <a:lnTo>
                  <a:pt x="380999" y="166976"/>
                </a:lnTo>
                <a:lnTo>
                  <a:pt x="352812" y="199048"/>
                </a:lnTo>
                <a:lnTo>
                  <a:pt x="347952" y="200015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207645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결론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75">
                <a:latin typeface="Noto Sans KR"/>
                <a:cs typeface="Noto Sans KR"/>
              </a:rPr>
              <a:t>3</a:t>
            </a:r>
            <a:r>
              <a:rPr dirty="0" spc="-275"/>
              <a:t>가지</a:t>
            </a:r>
            <a:r>
              <a:rPr dirty="0" spc="-200"/>
              <a:t> </a:t>
            </a:r>
            <a:r>
              <a:rPr dirty="0" spc="-360"/>
              <a:t>기여</a:t>
            </a:r>
            <a:r>
              <a:rPr dirty="0" spc="-200"/>
              <a:t> </a:t>
            </a:r>
            <a:r>
              <a:rPr dirty="0">
                <a:latin typeface="Noto Sans KR"/>
                <a:cs typeface="Noto Sans KR"/>
              </a:rPr>
              <a:t>&amp;</a:t>
            </a:r>
            <a:r>
              <a:rPr dirty="0" spc="-75">
                <a:latin typeface="Noto Sans KR"/>
                <a:cs typeface="Noto Sans KR"/>
              </a:rPr>
              <a:t> </a:t>
            </a:r>
            <a:r>
              <a:rPr dirty="0" spc="-385"/>
              <a:t>한계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71546"/>
            <a:ext cx="7381875" cy="1819275"/>
            <a:chOff x="495299" y="971546"/>
            <a:chExt cx="7381875" cy="1819275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76308"/>
              <a:ext cx="7372350" cy="1809750"/>
            </a:xfrm>
            <a:custGeom>
              <a:avLst/>
              <a:gdLst/>
              <a:ahLst/>
              <a:cxnLst/>
              <a:rect l="l" t="t" r="r" b="b"/>
              <a:pathLst>
                <a:path w="7372350" h="1809750">
                  <a:moveTo>
                    <a:pt x="7305602" y="1809740"/>
                  </a:moveTo>
                  <a:lnTo>
                    <a:pt x="66746" y="1809740"/>
                  </a:lnTo>
                  <a:lnTo>
                    <a:pt x="62101" y="1809285"/>
                  </a:lnTo>
                  <a:lnTo>
                    <a:pt x="24240" y="1792141"/>
                  </a:lnTo>
                  <a:lnTo>
                    <a:pt x="2287" y="1756841"/>
                  </a:lnTo>
                  <a:lnTo>
                    <a:pt x="0" y="1743000"/>
                  </a:lnTo>
                  <a:lnTo>
                    <a:pt x="0" y="1738312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7305602" y="0"/>
                  </a:lnTo>
                  <a:lnTo>
                    <a:pt x="7344499" y="14631"/>
                  </a:lnTo>
                  <a:lnTo>
                    <a:pt x="7368706" y="48415"/>
                  </a:lnTo>
                  <a:lnTo>
                    <a:pt x="7372349" y="66739"/>
                  </a:lnTo>
                  <a:lnTo>
                    <a:pt x="7372349" y="1743000"/>
                  </a:lnTo>
                  <a:lnTo>
                    <a:pt x="7357703" y="1781891"/>
                  </a:lnTo>
                  <a:lnTo>
                    <a:pt x="7323915" y="1806094"/>
                  </a:lnTo>
                  <a:lnTo>
                    <a:pt x="7310247" y="1809285"/>
                  </a:lnTo>
                  <a:lnTo>
                    <a:pt x="7305602" y="1809740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76308"/>
              <a:ext cx="7372350" cy="1809750"/>
            </a:xfrm>
            <a:custGeom>
              <a:avLst/>
              <a:gdLst/>
              <a:ahLst/>
              <a:cxnLst/>
              <a:rect l="l" t="t" r="r" b="b"/>
              <a:pathLst>
                <a:path w="7372350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89"/>
                  </a:lnTo>
                  <a:lnTo>
                    <a:pt x="1372" y="57485"/>
                  </a:lnTo>
                  <a:lnTo>
                    <a:pt x="2287" y="52880"/>
                  </a:lnTo>
                  <a:lnTo>
                    <a:pt x="3642" y="4841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6" y="24230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87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300911" y="0"/>
                  </a:lnTo>
                  <a:lnTo>
                    <a:pt x="7305602" y="0"/>
                  </a:lnTo>
                  <a:lnTo>
                    <a:pt x="7310247" y="456"/>
                  </a:lnTo>
                  <a:lnTo>
                    <a:pt x="7348109" y="17589"/>
                  </a:lnTo>
                  <a:lnTo>
                    <a:pt x="7351425" y="20910"/>
                  </a:lnTo>
                  <a:lnTo>
                    <a:pt x="7354742" y="24230"/>
                  </a:lnTo>
                  <a:lnTo>
                    <a:pt x="7357703" y="27831"/>
                  </a:lnTo>
                  <a:lnTo>
                    <a:pt x="7360309" y="31728"/>
                  </a:lnTo>
                  <a:lnTo>
                    <a:pt x="7362915" y="35625"/>
                  </a:lnTo>
                  <a:lnTo>
                    <a:pt x="7370976" y="57485"/>
                  </a:lnTo>
                  <a:lnTo>
                    <a:pt x="7371891" y="62089"/>
                  </a:lnTo>
                  <a:lnTo>
                    <a:pt x="7372349" y="66739"/>
                  </a:lnTo>
                  <a:lnTo>
                    <a:pt x="7372349" y="71437"/>
                  </a:lnTo>
                  <a:lnTo>
                    <a:pt x="7372349" y="1738312"/>
                  </a:lnTo>
                  <a:lnTo>
                    <a:pt x="7372349" y="1743000"/>
                  </a:lnTo>
                  <a:lnTo>
                    <a:pt x="7371891" y="1747642"/>
                  </a:lnTo>
                  <a:lnTo>
                    <a:pt x="7370976" y="1752246"/>
                  </a:lnTo>
                  <a:lnTo>
                    <a:pt x="7370061" y="1756841"/>
                  </a:lnTo>
                  <a:lnTo>
                    <a:pt x="7368706" y="1761306"/>
                  </a:lnTo>
                  <a:lnTo>
                    <a:pt x="7366910" y="1765640"/>
                  </a:lnTo>
                  <a:lnTo>
                    <a:pt x="7365116" y="1769975"/>
                  </a:lnTo>
                  <a:lnTo>
                    <a:pt x="7362915" y="1774095"/>
                  </a:lnTo>
                  <a:lnTo>
                    <a:pt x="7360309" y="1777993"/>
                  </a:lnTo>
                  <a:lnTo>
                    <a:pt x="7357703" y="1781891"/>
                  </a:lnTo>
                  <a:lnTo>
                    <a:pt x="7354742" y="1785500"/>
                  </a:lnTo>
                  <a:lnTo>
                    <a:pt x="7351425" y="1788820"/>
                  </a:lnTo>
                  <a:lnTo>
                    <a:pt x="7348109" y="1792141"/>
                  </a:lnTo>
                  <a:lnTo>
                    <a:pt x="7328249" y="1804298"/>
                  </a:lnTo>
                  <a:lnTo>
                    <a:pt x="7323915" y="1806094"/>
                  </a:lnTo>
                  <a:lnTo>
                    <a:pt x="7300911" y="1809749"/>
                  </a:lnTo>
                  <a:lnTo>
                    <a:pt x="71437" y="1809749"/>
                  </a:lnTo>
                  <a:lnTo>
                    <a:pt x="44099" y="1804298"/>
                  </a:lnTo>
                  <a:lnTo>
                    <a:pt x="39765" y="1802504"/>
                  </a:lnTo>
                  <a:lnTo>
                    <a:pt x="20923" y="1788820"/>
                  </a:lnTo>
                  <a:lnTo>
                    <a:pt x="17606" y="1785500"/>
                  </a:lnTo>
                  <a:lnTo>
                    <a:pt x="5437" y="1765640"/>
                  </a:lnTo>
                  <a:lnTo>
                    <a:pt x="3642" y="1761306"/>
                  </a:lnTo>
                  <a:lnTo>
                    <a:pt x="2287" y="1756841"/>
                  </a:lnTo>
                  <a:lnTo>
                    <a:pt x="1372" y="1752246"/>
                  </a:lnTo>
                  <a:lnTo>
                    <a:pt x="457" y="1747642"/>
                  </a:lnTo>
                  <a:lnTo>
                    <a:pt x="0" y="1743000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44524" y="1040955"/>
            <a:ext cx="2730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95">
                <a:latin typeface="Cambria"/>
                <a:cs typeface="Cambria"/>
              </a:rPr>
              <a:t>①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06475" y="1009603"/>
            <a:ext cx="2506345" cy="80518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350" spc="-100" b="1">
                <a:solidFill>
                  <a:srgbClr val="1A1A1A"/>
                </a:solidFill>
                <a:latin typeface="Noto Sans KR"/>
                <a:cs typeface="Noto Sans KR"/>
              </a:rPr>
              <a:t>DRL</a:t>
            </a:r>
            <a:r>
              <a:rPr dirty="0" sz="1350" spc="3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비신뢰성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실증</a:t>
            </a:r>
            <a:r>
              <a:rPr dirty="0" sz="1350" spc="-12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A1A1A"/>
                </a:solidFill>
                <a:latin typeface="맑은 고딕"/>
                <a:cs typeface="맑은 고딕"/>
              </a:rPr>
              <a:t>분석</a:t>
            </a:r>
            <a:endParaRPr sz="1350">
              <a:latin typeface="맑은 고딕"/>
              <a:cs typeface="맑은 고딕"/>
            </a:endParaRPr>
          </a:p>
          <a:p>
            <a:pPr marL="12700" marR="5080">
              <a:lnSpc>
                <a:spcPct val="123300"/>
              </a:lnSpc>
              <a:spcBef>
                <a:spcPts val="295"/>
              </a:spcBef>
            </a:pP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동일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15">
                <a:solidFill>
                  <a:srgbClr val="444444"/>
                </a:solidFill>
                <a:latin typeface="휴먼아미체"/>
                <a:cs typeface="휴먼아미체"/>
              </a:rPr>
              <a:t>설정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-55" b="1">
                <a:solidFill>
                  <a:srgbClr val="DF592A"/>
                </a:solidFill>
                <a:latin typeface="Noto Sans KR"/>
                <a:cs typeface="Noto Sans KR"/>
              </a:rPr>
              <a:t>60%</a:t>
            </a:r>
            <a:r>
              <a:rPr dirty="0" sz="1150" spc="20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실패율</a:t>
            </a:r>
            <a:r>
              <a:rPr dirty="0" sz="1150" spc="-114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200" spc="-265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20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50" spc="310">
                <a:solidFill>
                  <a:srgbClr val="444444"/>
                </a:solidFill>
                <a:latin typeface="휴먼아미체"/>
                <a:cs typeface="휴먼아미체"/>
              </a:rPr>
              <a:t>분산이 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시뮬레이터</a:t>
            </a:r>
            <a:r>
              <a:rPr dirty="0" sz="115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수준</a:t>
            </a:r>
            <a:r>
              <a:rPr dirty="0" sz="115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45" b="1">
                <a:solidFill>
                  <a:srgbClr val="DF592A"/>
                </a:solidFill>
                <a:latin typeface="맑은 고딕"/>
                <a:cs typeface="맑은 고딕"/>
              </a:rPr>
              <a:t>비결정성</a:t>
            </a:r>
            <a:r>
              <a:rPr dirty="0" sz="1150" spc="-45">
                <a:solidFill>
                  <a:srgbClr val="444444"/>
                </a:solidFill>
                <a:latin typeface="휴먼아미체"/>
                <a:cs typeface="휴먼아미체"/>
              </a:rPr>
              <a:t>에서</a:t>
            </a:r>
            <a:r>
              <a:rPr dirty="0" sz="1150" spc="-1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비롯됨을</a:t>
            </a:r>
            <a:r>
              <a:rPr dirty="0" sz="115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50">
                <a:solidFill>
                  <a:srgbClr val="444444"/>
                </a:solidFill>
                <a:latin typeface="휴먼아미체"/>
                <a:cs typeface="휴먼아미체"/>
              </a:rPr>
              <a:t>실증</a:t>
            </a:r>
            <a:endParaRPr sz="1150">
              <a:latin typeface="휴먼아미체"/>
              <a:cs typeface="휴먼아미체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5299" y="2886070"/>
            <a:ext cx="7381875" cy="1809750"/>
            <a:chOff x="495299" y="2886070"/>
            <a:chExt cx="7381875" cy="1809750"/>
          </a:xfrm>
        </p:grpSpPr>
        <p:sp>
          <p:nvSpPr>
            <p:cNvPr id="11" name="object 11" descr=""/>
            <p:cNvSpPr/>
            <p:nvPr/>
          </p:nvSpPr>
          <p:spPr>
            <a:xfrm>
              <a:off x="500062" y="2890833"/>
              <a:ext cx="7372350" cy="1800225"/>
            </a:xfrm>
            <a:custGeom>
              <a:avLst/>
              <a:gdLst/>
              <a:ahLst/>
              <a:cxnLst/>
              <a:rect l="l" t="t" r="r" b="b"/>
              <a:pathLst>
                <a:path w="7372350" h="1800225">
                  <a:moveTo>
                    <a:pt x="7305602" y="1800224"/>
                  </a:moveTo>
                  <a:lnTo>
                    <a:pt x="66746" y="1800224"/>
                  </a:lnTo>
                  <a:lnTo>
                    <a:pt x="62101" y="1799768"/>
                  </a:lnTo>
                  <a:lnTo>
                    <a:pt x="24240" y="1782607"/>
                  </a:lnTo>
                  <a:lnTo>
                    <a:pt x="2287" y="1747316"/>
                  </a:lnTo>
                  <a:lnTo>
                    <a:pt x="0" y="1733475"/>
                  </a:lnTo>
                  <a:lnTo>
                    <a:pt x="0" y="1728787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36"/>
                  </a:lnTo>
                  <a:lnTo>
                    <a:pt x="66746" y="0"/>
                  </a:lnTo>
                  <a:lnTo>
                    <a:pt x="7305602" y="0"/>
                  </a:lnTo>
                  <a:lnTo>
                    <a:pt x="7344499" y="14640"/>
                  </a:lnTo>
                  <a:lnTo>
                    <a:pt x="7368706" y="48425"/>
                  </a:lnTo>
                  <a:lnTo>
                    <a:pt x="7372349" y="66739"/>
                  </a:lnTo>
                  <a:lnTo>
                    <a:pt x="7372349" y="1733475"/>
                  </a:lnTo>
                  <a:lnTo>
                    <a:pt x="7357703" y="1772366"/>
                  </a:lnTo>
                  <a:lnTo>
                    <a:pt x="7323915" y="1796578"/>
                  </a:lnTo>
                  <a:lnTo>
                    <a:pt x="7310247" y="1799768"/>
                  </a:lnTo>
                  <a:lnTo>
                    <a:pt x="7305602" y="1800224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0062" y="2890833"/>
              <a:ext cx="7372350" cy="1800225"/>
            </a:xfrm>
            <a:custGeom>
              <a:avLst/>
              <a:gdLst/>
              <a:ahLst/>
              <a:cxnLst/>
              <a:rect l="l" t="t" r="r" b="b"/>
              <a:pathLst>
                <a:path w="7372350" h="1800225">
                  <a:moveTo>
                    <a:pt x="0" y="17287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25"/>
                  </a:lnTo>
                  <a:lnTo>
                    <a:pt x="5437" y="44090"/>
                  </a:lnTo>
                  <a:lnTo>
                    <a:pt x="7232" y="39746"/>
                  </a:lnTo>
                  <a:lnTo>
                    <a:pt x="9433" y="35634"/>
                  </a:lnTo>
                  <a:lnTo>
                    <a:pt x="12039" y="31737"/>
                  </a:lnTo>
                  <a:lnTo>
                    <a:pt x="14645" y="27831"/>
                  </a:lnTo>
                  <a:lnTo>
                    <a:pt x="17606" y="24222"/>
                  </a:lnTo>
                  <a:lnTo>
                    <a:pt x="20923" y="20910"/>
                  </a:lnTo>
                  <a:lnTo>
                    <a:pt x="24240" y="17599"/>
                  </a:lnTo>
                  <a:lnTo>
                    <a:pt x="27848" y="14640"/>
                  </a:lnTo>
                  <a:lnTo>
                    <a:pt x="31748" y="12036"/>
                  </a:lnTo>
                  <a:lnTo>
                    <a:pt x="35648" y="9431"/>
                  </a:lnTo>
                  <a:lnTo>
                    <a:pt x="39765" y="7227"/>
                  </a:lnTo>
                  <a:lnTo>
                    <a:pt x="44099" y="5432"/>
                  </a:lnTo>
                  <a:lnTo>
                    <a:pt x="48433" y="3636"/>
                  </a:lnTo>
                  <a:lnTo>
                    <a:pt x="52900" y="2279"/>
                  </a:lnTo>
                  <a:lnTo>
                    <a:pt x="57500" y="1367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300911" y="0"/>
                  </a:lnTo>
                  <a:lnTo>
                    <a:pt x="7305602" y="0"/>
                  </a:lnTo>
                  <a:lnTo>
                    <a:pt x="7310247" y="456"/>
                  </a:lnTo>
                  <a:lnTo>
                    <a:pt x="7314848" y="1367"/>
                  </a:lnTo>
                  <a:lnTo>
                    <a:pt x="7319448" y="2279"/>
                  </a:lnTo>
                  <a:lnTo>
                    <a:pt x="7340599" y="12036"/>
                  </a:lnTo>
                  <a:lnTo>
                    <a:pt x="7344499" y="14640"/>
                  </a:lnTo>
                  <a:lnTo>
                    <a:pt x="7360309" y="31728"/>
                  </a:lnTo>
                  <a:lnTo>
                    <a:pt x="7362915" y="35625"/>
                  </a:lnTo>
                  <a:lnTo>
                    <a:pt x="7365116" y="39746"/>
                  </a:lnTo>
                  <a:lnTo>
                    <a:pt x="7366911" y="44090"/>
                  </a:lnTo>
                  <a:lnTo>
                    <a:pt x="7368706" y="48425"/>
                  </a:lnTo>
                  <a:lnTo>
                    <a:pt x="7370061" y="52889"/>
                  </a:lnTo>
                  <a:lnTo>
                    <a:pt x="7370976" y="57493"/>
                  </a:lnTo>
                  <a:lnTo>
                    <a:pt x="7371891" y="62098"/>
                  </a:lnTo>
                  <a:lnTo>
                    <a:pt x="7372349" y="66739"/>
                  </a:lnTo>
                  <a:lnTo>
                    <a:pt x="7372349" y="71437"/>
                  </a:lnTo>
                  <a:lnTo>
                    <a:pt x="7372349" y="1728787"/>
                  </a:lnTo>
                  <a:lnTo>
                    <a:pt x="7372349" y="1733475"/>
                  </a:lnTo>
                  <a:lnTo>
                    <a:pt x="7371891" y="1738117"/>
                  </a:lnTo>
                  <a:lnTo>
                    <a:pt x="7370976" y="1742711"/>
                  </a:lnTo>
                  <a:lnTo>
                    <a:pt x="7370061" y="1747316"/>
                  </a:lnTo>
                  <a:lnTo>
                    <a:pt x="7368706" y="1751781"/>
                  </a:lnTo>
                  <a:lnTo>
                    <a:pt x="7366910" y="1756115"/>
                  </a:lnTo>
                  <a:lnTo>
                    <a:pt x="7365116" y="1760450"/>
                  </a:lnTo>
                  <a:lnTo>
                    <a:pt x="7362915" y="1764570"/>
                  </a:lnTo>
                  <a:lnTo>
                    <a:pt x="7360309" y="1768468"/>
                  </a:lnTo>
                  <a:lnTo>
                    <a:pt x="7357703" y="1772366"/>
                  </a:lnTo>
                  <a:lnTo>
                    <a:pt x="7323915" y="1796578"/>
                  </a:lnTo>
                  <a:lnTo>
                    <a:pt x="7305602" y="1800224"/>
                  </a:lnTo>
                  <a:lnTo>
                    <a:pt x="7300911" y="1800224"/>
                  </a:lnTo>
                  <a:lnTo>
                    <a:pt x="71437" y="1800224"/>
                  </a:lnTo>
                  <a:lnTo>
                    <a:pt x="66746" y="1800224"/>
                  </a:lnTo>
                  <a:lnTo>
                    <a:pt x="62101" y="1799768"/>
                  </a:lnTo>
                  <a:lnTo>
                    <a:pt x="57500" y="1798848"/>
                  </a:lnTo>
                  <a:lnTo>
                    <a:pt x="52900" y="1797927"/>
                  </a:lnTo>
                  <a:lnTo>
                    <a:pt x="48433" y="1796578"/>
                  </a:lnTo>
                  <a:lnTo>
                    <a:pt x="44099" y="1794783"/>
                  </a:lnTo>
                  <a:lnTo>
                    <a:pt x="39765" y="1792987"/>
                  </a:lnTo>
                  <a:lnTo>
                    <a:pt x="35648" y="1790783"/>
                  </a:lnTo>
                  <a:lnTo>
                    <a:pt x="31748" y="1788170"/>
                  </a:lnTo>
                  <a:lnTo>
                    <a:pt x="27848" y="1785564"/>
                  </a:lnTo>
                  <a:lnTo>
                    <a:pt x="5437" y="1756115"/>
                  </a:lnTo>
                  <a:lnTo>
                    <a:pt x="3642" y="1751781"/>
                  </a:lnTo>
                  <a:lnTo>
                    <a:pt x="2287" y="1747316"/>
                  </a:lnTo>
                  <a:lnTo>
                    <a:pt x="1372" y="1742711"/>
                  </a:lnTo>
                  <a:lnTo>
                    <a:pt x="457" y="1738117"/>
                  </a:lnTo>
                  <a:lnTo>
                    <a:pt x="0" y="1733475"/>
                  </a:lnTo>
                  <a:lnTo>
                    <a:pt x="0" y="1728787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44524" y="2955480"/>
            <a:ext cx="2730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95">
                <a:latin typeface="Cambria"/>
                <a:cs typeface="Cambria"/>
              </a:rPr>
              <a:t>②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06475" y="2920365"/>
            <a:ext cx="2530475" cy="8089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380"/>
              </a:spcBef>
            </a:pPr>
            <a:r>
              <a:rPr dirty="0" sz="1350" spc="-100" b="1">
                <a:solidFill>
                  <a:srgbClr val="1A1A1A"/>
                </a:solidFill>
                <a:latin typeface="Noto Sans KR"/>
                <a:cs typeface="Noto Sans KR"/>
              </a:rPr>
              <a:t>LLM</a:t>
            </a:r>
            <a:r>
              <a:rPr dirty="0" sz="1350" spc="2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거버넌스</a:t>
            </a:r>
            <a:r>
              <a:rPr dirty="0" sz="1350" spc="-14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b="1">
                <a:solidFill>
                  <a:srgbClr val="1A1A1A"/>
                </a:solidFill>
                <a:latin typeface="Noto Sans KR"/>
                <a:cs typeface="Noto Sans KR"/>
              </a:rPr>
              <a:t>=</a:t>
            </a:r>
            <a:r>
              <a:rPr dirty="0" sz="1350" spc="2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80" b="1">
                <a:solidFill>
                  <a:srgbClr val="1A1A1A"/>
                </a:solidFill>
                <a:latin typeface="Noto Sans KR"/>
                <a:cs typeface="Noto Sans KR"/>
              </a:rPr>
              <a:t>Fault</a:t>
            </a:r>
            <a:r>
              <a:rPr dirty="0" sz="1350" spc="-80" b="1">
                <a:solidFill>
                  <a:srgbClr val="1A1A1A"/>
                </a:solidFill>
                <a:latin typeface="Arial"/>
                <a:cs typeface="Arial"/>
              </a:rPr>
              <a:t>-</a:t>
            </a:r>
            <a:r>
              <a:rPr dirty="0" sz="1350" spc="-10" b="1">
                <a:solidFill>
                  <a:srgbClr val="1A1A1A"/>
                </a:solidFill>
                <a:latin typeface="Noto Sans KR"/>
                <a:cs typeface="Noto Sans KR"/>
              </a:rPr>
              <a:t>Tolerance</a:t>
            </a:r>
            <a:r>
              <a:rPr dirty="0" sz="1350" spc="-1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150" spc="-40">
                <a:solidFill>
                  <a:srgbClr val="444444"/>
                </a:solidFill>
                <a:latin typeface="Noto Sans KR"/>
                <a:cs typeface="Noto Sans KR"/>
              </a:rPr>
              <a:t>Laprie</a:t>
            </a:r>
            <a:r>
              <a:rPr dirty="0" sz="115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분류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185">
                <a:solidFill>
                  <a:srgbClr val="444444"/>
                </a:solidFill>
                <a:latin typeface="휴먼아미체"/>
                <a:cs typeface="휴먼아미체"/>
              </a:rPr>
              <a:t>체계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375">
                <a:solidFill>
                  <a:srgbClr val="444444"/>
                </a:solidFill>
                <a:latin typeface="휴먼아미체"/>
                <a:cs typeface="휴먼아미체"/>
              </a:rPr>
              <a:t>적용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200" spc="-265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20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50" spc="-75" b="1">
                <a:solidFill>
                  <a:srgbClr val="DF592A"/>
                </a:solidFill>
                <a:latin typeface="Noto Sans KR"/>
                <a:cs typeface="Noto Sans KR"/>
              </a:rPr>
              <a:t>F</a:t>
            </a:r>
            <a:r>
              <a:rPr dirty="0" sz="1150" spc="-75" b="1">
                <a:solidFill>
                  <a:srgbClr val="DF592A"/>
                </a:solidFill>
                <a:latin typeface="Arial"/>
                <a:cs typeface="Arial"/>
              </a:rPr>
              <a:t>→</a:t>
            </a:r>
            <a:r>
              <a:rPr dirty="0" sz="1150" spc="-75" b="1">
                <a:solidFill>
                  <a:srgbClr val="DF592A"/>
                </a:solidFill>
                <a:latin typeface="Noto Sans KR"/>
                <a:cs typeface="Noto Sans KR"/>
              </a:rPr>
              <a:t>E</a:t>
            </a:r>
            <a:r>
              <a:rPr dirty="0" sz="1150" spc="-75" b="1">
                <a:solidFill>
                  <a:srgbClr val="DF592A"/>
                </a:solidFill>
                <a:latin typeface="Arial"/>
                <a:cs typeface="Arial"/>
              </a:rPr>
              <a:t>→</a:t>
            </a:r>
            <a:r>
              <a:rPr dirty="0" sz="1150" spc="-75" b="1">
                <a:solidFill>
                  <a:srgbClr val="DF592A"/>
                </a:solidFill>
                <a:latin typeface="Noto Sans KR"/>
                <a:cs typeface="Noto Sans KR"/>
              </a:rPr>
              <a:t>F</a:t>
            </a:r>
            <a:r>
              <a:rPr dirty="0" sz="1150" spc="25" b="1">
                <a:solidFill>
                  <a:srgbClr val="DF592A"/>
                </a:solidFill>
                <a:latin typeface="Noto Sans KR"/>
                <a:cs typeface="Noto Sans KR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연쇄</a:t>
            </a:r>
            <a:r>
              <a:rPr dirty="0" sz="1150" spc="-114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25" b="1">
                <a:solidFill>
                  <a:srgbClr val="DF592A"/>
                </a:solidFill>
                <a:latin typeface="맑은 고딕"/>
                <a:cs typeface="맑은 고딕"/>
              </a:rPr>
              <a:t>차단 </a:t>
            </a:r>
            <a:r>
              <a:rPr dirty="0" sz="1150" spc="310">
                <a:solidFill>
                  <a:srgbClr val="444444"/>
                </a:solidFill>
                <a:latin typeface="휴먼아미체"/>
                <a:cs typeface="휴먼아미체"/>
              </a:rPr>
              <a:t>실패율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-60">
                <a:solidFill>
                  <a:srgbClr val="444444"/>
                </a:solidFill>
                <a:latin typeface="Noto Sans KR"/>
                <a:cs typeface="Noto Sans KR"/>
              </a:rPr>
              <a:t>60%</a:t>
            </a:r>
            <a:r>
              <a:rPr dirty="0" sz="115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75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50" spc="20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50" spc="-70">
                <a:solidFill>
                  <a:srgbClr val="444444"/>
                </a:solidFill>
                <a:latin typeface="Noto Sans KR"/>
                <a:cs typeface="Noto Sans KR"/>
              </a:rPr>
              <a:t>0%</a:t>
            </a:r>
            <a:r>
              <a:rPr dirty="0" sz="1200" spc="-70">
                <a:solidFill>
                  <a:srgbClr val="444444"/>
                </a:solidFill>
                <a:latin typeface="Arial"/>
                <a:cs typeface="Arial"/>
              </a:rPr>
              <a:t>,</a:t>
            </a:r>
            <a:r>
              <a:rPr dirty="0" sz="120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44444"/>
                </a:solidFill>
                <a:latin typeface="Noto Sans KR"/>
                <a:cs typeface="Noto Sans KR"/>
              </a:rPr>
              <a:t>p</a:t>
            </a:r>
            <a:r>
              <a:rPr dirty="0" sz="115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>
                <a:solidFill>
                  <a:srgbClr val="444444"/>
                </a:solidFill>
                <a:latin typeface="Noto Sans KR"/>
                <a:cs typeface="Noto Sans KR"/>
              </a:rPr>
              <a:t>=</a:t>
            </a:r>
            <a:r>
              <a:rPr dirty="0" sz="115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-50">
                <a:solidFill>
                  <a:srgbClr val="444444"/>
                </a:solidFill>
                <a:latin typeface="Noto Sans KR"/>
                <a:cs typeface="Noto Sans KR"/>
              </a:rPr>
              <a:t>0</a:t>
            </a:r>
            <a:r>
              <a:rPr dirty="0" sz="1200" spc="-50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150" spc="-50">
                <a:solidFill>
                  <a:srgbClr val="444444"/>
                </a:solidFill>
                <a:latin typeface="Noto Sans KR"/>
                <a:cs typeface="Noto Sans KR"/>
              </a:rPr>
              <a:t>010</a:t>
            </a:r>
            <a:r>
              <a:rPr dirty="0" sz="115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200" spc="22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50" spc="220">
                <a:solidFill>
                  <a:srgbClr val="444444"/>
                </a:solidFill>
                <a:latin typeface="휴먼아미체"/>
                <a:cs typeface="휴먼아미체"/>
              </a:rPr>
              <a:t>통계적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50" spc="210">
                <a:solidFill>
                  <a:srgbClr val="444444"/>
                </a:solidFill>
                <a:latin typeface="휴먼아미체"/>
                <a:cs typeface="휴먼아미체"/>
              </a:rPr>
              <a:t>유의</a:t>
            </a:r>
            <a:r>
              <a:rPr dirty="0" sz="1200" spc="210">
                <a:solidFill>
                  <a:srgbClr val="444444"/>
                </a:solidFill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5299" y="4791070"/>
            <a:ext cx="7381875" cy="1819275"/>
            <a:chOff x="495299" y="4791070"/>
            <a:chExt cx="7381875" cy="1819275"/>
          </a:xfrm>
        </p:grpSpPr>
        <p:sp>
          <p:nvSpPr>
            <p:cNvPr id="16" name="object 16" descr=""/>
            <p:cNvSpPr/>
            <p:nvPr/>
          </p:nvSpPr>
          <p:spPr>
            <a:xfrm>
              <a:off x="500062" y="4795833"/>
              <a:ext cx="7372350" cy="1809750"/>
            </a:xfrm>
            <a:custGeom>
              <a:avLst/>
              <a:gdLst/>
              <a:ahLst/>
              <a:cxnLst/>
              <a:rect l="l" t="t" r="r" b="b"/>
              <a:pathLst>
                <a:path w="7372350" h="1809750">
                  <a:moveTo>
                    <a:pt x="7305602" y="1809749"/>
                  </a:moveTo>
                  <a:lnTo>
                    <a:pt x="66746" y="1809749"/>
                  </a:lnTo>
                  <a:lnTo>
                    <a:pt x="62101" y="1809293"/>
                  </a:lnTo>
                  <a:lnTo>
                    <a:pt x="24240" y="1792132"/>
                  </a:lnTo>
                  <a:lnTo>
                    <a:pt x="2287" y="1756850"/>
                  </a:lnTo>
                  <a:lnTo>
                    <a:pt x="0" y="1743000"/>
                  </a:lnTo>
                  <a:lnTo>
                    <a:pt x="0" y="1738312"/>
                  </a:lnTo>
                  <a:lnTo>
                    <a:pt x="0" y="66739"/>
                  </a:lnTo>
                  <a:lnTo>
                    <a:pt x="14645" y="27840"/>
                  </a:lnTo>
                  <a:lnTo>
                    <a:pt x="48433" y="3628"/>
                  </a:lnTo>
                  <a:lnTo>
                    <a:pt x="66746" y="0"/>
                  </a:lnTo>
                  <a:lnTo>
                    <a:pt x="7305602" y="0"/>
                  </a:lnTo>
                  <a:lnTo>
                    <a:pt x="7344499" y="14631"/>
                  </a:lnTo>
                  <a:lnTo>
                    <a:pt x="7368706" y="48415"/>
                  </a:lnTo>
                  <a:lnTo>
                    <a:pt x="7372349" y="66739"/>
                  </a:lnTo>
                  <a:lnTo>
                    <a:pt x="7372349" y="1743000"/>
                  </a:lnTo>
                  <a:lnTo>
                    <a:pt x="7357703" y="1781891"/>
                  </a:lnTo>
                  <a:lnTo>
                    <a:pt x="7323915" y="1806103"/>
                  </a:lnTo>
                  <a:lnTo>
                    <a:pt x="7310247" y="1809293"/>
                  </a:lnTo>
                  <a:lnTo>
                    <a:pt x="7305602" y="1809749"/>
                  </a:lnTo>
                  <a:close/>
                </a:path>
              </a:pathLst>
            </a:custGeom>
            <a:solidFill>
              <a:srgbClr val="F6F5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0062" y="4795833"/>
              <a:ext cx="7372350" cy="1809750"/>
            </a:xfrm>
            <a:custGeom>
              <a:avLst/>
              <a:gdLst/>
              <a:ahLst/>
              <a:cxnLst/>
              <a:rect l="l" t="t" r="r" b="b"/>
              <a:pathLst>
                <a:path w="7372350" h="1809750">
                  <a:moveTo>
                    <a:pt x="0" y="1738312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20923" y="20919"/>
                  </a:lnTo>
                  <a:lnTo>
                    <a:pt x="24240" y="17599"/>
                  </a:lnTo>
                  <a:lnTo>
                    <a:pt x="62101" y="456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300911" y="0"/>
                  </a:lnTo>
                  <a:lnTo>
                    <a:pt x="7305602" y="0"/>
                  </a:lnTo>
                  <a:lnTo>
                    <a:pt x="7310247" y="456"/>
                  </a:lnTo>
                  <a:lnTo>
                    <a:pt x="7314848" y="1367"/>
                  </a:lnTo>
                  <a:lnTo>
                    <a:pt x="7319448" y="2279"/>
                  </a:lnTo>
                  <a:lnTo>
                    <a:pt x="7351425" y="20919"/>
                  </a:lnTo>
                  <a:lnTo>
                    <a:pt x="7354742" y="24240"/>
                  </a:lnTo>
                  <a:lnTo>
                    <a:pt x="7357703" y="27849"/>
                  </a:lnTo>
                  <a:lnTo>
                    <a:pt x="7360309" y="31746"/>
                  </a:lnTo>
                  <a:lnTo>
                    <a:pt x="7362915" y="35644"/>
                  </a:lnTo>
                  <a:lnTo>
                    <a:pt x="7370976" y="57485"/>
                  </a:lnTo>
                  <a:lnTo>
                    <a:pt x="7371891" y="62089"/>
                  </a:lnTo>
                  <a:lnTo>
                    <a:pt x="7372349" y="66739"/>
                  </a:lnTo>
                  <a:lnTo>
                    <a:pt x="7372349" y="71437"/>
                  </a:lnTo>
                  <a:lnTo>
                    <a:pt x="7372349" y="1738312"/>
                  </a:lnTo>
                  <a:lnTo>
                    <a:pt x="7372349" y="1743000"/>
                  </a:lnTo>
                  <a:lnTo>
                    <a:pt x="7371891" y="1747642"/>
                  </a:lnTo>
                  <a:lnTo>
                    <a:pt x="7370976" y="1752246"/>
                  </a:lnTo>
                  <a:lnTo>
                    <a:pt x="7370061" y="1756850"/>
                  </a:lnTo>
                  <a:lnTo>
                    <a:pt x="7360309" y="1777983"/>
                  </a:lnTo>
                  <a:lnTo>
                    <a:pt x="7357703" y="1781891"/>
                  </a:lnTo>
                  <a:lnTo>
                    <a:pt x="7323915" y="1806103"/>
                  </a:lnTo>
                  <a:lnTo>
                    <a:pt x="7305602" y="1809749"/>
                  </a:lnTo>
                  <a:lnTo>
                    <a:pt x="7300911" y="1809749"/>
                  </a:lnTo>
                  <a:lnTo>
                    <a:pt x="71437" y="1809749"/>
                  </a:lnTo>
                  <a:lnTo>
                    <a:pt x="66746" y="1809749"/>
                  </a:lnTo>
                  <a:lnTo>
                    <a:pt x="62101" y="1809293"/>
                  </a:lnTo>
                  <a:lnTo>
                    <a:pt x="57500" y="1808382"/>
                  </a:lnTo>
                  <a:lnTo>
                    <a:pt x="52900" y="1807461"/>
                  </a:lnTo>
                  <a:lnTo>
                    <a:pt x="48433" y="1806103"/>
                  </a:lnTo>
                  <a:lnTo>
                    <a:pt x="44099" y="1804308"/>
                  </a:lnTo>
                  <a:lnTo>
                    <a:pt x="39765" y="1802512"/>
                  </a:lnTo>
                  <a:lnTo>
                    <a:pt x="35648" y="1800308"/>
                  </a:lnTo>
                  <a:lnTo>
                    <a:pt x="31748" y="1797695"/>
                  </a:lnTo>
                  <a:lnTo>
                    <a:pt x="27848" y="1795089"/>
                  </a:lnTo>
                  <a:lnTo>
                    <a:pt x="3642" y="1761315"/>
                  </a:lnTo>
                  <a:lnTo>
                    <a:pt x="1372" y="1752246"/>
                  </a:lnTo>
                  <a:lnTo>
                    <a:pt x="457" y="1747642"/>
                  </a:lnTo>
                  <a:lnTo>
                    <a:pt x="0" y="1743000"/>
                  </a:lnTo>
                  <a:lnTo>
                    <a:pt x="0" y="1738312"/>
                  </a:lnTo>
                  <a:close/>
                </a:path>
              </a:pathLst>
            </a:custGeom>
            <a:ln w="9524">
              <a:solidFill>
                <a:srgbClr val="E2E1D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44524" y="4860480"/>
            <a:ext cx="2730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95">
                <a:latin typeface="Cambria"/>
                <a:cs typeface="Cambria"/>
              </a:rPr>
              <a:t>③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6475" y="4829128"/>
            <a:ext cx="1976755" cy="80518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320"/>
              </a:spcBef>
            </a:pP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로컬</a:t>
            </a:r>
            <a:r>
              <a:rPr dirty="0" sz="1350" spc="-13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100" b="1">
                <a:solidFill>
                  <a:srgbClr val="1A1A1A"/>
                </a:solidFill>
                <a:latin typeface="Noto Sans KR"/>
                <a:cs typeface="Noto Sans KR"/>
              </a:rPr>
              <a:t>LLM</a:t>
            </a:r>
            <a:r>
              <a:rPr dirty="0" sz="1350" spc="30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룰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생성</a:t>
            </a:r>
            <a:r>
              <a:rPr dirty="0" sz="1350" spc="-13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실무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A1A1A"/>
                </a:solidFill>
                <a:latin typeface="맑은 고딕"/>
                <a:cs typeface="맑은 고딕"/>
              </a:rPr>
              <a:t>교훈</a:t>
            </a:r>
            <a:r>
              <a:rPr dirty="0" sz="1350" spc="-5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150" spc="-55">
                <a:solidFill>
                  <a:srgbClr val="444444"/>
                </a:solidFill>
                <a:latin typeface="Noto Sans KR"/>
                <a:cs typeface="Noto Sans KR"/>
              </a:rPr>
              <a:t>14</a:t>
            </a:r>
            <a:r>
              <a:rPr dirty="0" sz="1200" spc="-55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150" spc="-55">
                <a:solidFill>
                  <a:srgbClr val="444444"/>
                </a:solidFill>
                <a:latin typeface="Noto Sans KR"/>
                <a:cs typeface="Noto Sans KR"/>
              </a:rPr>
              <a:t>5%</a:t>
            </a:r>
            <a:r>
              <a:rPr dirty="0" sz="1150" spc="2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50" spc="434">
                <a:solidFill>
                  <a:srgbClr val="444444"/>
                </a:solidFill>
                <a:latin typeface="휴먼아미체"/>
                <a:cs typeface="휴먼아미체"/>
              </a:rPr>
              <a:t>오류율</a:t>
            </a:r>
            <a:r>
              <a:rPr dirty="0" sz="115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200" spc="15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50" spc="155">
                <a:solidFill>
                  <a:srgbClr val="444444"/>
                </a:solidFill>
                <a:latin typeface="휴먼아미체"/>
                <a:cs typeface="휴먼아미체"/>
              </a:rPr>
              <a:t>척도</a:t>
            </a:r>
            <a:r>
              <a:rPr dirty="0" sz="1150" spc="15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50" spc="155">
                <a:solidFill>
                  <a:srgbClr val="444444"/>
                </a:solidFill>
                <a:latin typeface="휴먼아미체"/>
                <a:cs typeface="휴먼아미체"/>
              </a:rPr>
              <a:t>역전</a:t>
            </a:r>
            <a:r>
              <a:rPr dirty="0" sz="1150" spc="155">
                <a:solidFill>
                  <a:srgbClr val="444444"/>
                </a:solidFill>
                <a:latin typeface="Noto Sans KR"/>
                <a:cs typeface="Noto Sans KR"/>
              </a:rPr>
              <a:t>·</a:t>
            </a:r>
            <a:r>
              <a:rPr dirty="0" sz="1150" spc="155">
                <a:solidFill>
                  <a:srgbClr val="444444"/>
                </a:solidFill>
                <a:latin typeface="휴먼아미체"/>
                <a:cs typeface="휴먼아미체"/>
              </a:rPr>
              <a:t>억제</a:t>
            </a:r>
            <a:r>
              <a:rPr dirty="0" sz="1200" spc="155">
                <a:solidFill>
                  <a:srgbClr val="444444"/>
                </a:solidFill>
                <a:latin typeface="Arial"/>
                <a:cs typeface="Arial"/>
              </a:rPr>
              <a:t>)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새니타이저로</a:t>
            </a:r>
            <a:r>
              <a:rPr dirty="0" sz="1150" spc="-100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잔여</a:t>
            </a:r>
            <a:r>
              <a:rPr dirty="0" sz="115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90" b="1">
                <a:solidFill>
                  <a:srgbClr val="DF592A"/>
                </a:solidFill>
                <a:latin typeface="맑은 고딕"/>
                <a:cs typeface="맑은 고딕"/>
              </a:rPr>
              <a:t>오류</a:t>
            </a:r>
            <a:r>
              <a:rPr dirty="0" sz="115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14" b="1">
                <a:solidFill>
                  <a:srgbClr val="DF592A"/>
                </a:solidFill>
                <a:latin typeface="Noto Sans KR"/>
                <a:cs typeface="Noto Sans KR"/>
              </a:rPr>
              <a:t>0%</a:t>
            </a:r>
            <a:r>
              <a:rPr dirty="0" sz="1150" spc="-114" b="1">
                <a:solidFill>
                  <a:srgbClr val="DF592A"/>
                </a:solidFill>
                <a:latin typeface="맑은 고딕"/>
                <a:cs typeface="맑은 고딕"/>
              </a:rPr>
              <a:t>로</a:t>
            </a:r>
            <a:r>
              <a:rPr dirty="0" sz="1150" spc="-95" b="1">
                <a:solidFill>
                  <a:srgbClr val="DF592A"/>
                </a:solidFill>
                <a:latin typeface="맑은 고딕"/>
                <a:cs typeface="맑은 고딕"/>
              </a:rPr>
              <a:t> </a:t>
            </a:r>
            <a:r>
              <a:rPr dirty="0" sz="1150" spc="-120" b="1">
                <a:solidFill>
                  <a:srgbClr val="DF592A"/>
                </a:solidFill>
                <a:latin typeface="맑은 고딕"/>
                <a:cs typeface="맑은 고딕"/>
              </a:rPr>
              <a:t>교정</a:t>
            </a:r>
            <a:endParaRPr sz="1150">
              <a:latin typeface="맑은 고딕"/>
              <a:cs typeface="맑은 고딕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010523" y="971546"/>
            <a:ext cx="3686175" cy="4895850"/>
            <a:chOff x="8010523" y="971546"/>
            <a:chExt cx="3686175" cy="4895850"/>
          </a:xfrm>
        </p:grpSpPr>
        <p:sp>
          <p:nvSpPr>
            <p:cNvPr id="21" name="object 21" descr=""/>
            <p:cNvSpPr/>
            <p:nvPr/>
          </p:nvSpPr>
          <p:spPr>
            <a:xfrm>
              <a:off x="8010523" y="971546"/>
              <a:ext cx="3686175" cy="4895850"/>
            </a:xfrm>
            <a:custGeom>
              <a:avLst/>
              <a:gdLst/>
              <a:ahLst/>
              <a:cxnLst/>
              <a:rect l="l" t="t" r="r" b="b"/>
              <a:pathLst>
                <a:path w="3686175" h="4895850">
                  <a:moveTo>
                    <a:pt x="3614978" y="4895849"/>
                  </a:moveTo>
                  <a:lnTo>
                    <a:pt x="71196" y="4895849"/>
                  </a:lnTo>
                  <a:lnTo>
                    <a:pt x="66241" y="4895356"/>
                  </a:lnTo>
                  <a:lnTo>
                    <a:pt x="29705" y="4880222"/>
                  </a:lnTo>
                  <a:lnTo>
                    <a:pt x="3885" y="4844178"/>
                  </a:lnTo>
                  <a:lnTo>
                    <a:pt x="0" y="4824654"/>
                  </a:lnTo>
                  <a:lnTo>
                    <a:pt x="0" y="4819649"/>
                  </a:lnTo>
                  <a:lnTo>
                    <a:pt x="0" y="71195"/>
                  </a:lnTo>
                  <a:lnTo>
                    <a:pt x="15621" y="29700"/>
                  </a:lnTo>
                  <a:lnTo>
                    <a:pt x="51661" y="3878"/>
                  </a:lnTo>
                  <a:lnTo>
                    <a:pt x="71196" y="0"/>
                  </a:lnTo>
                  <a:lnTo>
                    <a:pt x="3614978" y="0"/>
                  </a:lnTo>
                  <a:lnTo>
                    <a:pt x="3656467" y="15617"/>
                  </a:lnTo>
                  <a:lnTo>
                    <a:pt x="3682289" y="51661"/>
                  </a:lnTo>
                  <a:lnTo>
                    <a:pt x="3686175" y="71195"/>
                  </a:lnTo>
                  <a:lnTo>
                    <a:pt x="3686175" y="4824654"/>
                  </a:lnTo>
                  <a:lnTo>
                    <a:pt x="3670551" y="4866140"/>
                  </a:lnTo>
                  <a:lnTo>
                    <a:pt x="3634512" y="4891961"/>
                  </a:lnTo>
                  <a:lnTo>
                    <a:pt x="3619932" y="4895356"/>
                  </a:lnTo>
                  <a:lnTo>
                    <a:pt x="3614978" y="4895849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43873" y="1495420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26970" y="47615"/>
                  </a:moveTo>
                  <a:lnTo>
                    <a:pt x="20655" y="47615"/>
                  </a:lnTo>
                  <a:lnTo>
                    <a:pt x="17617" y="47002"/>
                  </a:lnTo>
                  <a:lnTo>
                    <a:pt x="0" y="26966"/>
                  </a:lnTo>
                  <a:lnTo>
                    <a:pt x="0" y="20650"/>
                  </a:lnTo>
                  <a:lnTo>
                    <a:pt x="20655" y="0"/>
                  </a:lnTo>
                  <a:lnTo>
                    <a:pt x="26970" y="0"/>
                  </a:lnTo>
                  <a:lnTo>
                    <a:pt x="47625" y="23812"/>
                  </a:lnTo>
                  <a:lnTo>
                    <a:pt x="47624" y="26966"/>
                  </a:lnTo>
                  <a:lnTo>
                    <a:pt x="26970" y="47615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147099" y="1100963"/>
            <a:ext cx="1454785" cy="712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475">
                <a:solidFill>
                  <a:srgbClr val="FFFFFF"/>
                </a:solidFill>
                <a:latin typeface="Segoe UI Symbol"/>
                <a:cs typeface="Segoe UI Symbol"/>
              </a:rPr>
              <a:t>⚠</a:t>
            </a:r>
            <a:r>
              <a:rPr dirty="0" sz="1350" spc="-3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dirty="0" sz="1350" spc="-260" b="1">
                <a:solidFill>
                  <a:srgbClr val="FFFFFF"/>
                </a:solidFill>
                <a:latin typeface="맑은 고딕"/>
                <a:cs typeface="맑은 고딕"/>
              </a:rPr>
              <a:t>한계</a:t>
            </a:r>
            <a:r>
              <a:rPr dirty="0" sz="1350" spc="-13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350" spc="-110" b="1">
                <a:solidFill>
                  <a:srgbClr val="FFFFFF"/>
                </a:solidFill>
                <a:latin typeface="Noto Sans KR"/>
                <a:cs typeface="Noto Sans KR"/>
              </a:rPr>
              <a:t>&amp;</a:t>
            </a:r>
            <a:r>
              <a:rPr dirty="0" sz="1350" spc="3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FFFFFF"/>
                </a:solidFill>
                <a:latin typeface="맑은 고딕"/>
                <a:cs typeface="맑은 고딕"/>
              </a:rPr>
              <a:t>향후</a:t>
            </a:r>
            <a:r>
              <a:rPr dirty="0" sz="1350" spc="-1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FFFFFF"/>
                </a:solidFill>
                <a:latin typeface="맑은 고딕"/>
                <a:cs typeface="맑은 고딕"/>
              </a:rPr>
              <a:t>연구</a:t>
            </a:r>
            <a:endParaRPr sz="1350">
              <a:latin typeface="맑은 고딕"/>
              <a:cs typeface="맑은 고딕"/>
            </a:endParaRPr>
          </a:p>
          <a:p>
            <a:pPr marL="154940" marR="5080">
              <a:lnSpc>
                <a:spcPct val="119300"/>
              </a:lnSpc>
              <a:spcBef>
                <a:spcPts val="625"/>
              </a:spcBef>
            </a:pPr>
            <a:r>
              <a:rPr dirty="0" sz="1100" spc="-80" b="1">
                <a:solidFill>
                  <a:srgbClr val="CCCCCC"/>
                </a:solidFill>
                <a:latin typeface="Noto Sans KR"/>
                <a:cs typeface="Noto Sans KR"/>
              </a:rPr>
              <a:t>N=5</a:t>
            </a:r>
            <a:r>
              <a:rPr dirty="0" sz="1100" spc="3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시드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40" b="1">
                <a:solidFill>
                  <a:srgbClr val="CCCCCC"/>
                </a:solidFill>
                <a:latin typeface="Arial"/>
                <a:cs typeface="Arial"/>
              </a:rPr>
              <a:t>—</a:t>
            </a:r>
            <a:r>
              <a:rPr dirty="0" sz="1100" spc="-20" b="1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검증력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제한 </a:t>
            </a:r>
            <a:r>
              <a:rPr dirty="0" sz="1100" spc="-145" b="1">
                <a:solidFill>
                  <a:srgbClr val="CCCCCC"/>
                </a:solidFill>
                <a:latin typeface="Arial"/>
                <a:cs typeface="Arial"/>
              </a:rPr>
              <a:t>(</a:t>
            </a:r>
            <a:r>
              <a:rPr dirty="0" sz="1100" spc="-145" b="1">
                <a:solidFill>
                  <a:srgbClr val="CCCCCC"/>
                </a:solidFill>
                <a:latin typeface="맑은 고딕"/>
                <a:cs typeface="맑은 고딕"/>
              </a:rPr>
              <a:t>향후</a:t>
            </a:r>
            <a:r>
              <a:rPr dirty="0" sz="1100" spc="-11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75" b="1">
                <a:solidFill>
                  <a:srgbClr val="CCCCCC"/>
                </a:solidFill>
                <a:latin typeface="Noto Sans KR"/>
                <a:cs typeface="Noto Sans KR"/>
              </a:rPr>
              <a:t>N=10</a:t>
            </a:r>
            <a:r>
              <a:rPr dirty="0" sz="1100" spc="30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CCCCCC"/>
                </a:solidFill>
                <a:latin typeface="맑은 고딕"/>
                <a:cs typeface="맑은 고딕"/>
              </a:rPr>
              <a:t>확장</a:t>
            </a:r>
            <a:r>
              <a:rPr dirty="0" sz="1100" spc="-25" b="1">
                <a:solidFill>
                  <a:srgbClr val="CCCCC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8143862" y="1962149"/>
            <a:ext cx="47625" cy="1000125"/>
          </a:xfrm>
          <a:custGeom>
            <a:avLst/>
            <a:gdLst/>
            <a:ahLst/>
            <a:cxnLst/>
            <a:rect l="l" t="t" r="r" b="b"/>
            <a:pathLst>
              <a:path w="47625" h="1000125">
                <a:moveTo>
                  <a:pt x="47625" y="973162"/>
                </a:moveTo>
                <a:lnTo>
                  <a:pt x="26974" y="952500"/>
                </a:lnTo>
                <a:lnTo>
                  <a:pt x="20662" y="952500"/>
                </a:lnTo>
                <a:lnTo>
                  <a:pt x="0" y="973162"/>
                </a:lnTo>
                <a:lnTo>
                  <a:pt x="0" y="979462"/>
                </a:lnTo>
                <a:lnTo>
                  <a:pt x="20662" y="1000125"/>
                </a:lnTo>
                <a:lnTo>
                  <a:pt x="26974" y="1000125"/>
                </a:lnTo>
                <a:lnTo>
                  <a:pt x="47625" y="979462"/>
                </a:lnTo>
                <a:lnTo>
                  <a:pt x="47625" y="976312"/>
                </a:lnTo>
                <a:lnTo>
                  <a:pt x="47625" y="973162"/>
                </a:lnTo>
                <a:close/>
              </a:path>
              <a:path w="47625" h="1000125">
                <a:moveTo>
                  <a:pt x="47625" y="496900"/>
                </a:moveTo>
                <a:lnTo>
                  <a:pt x="26974" y="476250"/>
                </a:lnTo>
                <a:lnTo>
                  <a:pt x="20662" y="476250"/>
                </a:lnTo>
                <a:lnTo>
                  <a:pt x="0" y="496900"/>
                </a:lnTo>
                <a:lnTo>
                  <a:pt x="0" y="503212"/>
                </a:lnTo>
                <a:lnTo>
                  <a:pt x="20662" y="523862"/>
                </a:lnTo>
                <a:lnTo>
                  <a:pt x="26974" y="523862"/>
                </a:lnTo>
                <a:lnTo>
                  <a:pt x="47625" y="503212"/>
                </a:lnTo>
                <a:lnTo>
                  <a:pt x="47625" y="500062"/>
                </a:lnTo>
                <a:lnTo>
                  <a:pt x="47625" y="496900"/>
                </a:lnTo>
                <a:close/>
              </a:path>
              <a:path w="47625" h="1000125">
                <a:moveTo>
                  <a:pt x="47625" y="20637"/>
                </a:moveTo>
                <a:lnTo>
                  <a:pt x="26974" y="0"/>
                </a:lnTo>
                <a:lnTo>
                  <a:pt x="20662" y="0"/>
                </a:lnTo>
                <a:lnTo>
                  <a:pt x="0" y="20637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37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8289974" y="1856454"/>
            <a:ext cx="1362710" cy="899794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단일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공장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CCCCCC"/>
                </a:solidFill>
                <a:latin typeface="맑은 고딕"/>
                <a:cs typeface="맑은 고딕"/>
              </a:rPr>
              <a:t>모델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100" spc="-145" b="1">
                <a:solidFill>
                  <a:srgbClr val="CCCCCC"/>
                </a:solidFill>
                <a:latin typeface="Arial"/>
                <a:cs typeface="Arial"/>
              </a:rPr>
              <a:t>(</a:t>
            </a:r>
            <a:r>
              <a:rPr dirty="0" sz="1100" spc="-145" b="1">
                <a:solidFill>
                  <a:srgbClr val="CCCCCC"/>
                </a:solidFill>
                <a:latin typeface="맑은 고딕"/>
                <a:cs typeface="맑은 고딕"/>
              </a:rPr>
              <a:t>다른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반도체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라인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135" b="1">
                <a:solidFill>
                  <a:srgbClr val="CCCCCC"/>
                </a:solidFill>
                <a:latin typeface="맑은 고딕"/>
                <a:cs typeface="맑은 고딕"/>
              </a:rPr>
              <a:t>일반화</a:t>
            </a:r>
            <a:r>
              <a:rPr dirty="0" sz="1100" spc="-135" b="1">
                <a:solidFill>
                  <a:srgbClr val="CCCCC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2700" marR="267335">
              <a:lnSpc>
                <a:spcPct val="119300"/>
              </a:lnSpc>
              <a:spcBef>
                <a:spcPts val="600"/>
              </a:spcBef>
            </a:pPr>
            <a:r>
              <a:rPr dirty="0" sz="1100" spc="-85" b="1">
                <a:solidFill>
                  <a:srgbClr val="CCCCCC"/>
                </a:solidFill>
                <a:latin typeface="Noto Sans KR"/>
                <a:cs typeface="Noto Sans KR"/>
              </a:rPr>
              <a:t>LLM</a:t>
            </a:r>
            <a:r>
              <a:rPr dirty="0" sz="1100" spc="35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추론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5" b="1">
                <a:solidFill>
                  <a:srgbClr val="CCCCCC"/>
                </a:solidFill>
                <a:latin typeface="맑은 고딕"/>
                <a:cs typeface="맑은 고딕"/>
              </a:rPr>
              <a:t>지연 </a:t>
            </a:r>
            <a:r>
              <a:rPr dirty="0" sz="1100" spc="-165" b="1">
                <a:solidFill>
                  <a:srgbClr val="CCCCCC"/>
                </a:solidFill>
                <a:latin typeface="Arial"/>
                <a:cs typeface="Arial"/>
              </a:rPr>
              <a:t>(</a:t>
            </a:r>
            <a:r>
              <a:rPr dirty="0" sz="1100" spc="-165" b="1">
                <a:solidFill>
                  <a:srgbClr val="CCCCCC"/>
                </a:solidFill>
                <a:latin typeface="맑은 고딕"/>
                <a:cs typeface="맑은 고딕"/>
              </a:rPr>
              <a:t>실시간</a:t>
            </a:r>
            <a:r>
              <a:rPr dirty="0" sz="1100" spc="-9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배포</a:t>
            </a:r>
            <a:r>
              <a:rPr dirty="0" sz="1100" spc="-9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160" b="1">
                <a:solidFill>
                  <a:srgbClr val="CCCCCC"/>
                </a:solidFill>
                <a:latin typeface="맑은 고딕"/>
                <a:cs typeface="맑은 고딕"/>
              </a:rPr>
              <a:t>최적화</a:t>
            </a:r>
            <a:r>
              <a:rPr dirty="0" sz="1100" spc="-160" b="1">
                <a:solidFill>
                  <a:srgbClr val="CCCCCC"/>
                </a:solidFill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289974" y="2838227"/>
            <a:ext cx="16135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실제</a:t>
            </a:r>
            <a:r>
              <a:rPr dirty="0" sz="1100" spc="-105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반도체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공장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110" b="1">
                <a:solidFill>
                  <a:srgbClr val="CCCCCC"/>
                </a:solidFill>
                <a:latin typeface="Noto Sans KR"/>
                <a:cs typeface="Noto Sans KR"/>
              </a:rPr>
              <a:t>DT</a:t>
            </a:r>
            <a:r>
              <a:rPr dirty="0" sz="1100" spc="35" b="1">
                <a:solidFill>
                  <a:srgbClr val="CCCCCC"/>
                </a:solidFill>
                <a:latin typeface="Noto Sans KR"/>
                <a:cs typeface="Noto Sans KR"/>
              </a:rPr>
              <a:t> </a:t>
            </a:r>
            <a:r>
              <a:rPr dirty="0" sz="1100" spc="-215" b="1">
                <a:solidFill>
                  <a:srgbClr val="CCCCCC"/>
                </a:solidFill>
                <a:latin typeface="맑은 고딕"/>
                <a:cs typeface="맑은 고딕"/>
              </a:rPr>
              <a:t>연계</a:t>
            </a:r>
            <a:r>
              <a:rPr dirty="0" sz="1100" spc="-100" b="1">
                <a:solidFill>
                  <a:srgbClr val="CCCCCC"/>
                </a:solidFill>
                <a:latin typeface="맑은 고딕"/>
                <a:cs typeface="맑은 고딕"/>
              </a:rPr>
              <a:t> </a:t>
            </a:r>
            <a:r>
              <a:rPr dirty="0" sz="1100" spc="-90" b="1">
                <a:solidFill>
                  <a:srgbClr val="CCCCCC"/>
                </a:solidFill>
                <a:latin typeface="맑은 고딕"/>
                <a:cs typeface="맑은 고딕"/>
              </a:rPr>
              <a:t>검증</a:t>
            </a:r>
            <a:endParaRPr sz="1100">
              <a:latin typeface="맑은 고딕"/>
              <a:cs typeface="맑은 고딕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8010523" y="5962645"/>
            <a:ext cx="3686175" cy="647700"/>
          </a:xfrm>
          <a:custGeom>
            <a:avLst/>
            <a:gdLst/>
            <a:ahLst/>
            <a:cxnLst/>
            <a:rect l="l" t="t" r="r" b="b"/>
            <a:pathLst>
              <a:path w="3686175" h="647700">
                <a:moveTo>
                  <a:pt x="3623877" y="647690"/>
                </a:moveTo>
                <a:lnTo>
                  <a:pt x="62297" y="647690"/>
                </a:lnTo>
                <a:lnTo>
                  <a:pt x="57960" y="647262"/>
                </a:lnTo>
                <a:lnTo>
                  <a:pt x="22623" y="631254"/>
                </a:lnTo>
                <a:lnTo>
                  <a:pt x="2135" y="598308"/>
                </a:lnTo>
                <a:lnTo>
                  <a:pt x="0" y="585396"/>
                </a:lnTo>
                <a:lnTo>
                  <a:pt x="0" y="581024"/>
                </a:lnTo>
                <a:lnTo>
                  <a:pt x="0" y="62293"/>
                </a:lnTo>
                <a:lnTo>
                  <a:pt x="13668" y="25988"/>
                </a:lnTo>
                <a:lnTo>
                  <a:pt x="45203" y="3394"/>
                </a:lnTo>
                <a:lnTo>
                  <a:pt x="62297" y="0"/>
                </a:lnTo>
                <a:lnTo>
                  <a:pt x="3623877" y="0"/>
                </a:lnTo>
                <a:lnTo>
                  <a:pt x="3660182" y="13664"/>
                </a:lnTo>
                <a:lnTo>
                  <a:pt x="3682774" y="45197"/>
                </a:lnTo>
                <a:lnTo>
                  <a:pt x="3686175" y="62293"/>
                </a:lnTo>
                <a:lnTo>
                  <a:pt x="3686175" y="585396"/>
                </a:lnTo>
                <a:lnTo>
                  <a:pt x="3672505" y="621691"/>
                </a:lnTo>
                <a:lnTo>
                  <a:pt x="3640968" y="644276"/>
                </a:lnTo>
                <a:lnTo>
                  <a:pt x="3628212" y="647262"/>
                </a:lnTo>
                <a:lnTo>
                  <a:pt x="3623877" y="647690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8147099" y="6020339"/>
            <a:ext cx="202565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1250" spc="-225" b="1">
                <a:solidFill>
                  <a:srgbClr val="FFFFFF"/>
                </a:solidFill>
                <a:latin typeface="맑은 고딕"/>
                <a:cs typeface="맑은 고딕"/>
              </a:rPr>
              <a:t>신뢰할</a:t>
            </a:r>
            <a:r>
              <a:rPr dirty="0" sz="1250" spc="-12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250" spc="-225" b="1">
                <a:solidFill>
                  <a:srgbClr val="FFFFFF"/>
                </a:solidFill>
                <a:latin typeface="맑은 고딕"/>
                <a:cs typeface="맑은 고딕"/>
              </a:rPr>
              <a:t>수</a:t>
            </a:r>
            <a:r>
              <a:rPr dirty="0" sz="1250" spc="-12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250" spc="-225" b="1">
                <a:solidFill>
                  <a:srgbClr val="FFFFFF"/>
                </a:solidFill>
                <a:latin typeface="맑은 고딕"/>
                <a:cs typeface="맑은 고딕"/>
              </a:rPr>
              <a:t>없는</a:t>
            </a:r>
            <a:r>
              <a:rPr dirty="0" sz="1250" spc="-125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1250" spc="-70" b="1">
                <a:solidFill>
                  <a:srgbClr val="FFFFFF"/>
                </a:solidFill>
                <a:latin typeface="Noto Sans KR"/>
                <a:cs typeface="Noto Sans KR"/>
              </a:rPr>
              <a:t>DRL</a:t>
            </a:r>
            <a:r>
              <a:rPr dirty="0" sz="1250" spc="2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맑은 고딕"/>
                <a:cs typeface="맑은 고딕"/>
              </a:rPr>
              <a:t>스케줄러를 </a:t>
            </a:r>
            <a:r>
              <a:rPr dirty="0" sz="1250" spc="-114" b="1">
                <a:solidFill>
                  <a:srgbClr val="FFFFFF"/>
                </a:solidFill>
                <a:latin typeface="Noto Sans KR Black"/>
                <a:cs typeface="Noto Sans KR Black"/>
              </a:rPr>
              <a:t>신뢰</a:t>
            </a:r>
            <a:r>
              <a:rPr dirty="0" sz="1250" spc="25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250" spc="-120" b="1">
                <a:solidFill>
                  <a:srgbClr val="FFFFFF"/>
                </a:solidFill>
                <a:latin typeface="Noto Sans KR Black"/>
                <a:cs typeface="Noto Sans KR Black"/>
              </a:rPr>
              <a:t>가능하게</a:t>
            </a:r>
            <a:r>
              <a:rPr dirty="0" sz="1250" spc="40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250" spc="-120" b="1">
                <a:solidFill>
                  <a:srgbClr val="FFFFFF"/>
                </a:solidFill>
                <a:latin typeface="Noto Sans KR Black"/>
                <a:cs typeface="Noto Sans KR Black"/>
              </a:rPr>
              <a:t>만드는</a:t>
            </a:r>
            <a:r>
              <a:rPr dirty="0" sz="1250" spc="35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250" spc="-120" b="1">
                <a:solidFill>
                  <a:srgbClr val="FFFFFF"/>
                </a:solidFill>
                <a:latin typeface="Noto Sans KR Black"/>
                <a:cs typeface="Noto Sans KR Black"/>
              </a:rPr>
              <a:t>방법을</a:t>
            </a:r>
            <a:r>
              <a:rPr dirty="0" sz="1250" spc="40" b="1">
                <a:solidFill>
                  <a:srgbClr val="FFFFFF"/>
                </a:solidFill>
                <a:latin typeface="Noto Sans KR Black"/>
                <a:cs typeface="Noto Sans KR Black"/>
              </a:rPr>
              <a:t> </a:t>
            </a:r>
            <a:r>
              <a:rPr dirty="0" sz="1250" spc="-105" b="1">
                <a:solidFill>
                  <a:srgbClr val="FFFFFF"/>
                </a:solidFill>
                <a:latin typeface="Noto Sans KR Black"/>
                <a:cs typeface="Noto Sans KR Black"/>
              </a:rPr>
              <a:t>제시</a:t>
            </a:r>
            <a:endParaRPr sz="1250">
              <a:latin typeface="Noto Sans KR Black"/>
              <a:cs typeface="Noto Sans KR Black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0" y="6819895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95299" y="285745"/>
            <a:ext cx="600075" cy="200025"/>
          </a:xfrm>
          <a:custGeom>
            <a:avLst/>
            <a:gdLst/>
            <a:ahLst/>
            <a:cxnLst/>
            <a:rect l="l" t="t" r="r" b="b"/>
            <a:pathLst>
              <a:path w="600075" h="200025">
                <a:moveTo>
                  <a:pt x="567027" y="200015"/>
                </a:moveTo>
                <a:lnTo>
                  <a:pt x="33047" y="200015"/>
                </a:lnTo>
                <a:lnTo>
                  <a:pt x="28187" y="199048"/>
                </a:lnTo>
                <a:lnTo>
                  <a:pt x="966" y="171840"/>
                </a:lnTo>
                <a:lnTo>
                  <a:pt x="0" y="166976"/>
                </a:lnTo>
                <a:lnTo>
                  <a:pt x="0" y="161924"/>
                </a:lnTo>
                <a:lnTo>
                  <a:pt x="0" y="33040"/>
                </a:lnTo>
                <a:lnTo>
                  <a:pt x="28187" y="967"/>
                </a:lnTo>
                <a:lnTo>
                  <a:pt x="33047" y="0"/>
                </a:lnTo>
                <a:lnTo>
                  <a:pt x="567027" y="0"/>
                </a:lnTo>
                <a:lnTo>
                  <a:pt x="599108" y="28174"/>
                </a:lnTo>
                <a:lnTo>
                  <a:pt x="600074" y="33040"/>
                </a:lnTo>
                <a:lnTo>
                  <a:pt x="600074" y="166976"/>
                </a:lnTo>
                <a:lnTo>
                  <a:pt x="571887" y="199048"/>
                </a:lnTo>
                <a:lnTo>
                  <a:pt x="567027" y="200015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7849" y="308292"/>
            <a:ext cx="429259" cy="15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50" spc="-145" b="1">
                <a:solidFill>
                  <a:srgbClr val="FFFFFF"/>
                </a:solidFill>
                <a:latin typeface="맑은 고딕"/>
                <a:cs typeface="맑은 고딕"/>
              </a:rPr>
              <a:t>향후</a:t>
            </a:r>
            <a:r>
              <a:rPr dirty="0" sz="850" spc="30" b="1">
                <a:solidFill>
                  <a:srgbClr val="FFFFFF"/>
                </a:solidFill>
                <a:latin typeface="맑은 고딕"/>
                <a:cs typeface="맑은 고딕"/>
              </a:rPr>
              <a:t> </a:t>
            </a:r>
            <a:r>
              <a:rPr dirty="0" sz="850" spc="-114" b="1">
                <a:solidFill>
                  <a:srgbClr val="FFFFFF"/>
                </a:solidFill>
                <a:latin typeface="맑은 고딕"/>
                <a:cs typeface="맑은 고딕"/>
              </a:rPr>
              <a:t>연구</a:t>
            </a:r>
            <a:endParaRPr sz="850">
              <a:latin typeface="맑은 고딕"/>
              <a:cs typeface="맑은 고딕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60"/>
              <a:t>디지털</a:t>
            </a:r>
            <a:r>
              <a:rPr dirty="0" spc="-200"/>
              <a:t> </a:t>
            </a:r>
            <a:r>
              <a:rPr dirty="0" spc="-360"/>
              <a:t>트윈</a:t>
            </a:r>
            <a:r>
              <a:rPr dirty="0" spc="-200"/>
              <a:t> </a:t>
            </a:r>
            <a:r>
              <a:rPr dirty="0" spc="-360"/>
              <a:t>랩</a:t>
            </a:r>
            <a:r>
              <a:rPr dirty="0" spc="-200"/>
              <a:t> </a:t>
            </a:r>
            <a:r>
              <a:rPr dirty="0" spc="-360"/>
              <a:t>연계</a:t>
            </a:r>
            <a:r>
              <a:rPr dirty="0" spc="-200"/>
              <a:t> </a:t>
            </a:r>
            <a:r>
              <a:rPr dirty="0" spc="-385"/>
              <a:t>로드맵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5299" y="990595"/>
            <a:ext cx="3648075" cy="5619750"/>
            <a:chOff x="495299" y="990595"/>
            <a:chExt cx="3648075" cy="5619750"/>
          </a:xfrm>
        </p:grpSpPr>
        <p:sp>
          <p:nvSpPr>
            <p:cNvPr id="6" name="object 6" descr=""/>
            <p:cNvSpPr/>
            <p:nvPr/>
          </p:nvSpPr>
          <p:spPr>
            <a:xfrm>
              <a:off x="500062" y="995358"/>
              <a:ext cx="3638550" cy="5610225"/>
            </a:xfrm>
            <a:custGeom>
              <a:avLst/>
              <a:gdLst/>
              <a:ahLst/>
              <a:cxnLst/>
              <a:rect l="l" t="t" r="r" b="b"/>
              <a:pathLst>
                <a:path w="3638550" h="5610225">
                  <a:moveTo>
                    <a:pt x="3571802" y="5610215"/>
                  </a:moveTo>
                  <a:lnTo>
                    <a:pt x="66746" y="5610215"/>
                  </a:lnTo>
                  <a:lnTo>
                    <a:pt x="62101" y="5609759"/>
                  </a:lnTo>
                  <a:lnTo>
                    <a:pt x="24240" y="5592597"/>
                  </a:lnTo>
                  <a:lnTo>
                    <a:pt x="2287" y="5557306"/>
                  </a:lnTo>
                  <a:lnTo>
                    <a:pt x="0" y="5543465"/>
                  </a:lnTo>
                  <a:lnTo>
                    <a:pt x="0" y="5538787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28"/>
                  </a:lnTo>
                  <a:lnTo>
                    <a:pt x="66746" y="0"/>
                  </a:lnTo>
                  <a:lnTo>
                    <a:pt x="3571802" y="0"/>
                  </a:lnTo>
                  <a:lnTo>
                    <a:pt x="3610700" y="14631"/>
                  </a:lnTo>
                  <a:lnTo>
                    <a:pt x="3634906" y="48415"/>
                  </a:lnTo>
                  <a:lnTo>
                    <a:pt x="3638549" y="66739"/>
                  </a:lnTo>
                  <a:lnTo>
                    <a:pt x="3638549" y="5543465"/>
                  </a:lnTo>
                  <a:lnTo>
                    <a:pt x="3623903" y="5582356"/>
                  </a:lnTo>
                  <a:lnTo>
                    <a:pt x="3590116" y="5606568"/>
                  </a:lnTo>
                  <a:lnTo>
                    <a:pt x="3576448" y="5609759"/>
                  </a:lnTo>
                  <a:lnTo>
                    <a:pt x="3571802" y="5610215"/>
                  </a:lnTo>
                  <a:close/>
                </a:path>
              </a:pathLst>
            </a:custGeom>
            <a:solidFill>
              <a:srgbClr val="EDF1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00062" y="995358"/>
              <a:ext cx="3638550" cy="5610225"/>
            </a:xfrm>
            <a:custGeom>
              <a:avLst/>
              <a:gdLst/>
              <a:ahLst/>
              <a:cxnLst/>
              <a:rect l="l" t="t" r="r" b="b"/>
              <a:pathLst>
                <a:path w="3638550" h="5610225">
                  <a:moveTo>
                    <a:pt x="0" y="55387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5437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6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27848" y="14631"/>
                  </a:lnTo>
                  <a:lnTo>
                    <a:pt x="31748" y="12027"/>
                  </a:lnTo>
                  <a:lnTo>
                    <a:pt x="35648" y="941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67112" y="0"/>
                  </a:lnTo>
                  <a:lnTo>
                    <a:pt x="3571802" y="0"/>
                  </a:lnTo>
                  <a:lnTo>
                    <a:pt x="3576448" y="456"/>
                  </a:lnTo>
                  <a:lnTo>
                    <a:pt x="3614309" y="17589"/>
                  </a:lnTo>
                  <a:lnTo>
                    <a:pt x="3617625" y="20910"/>
                  </a:lnTo>
                  <a:lnTo>
                    <a:pt x="3620942" y="24222"/>
                  </a:lnTo>
                  <a:lnTo>
                    <a:pt x="3623903" y="27831"/>
                  </a:lnTo>
                  <a:lnTo>
                    <a:pt x="3626509" y="31728"/>
                  </a:lnTo>
                  <a:lnTo>
                    <a:pt x="3629115" y="35625"/>
                  </a:lnTo>
                  <a:lnTo>
                    <a:pt x="3638549" y="71437"/>
                  </a:lnTo>
                  <a:lnTo>
                    <a:pt x="3638549" y="5538787"/>
                  </a:lnTo>
                  <a:lnTo>
                    <a:pt x="3626509" y="5578450"/>
                  </a:lnTo>
                  <a:lnTo>
                    <a:pt x="3623903" y="5582356"/>
                  </a:lnTo>
                  <a:lnTo>
                    <a:pt x="3606800" y="5598160"/>
                  </a:lnTo>
                  <a:lnTo>
                    <a:pt x="3602900" y="5600773"/>
                  </a:lnTo>
                  <a:lnTo>
                    <a:pt x="3598783" y="5602978"/>
                  </a:lnTo>
                  <a:lnTo>
                    <a:pt x="3594449" y="5604773"/>
                  </a:lnTo>
                  <a:lnTo>
                    <a:pt x="3590116" y="5606568"/>
                  </a:lnTo>
                  <a:lnTo>
                    <a:pt x="3567112" y="5610224"/>
                  </a:lnTo>
                  <a:lnTo>
                    <a:pt x="71437" y="5610224"/>
                  </a:lnTo>
                  <a:lnTo>
                    <a:pt x="31748" y="5598160"/>
                  </a:lnTo>
                  <a:lnTo>
                    <a:pt x="27848" y="5595556"/>
                  </a:lnTo>
                  <a:lnTo>
                    <a:pt x="12039" y="5578458"/>
                  </a:lnTo>
                  <a:lnTo>
                    <a:pt x="9433" y="5574562"/>
                  </a:lnTo>
                  <a:lnTo>
                    <a:pt x="0" y="5543465"/>
                  </a:lnTo>
                  <a:lnTo>
                    <a:pt x="0" y="5538787"/>
                  </a:lnTo>
                  <a:close/>
                </a:path>
              </a:pathLst>
            </a:custGeom>
            <a:ln w="9524">
              <a:solidFill>
                <a:srgbClr val="B8C7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95324" y="1171570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318114" y="190490"/>
                  </a:moveTo>
                  <a:lnTo>
                    <a:pt x="24785" y="190490"/>
                  </a:lnTo>
                  <a:lnTo>
                    <a:pt x="21140" y="189765"/>
                  </a:lnTo>
                  <a:lnTo>
                    <a:pt x="0" y="165701"/>
                  </a:lnTo>
                  <a:lnTo>
                    <a:pt x="0" y="161924"/>
                  </a:lnTo>
                  <a:lnTo>
                    <a:pt x="0" y="24770"/>
                  </a:lnTo>
                  <a:lnTo>
                    <a:pt x="24785" y="0"/>
                  </a:lnTo>
                  <a:lnTo>
                    <a:pt x="318114" y="0"/>
                  </a:lnTo>
                  <a:lnTo>
                    <a:pt x="342900" y="24770"/>
                  </a:lnTo>
                  <a:lnTo>
                    <a:pt x="342900" y="165701"/>
                  </a:lnTo>
                  <a:lnTo>
                    <a:pt x="321759" y="189765"/>
                  </a:lnTo>
                  <a:lnTo>
                    <a:pt x="318114" y="190490"/>
                  </a:lnTo>
                  <a:close/>
                </a:path>
              </a:pathLst>
            </a:custGeom>
            <a:solidFill>
              <a:srgbClr val="1F3F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58824" y="1183354"/>
            <a:ext cx="21844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14" b="1">
                <a:solidFill>
                  <a:srgbClr val="FFFFFF"/>
                </a:solidFill>
                <a:latin typeface="맑은 고딕"/>
                <a:cs typeface="맑은 고딕"/>
              </a:rPr>
              <a:t>단기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23156" y="1148588"/>
            <a:ext cx="105600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0" b="1">
                <a:solidFill>
                  <a:srgbClr val="1A1A1A"/>
                </a:solidFill>
                <a:latin typeface="Noto Sans KR"/>
                <a:cs typeface="Noto Sans KR"/>
              </a:rPr>
              <a:t>N=10</a:t>
            </a:r>
            <a:r>
              <a:rPr dirty="0" sz="1350" spc="2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실험</a:t>
            </a:r>
            <a:r>
              <a:rPr dirty="0" sz="1350" spc="-14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A1A1A"/>
                </a:solidFill>
                <a:latin typeface="맑은 고딕"/>
                <a:cs typeface="맑은 고딕"/>
              </a:rPr>
              <a:t>확장</a:t>
            </a:r>
            <a:endParaRPr sz="1350">
              <a:latin typeface="맑은 고딕"/>
              <a:cs typeface="맑은 고딕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57212" y="1562099"/>
            <a:ext cx="47625" cy="752475"/>
          </a:xfrm>
          <a:custGeom>
            <a:avLst/>
            <a:gdLst/>
            <a:ahLst/>
            <a:cxnLst/>
            <a:rect l="l" t="t" r="r" b="b"/>
            <a:pathLst>
              <a:path w="47625" h="752475">
                <a:moveTo>
                  <a:pt x="47625" y="725500"/>
                </a:moveTo>
                <a:lnTo>
                  <a:pt x="26974" y="704850"/>
                </a:lnTo>
                <a:lnTo>
                  <a:pt x="20662" y="704850"/>
                </a:lnTo>
                <a:lnTo>
                  <a:pt x="0" y="725500"/>
                </a:lnTo>
                <a:lnTo>
                  <a:pt x="0" y="731812"/>
                </a:lnTo>
                <a:lnTo>
                  <a:pt x="20662" y="752462"/>
                </a:lnTo>
                <a:lnTo>
                  <a:pt x="26974" y="752462"/>
                </a:lnTo>
                <a:lnTo>
                  <a:pt x="47625" y="731812"/>
                </a:lnTo>
                <a:lnTo>
                  <a:pt x="47625" y="728662"/>
                </a:lnTo>
                <a:lnTo>
                  <a:pt x="47625" y="725500"/>
                </a:lnTo>
                <a:close/>
              </a:path>
              <a:path w="47625" h="752475">
                <a:moveTo>
                  <a:pt x="47625" y="487362"/>
                </a:moveTo>
                <a:lnTo>
                  <a:pt x="26974" y="466725"/>
                </a:lnTo>
                <a:lnTo>
                  <a:pt x="20662" y="466725"/>
                </a:lnTo>
                <a:lnTo>
                  <a:pt x="0" y="487362"/>
                </a:lnTo>
                <a:lnTo>
                  <a:pt x="0" y="493687"/>
                </a:lnTo>
                <a:lnTo>
                  <a:pt x="20662" y="514337"/>
                </a:lnTo>
                <a:lnTo>
                  <a:pt x="26974" y="514337"/>
                </a:lnTo>
                <a:lnTo>
                  <a:pt x="47625" y="493687"/>
                </a:lnTo>
                <a:lnTo>
                  <a:pt x="47625" y="490537"/>
                </a:lnTo>
                <a:lnTo>
                  <a:pt x="47625" y="487362"/>
                </a:lnTo>
                <a:close/>
              </a:path>
              <a:path w="47625" h="752475">
                <a:moveTo>
                  <a:pt x="47625" y="258775"/>
                </a:moveTo>
                <a:lnTo>
                  <a:pt x="26974" y="238125"/>
                </a:lnTo>
                <a:lnTo>
                  <a:pt x="20662" y="238125"/>
                </a:lnTo>
                <a:lnTo>
                  <a:pt x="0" y="258775"/>
                </a:lnTo>
                <a:lnTo>
                  <a:pt x="0" y="265087"/>
                </a:lnTo>
                <a:lnTo>
                  <a:pt x="20662" y="285737"/>
                </a:lnTo>
                <a:lnTo>
                  <a:pt x="26974" y="285737"/>
                </a:lnTo>
                <a:lnTo>
                  <a:pt x="47625" y="265087"/>
                </a:lnTo>
                <a:lnTo>
                  <a:pt x="47625" y="261937"/>
                </a:lnTo>
                <a:lnTo>
                  <a:pt x="47625" y="258775"/>
                </a:lnTo>
                <a:close/>
              </a:path>
              <a:path w="47625" h="752475">
                <a:moveTo>
                  <a:pt x="47625" y="20637"/>
                </a:moveTo>
                <a:lnTo>
                  <a:pt x="26974" y="0"/>
                </a:lnTo>
                <a:lnTo>
                  <a:pt x="20662" y="0"/>
                </a:lnTo>
                <a:lnTo>
                  <a:pt x="0" y="20637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37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06449" y="1416936"/>
            <a:ext cx="1530350" cy="967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40200"/>
              </a:lnSpc>
              <a:spcBef>
                <a:spcPts val="110"/>
              </a:spcBef>
            </a:pP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현재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80">
                <a:solidFill>
                  <a:srgbClr val="444444"/>
                </a:solidFill>
                <a:latin typeface="Noto Sans KR"/>
                <a:cs typeface="Noto Sans KR"/>
              </a:rPr>
              <a:t>N=5</a:t>
            </a:r>
            <a:r>
              <a:rPr dirty="0" sz="1100" spc="5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5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75">
                <a:solidFill>
                  <a:srgbClr val="444444"/>
                </a:solidFill>
                <a:latin typeface="Noto Sans KR"/>
                <a:cs typeface="Noto Sans KR"/>
              </a:rPr>
              <a:t>N=10</a:t>
            </a:r>
            <a:r>
              <a:rPr dirty="0" sz="1100" spc="75">
                <a:solidFill>
                  <a:srgbClr val="444444"/>
                </a:solidFill>
                <a:latin typeface="휴먼아미체"/>
                <a:cs typeface="휴먼아미체"/>
              </a:rPr>
              <a:t>으로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90">
                <a:solidFill>
                  <a:srgbClr val="444444"/>
                </a:solidFill>
                <a:latin typeface="휴먼아미체"/>
                <a:cs typeface="휴먼아미체"/>
              </a:rPr>
              <a:t>확장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CT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45">
                <a:solidFill>
                  <a:srgbClr val="444444"/>
                </a:solidFill>
                <a:latin typeface="Noto Sans KR"/>
                <a:cs typeface="Noto Sans KR"/>
              </a:rPr>
              <a:t>t</a:t>
            </a:r>
            <a:r>
              <a:rPr dirty="0" sz="1100" spc="-4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sz="1100" spc="-60">
                <a:solidFill>
                  <a:srgbClr val="444444"/>
                </a:solidFill>
                <a:latin typeface="Noto Sans KR"/>
                <a:cs typeface="Noto Sans KR"/>
              </a:rPr>
              <a:t>test</a:t>
            </a:r>
            <a:r>
              <a:rPr dirty="0" sz="1100" spc="-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p</a:t>
            </a:r>
            <a:r>
              <a:rPr dirty="0" sz="1100" spc="-4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&lt; </a:t>
            </a: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0</a:t>
            </a:r>
            <a:r>
              <a:rPr dirty="0" sz="1100" spc="-55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05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달성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60">
                <a:solidFill>
                  <a:srgbClr val="444444"/>
                </a:solidFill>
                <a:latin typeface="휴먼아미체"/>
                <a:cs typeface="휴먼아미체"/>
              </a:rPr>
              <a:t>목표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통계적</a:t>
            </a:r>
            <a:r>
              <a:rPr dirty="0" sz="1100" spc="5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>
                <a:solidFill>
                  <a:srgbClr val="444444"/>
                </a:solidFill>
                <a:latin typeface="휴먼아미체"/>
                <a:cs typeface="휴먼아미체"/>
              </a:rPr>
              <a:t>검증력</a:t>
            </a:r>
            <a:r>
              <a:rPr dirty="0" sz="1100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>
                <a:solidFill>
                  <a:srgbClr val="444444"/>
                </a:solidFill>
                <a:latin typeface="Noto Sans KR"/>
                <a:cs typeface="Noto Sans KR"/>
              </a:rPr>
              <a:t>power</a:t>
            </a:r>
            <a:r>
              <a:rPr dirty="0" sz="1100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100" spc="2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190">
                <a:solidFill>
                  <a:srgbClr val="444444"/>
                </a:solidFill>
                <a:latin typeface="휴먼아미체"/>
                <a:cs typeface="휴먼아미체"/>
              </a:rPr>
              <a:t>강화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실험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444444"/>
                </a:solidFill>
                <a:latin typeface="휴먼아미체"/>
                <a:cs typeface="휴먼아미체"/>
              </a:rPr>
              <a:t>데이터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안정성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85">
                <a:solidFill>
                  <a:srgbClr val="444444"/>
                </a:solidFill>
                <a:latin typeface="휴먼아미체"/>
                <a:cs typeface="휴먼아미체"/>
              </a:rPr>
              <a:t>재확인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276724" y="990595"/>
            <a:ext cx="3638550" cy="5619750"/>
            <a:chOff x="4276724" y="990595"/>
            <a:chExt cx="3638550" cy="5619750"/>
          </a:xfrm>
        </p:grpSpPr>
        <p:sp>
          <p:nvSpPr>
            <p:cNvPr id="14" name="object 14" descr=""/>
            <p:cNvSpPr/>
            <p:nvPr/>
          </p:nvSpPr>
          <p:spPr>
            <a:xfrm>
              <a:off x="4281486" y="995358"/>
              <a:ext cx="3629025" cy="5610225"/>
            </a:xfrm>
            <a:custGeom>
              <a:avLst/>
              <a:gdLst/>
              <a:ahLst/>
              <a:cxnLst/>
              <a:rect l="l" t="t" r="r" b="b"/>
              <a:pathLst>
                <a:path w="3629025" h="5610225">
                  <a:moveTo>
                    <a:pt x="3562277" y="5610215"/>
                  </a:moveTo>
                  <a:lnTo>
                    <a:pt x="66746" y="5610215"/>
                  </a:lnTo>
                  <a:lnTo>
                    <a:pt x="62100" y="5609759"/>
                  </a:lnTo>
                  <a:lnTo>
                    <a:pt x="24240" y="5592597"/>
                  </a:lnTo>
                  <a:lnTo>
                    <a:pt x="2287" y="5557306"/>
                  </a:lnTo>
                  <a:lnTo>
                    <a:pt x="0" y="5543465"/>
                  </a:lnTo>
                  <a:lnTo>
                    <a:pt x="0" y="5538787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28"/>
                  </a:lnTo>
                  <a:lnTo>
                    <a:pt x="66746" y="0"/>
                  </a:lnTo>
                  <a:lnTo>
                    <a:pt x="3562277" y="0"/>
                  </a:lnTo>
                  <a:lnTo>
                    <a:pt x="3601175" y="14631"/>
                  </a:lnTo>
                  <a:lnTo>
                    <a:pt x="3625381" y="48415"/>
                  </a:lnTo>
                  <a:lnTo>
                    <a:pt x="3629024" y="66739"/>
                  </a:lnTo>
                  <a:lnTo>
                    <a:pt x="3629024" y="5543465"/>
                  </a:lnTo>
                  <a:lnTo>
                    <a:pt x="3614379" y="5582356"/>
                  </a:lnTo>
                  <a:lnTo>
                    <a:pt x="3580590" y="5606568"/>
                  </a:lnTo>
                  <a:lnTo>
                    <a:pt x="3566922" y="5609759"/>
                  </a:lnTo>
                  <a:lnTo>
                    <a:pt x="3562277" y="5610215"/>
                  </a:lnTo>
                  <a:close/>
                </a:path>
              </a:pathLst>
            </a:custGeom>
            <a:solidFill>
              <a:srgbClr val="ECF5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281486" y="995358"/>
              <a:ext cx="3629025" cy="5610225"/>
            </a:xfrm>
            <a:custGeom>
              <a:avLst/>
              <a:gdLst/>
              <a:ahLst/>
              <a:cxnLst/>
              <a:rect l="l" t="t" r="r" b="b"/>
              <a:pathLst>
                <a:path w="3629025" h="5610225">
                  <a:moveTo>
                    <a:pt x="0" y="55387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2038" y="31728"/>
                  </a:lnTo>
                  <a:lnTo>
                    <a:pt x="14645" y="27831"/>
                  </a:lnTo>
                  <a:lnTo>
                    <a:pt x="17606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27848" y="14631"/>
                  </a:lnTo>
                  <a:lnTo>
                    <a:pt x="31748" y="12027"/>
                  </a:lnTo>
                  <a:lnTo>
                    <a:pt x="35648" y="941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557587" y="0"/>
                  </a:lnTo>
                  <a:lnTo>
                    <a:pt x="3562277" y="0"/>
                  </a:lnTo>
                  <a:lnTo>
                    <a:pt x="3566923" y="456"/>
                  </a:lnTo>
                  <a:lnTo>
                    <a:pt x="3604784" y="17589"/>
                  </a:lnTo>
                  <a:lnTo>
                    <a:pt x="3608101" y="20910"/>
                  </a:lnTo>
                  <a:lnTo>
                    <a:pt x="3611417" y="24222"/>
                  </a:lnTo>
                  <a:lnTo>
                    <a:pt x="3614379" y="27831"/>
                  </a:lnTo>
                  <a:lnTo>
                    <a:pt x="3616984" y="31728"/>
                  </a:lnTo>
                  <a:lnTo>
                    <a:pt x="3619590" y="35625"/>
                  </a:lnTo>
                  <a:lnTo>
                    <a:pt x="3621791" y="39746"/>
                  </a:lnTo>
                  <a:lnTo>
                    <a:pt x="3623586" y="44080"/>
                  </a:lnTo>
                  <a:lnTo>
                    <a:pt x="3625381" y="48415"/>
                  </a:lnTo>
                  <a:lnTo>
                    <a:pt x="3626736" y="52880"/>
                  </a:lnTo>
                  <a:lnTo>
                    <a:pt x="3627651" y="57485"/>
                  </a:lnTo>
                  <a:lnTo>
                    <a:pt x="3628566" y="62089"/>
                  </a:lnTo>
                  <a:lnTo>
                    <a:pt x="3629024" y="66739"/>
                  </a:lnTo>
                  <a:lnTo>
                    <a:pt x="3629024" y="71437"/>
                  </a:lnTo>
                  <a:lnTo>
                    <a:pt x="3629024" y="5538787"/>
                  </a:lnTo>
                  <a:lnTo>
                    <a:pt x="3629024" y="5543465"/>
                  </a:lnTo>
                  <a:lnTo>
                    <a:pt x="3628566" y="5548107"/>
                  </a:lnTo>
                  <a:lnTo>
                    <a:pt x="3627651" y="5552702"/>
                  </a:lnTo>
                  <a:lnTo>
                    <a:pt x="3626736" y="5557297"/>
                  </a:lnTo>
                  <a:lnTo>
                    <a:pt x="3625381" y="5561762"/>
                  </a:lnTo>
                  <a:lnTo>
                    <a:pt x="3623586" y="5566097"/>
                  </a:lnTo>
                  <a:lnTo>
                    <a:pt x="3621791" y="5570431"/>
                  </a:lnTo>
                  <a:lnTo>
                    <a:pt x="3619590" y="5574552"/>
                  </a:lnTo>
                  <a:lnTo>
                    <a:pt x="3616984" y="5578450"/>
                  </a:lnTo>
                  <a:lnTo>
                    <a:pt x="3614379" y="5582356"/>
                  </a:lnTo>
                  <a:lnTo>
                    <a:pt x="3597275" y="5598160"/>
                  </a:lnTo>
                  <a:lnTo>
                    <a:pt x="3593375" y="5600773"/>
                  </a:lnTo>
                  <a:lnTo>
                    <a:pt x="3589258" y="5602978"/>
                  </a:lnTo>
                  <a:lnTo>
                    <a:pt x="3584924" y="5604773"/>
                  </a:lnTo>
                  <a:lnTo>
                    <a:pt x="3580590" y="5606568"/>
                  </a:lnTo>
                  <a:lnTo>
                    <a:pt x="3576123" y="5607917"/>
                  </a:lnTo>
                  <a:lnTo>
                    <a:pt x="3571523" y="5608838"/>
                  </a:lnTo>
                  <a:lnTo>
                    <a:pt x="3566922" y="5609759"/>
                  </a:lnTo>
                  <a:lnTo>
                    <a:pt x="3562277" y="5610215"/>
                  </a:lnTo>
                  <a:lnTo>
                    <a:pt x="3557587" y="5610224"/>
                  </a:lnTo>
                  <a:lnTo>
                    <a:pt x="71437" y="5610224"/>
                  </a:lnTo>
                  <a:lnTo>
                    <a:pt x="31748" y="5598160"/>
                  </a:lnTo>
                  <a:lnTo>
                    <a:pt x="27848" y="5595556"/>
                  </a:lnTo>
                  <a:lnTo>
                    <a:pt x="12039" y="5578458"/>
                  </a:lnTo>
                  <a:lnTo>
                    <a:pt x="9433" y="5574562"/>
                  </a:lnTo>
                  <a:lnTo>
                    <a:pt x="0" y="5543465"/>
                  </a:lnTo>
                  <a:lnTo>
                    <a:pt x="0" y="5538787"/>
                  </a:lnTo>
                  <a:close/>
                </a:path>
              </a:pathLst>
            </a:custGeom>
            <a:ln w="9524">
              <a:solidFill>
                <a:srgbClr val="B8D8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476749" y="1171570"/>
              <a:ext cx="342900" cy="190500"/>
            </a:xfrm>
            <a:custGeom>
              <a:avLst/>
              <a:gdLst/>
              <a:ahLst/>
              <a:cxnLst/>
              <a:rect l="l" t="t" r="r" b="b"/>
              <a:pathLst>
                <a:path w="342900" h="190500">
                  <a:moveTo>
                    <a:pt x="318114" y="190490"/>
                  </a:moveTo>
                  <a:lnTo>
                    <a:pt x="24785" y="190490"/>
                  </a:lnTo>
                  <a:lnTo>
                    <a:pt x="21140" y="189765"/>
                  </a:lnTo>
                  <a:lnTo>
                    <a:pt x="0" y="165701"/>
                  </a:lnTo>
                  <a:lnTo>
                    <a:pt x="0" y="161924"/>
                  </a:lnTo>
                  <a:lnTo>
                    <a:pt x="0" y="24770"/>
                  </a:lnTo>
                  <a:lnTo>
                    <a:pt x="24785" y="0"/>
                  </a:lnTo>
                  <a:lnTo>
                    <a:pt x="318114" y="0"/>
                  </a:lnTo>
                  <a:lnTo>
                    <a:pt x="342899" y="24770"/>
                  </a:lnTo>
                  <a:lnTo>
                    <a:pt x="342899" y="165701"/>
                  </a:lnTo>
                  <a:lnTo>
                    <a:pt x="321759" y="189765"/>
                  </a:lnTo>
                  <a:lnTo>
                    <a:pt x="318114" y="190490"/>
                  </a:lnTo>
                  <a:close/>
                </a:path>
              </a:pathLst>
            </a:custGeom>
            <a:solidFill>
              <a:srgbClr val="2D6A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536975" y="1183354"/>
            <a:ext cx="21844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14" b="1">
                <a:solidFill>
                  <a:srgbClr val="FFFFFF"/>
                </a:solidFill>
                <a:latin typeface="맑은 고딕"/>
                <a:cs typeface="맑은 고딕"/>
              </a:rPr>
              <a:t>중기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01306" y="1148588"/>
            <a:ext cx="11938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다중</a:t>
            </a:r>
            <a:r>
              <a:rPr dirty="0" sz="1350" spc="-135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공정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130" b="1">
                <a:solidFill>
                  <a:srgbClr val="1A1A1A"/>
                </a:solidFill>
                <a:latin typeface="Noto Sans KR"/>
                <a:cs typeface="Noto Sans KR"/>
              </a:rPr>
              <a:t>DT</a:t>
            </a:r>
            <a:r>
              <a:rPr dirty="0" sz="1350" spc="3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85" b="1">
                <a:solidFill>
                  <a:srgbClr val="1A1A1A"/>
                </a:solidFill>
                <a:latin typeface="맑은 고딕"/>
                <a:cs typeface="맑은 고딕"/>
              </a:rPr>
              <a:t>확장</a:t>
            </a:r>
            <a:endParaRPr sz="1350">
              <a:latin typeface="맑은 고딕"/>
              <a:cs typeface="맑은 고딕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4438637" y="1562099"/>
            <a:ext cx="47625" cy="752475"/>
          </a:xfrm>
          <a:custGeom>
            <a:avLst/>
            <a:gdLst/>
            <a:ahLst/>
            <a:cxnLst/>
            <a:rect l="l" t="t" r="r" b="b"/>
            <a:pathLst>
              <a:path w="47625" h="752475">
                <a:moveTo>
                  <a:pt x="47625" y="725500"/>
                </a:moveTo>
                <a:lnTo>
                  <a:pt x="26974" y="704850"/>
                </a:lnTo>
                <a:lnTo>
                  <a:pt x="20662" y="704850"/>
                </a:lnTo>
                <a:lnTo>
                  <a:pt x="0" y="725500"/>
                </a:lnTo>
                <a:lnTo>
                  <a:pt x="0" y="731812"/>
                </a:lnTo>
                <a:lnTo>
                  <a:pt x="20662" y="752462"/>
                </a:lnTo>
                <a:lnTo>
                  <a:pt x="26974" y="752462"/>
                </a:lnTo>
                <a:lnTo>
                  <a:pt x="47625" y="731812"/>
                </a:lnTo>
                <a:lnTo>
                  <a:pt x="47625" y="728662"/>
                </a:lnTo>
                <a:lnTo>
                  <a:pt x="47625" y="725500"/>
                </a:lnTo>
                <a:close/>
              </a:path>
              <a:path w="47625" h="752475">
                <a:moveTo>
                  <a:pt x="47625" y="487362"/>
                </a:moveTo>
                <a:lnTo>
                  <a:pt x="26974" y="466725"/>
                </a:lnTo>
                <a:lnTo>
                  <a:pt x="20662" y="466725"/>
                </a:lnTo>
                <a:lnTo>
                  <a:pt x="0" y="487362"/>
                </a:lnTo>
                <a:lnTo>
                  <a:pt x="0" y="493687"/>
                </a:lnTo>
                <a:lnTo>
                  <a:pt x="20662" y="514337"/>
                </a:lnTo>
                <a:lnTo>
                  <a:pt x="26974" y="514337"/>
                </a:lnTo>
                <a:lnTo>
                  <a:pt x="47625" y="493687"/>
                </a:lnTo>
                <a:lnTo>
                  <a:pt x="47625" y="490537"/>
                </a:lnTo>
                <a:lnTo>
                  <a:pt x="47625" y="487362"/>
                </a:lnTo>
                <a:close/>
              </a:path>
              <a:path w="47625" h="752475">
                <a:moveTo>
                  <a:pt x="47625" y="258775"/>
                </a:moveTo>
                <a:lnTo>
                  <a:pt x="26974" y="238125"/>
                </a:lnTo>
                <a:lnTo>
                  <a:pt x="20662" y="238125"/>
                </a:lnTo>
                <a:lnTo>
                  <a:pt x="0" y="258775"/>
                </a:lnTo>
                <a:lnTo>
                  <a:pt x="0" y="265087"/>
                </a:lnTo>
                <a:lnTo>
                  <a:pt x="20662" y="285737"/>
                </a:lnTo>
                <a:lnTo>
                  <a:pt x="26974" y="285737"/>
                </a:lnTo>
                <a:lnTo>
                  <a:pt x="47625" y="265087"/>
                </a:lnTo>
                <a:lnTo>
                  <a:pt x="47625" y="261937"/>
                </a:lnTo>
                <a:lnTo>
                  <a:pt x="47625" y="258775"/>
                </a:lnTo>
                <a:close/>
              </a:path>
              <a:path w="47625" h="752475">
                <a:moveTo>
                  <a:pt x="47625" y="20637"/>
                </a:moveTo>
                <a:lnTo>
                  <a:pt x="26974" y="0"/>
                </a:lnTo>
                <a:lnTo>
                  <a:pt x="20662" y="0"/>
                </a:lnTo>
                <a:lnTo>
                  <a:pt x="0" y="20637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37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584600" y="1415459"/>
            <a:ext cx="1644650" cy="968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9200"/>
              </a:lnSpc>
              <a:spcBef>
                <a:spcPts val="135"/>
              </a:spcBef>
            </a:pP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현재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195">
                <a:solidFill>
                  <a:srgbClr val="444444"/>
                </a:solidFill>
                <a:latin typeface="Noto Sans KR"/>
                <a:cs typeface="Noto Sans KR"/>
              </a:rPr>
              <a:t>6</a:t>
            </a:r>
            <a:r>
              <a:rPr dirty="0" sz="1100" spc="195">
                <a:solidFill>
                  <a:srgbClr val="444444"/>
                </a:solidFill>
                <a:latin typeface="휴먼아미체"/>
                <a:cs typeface="휴먼아미체"/>
              </a:rPr>
              <a:t>공정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4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실제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반도체</a:t>
            </a:r>
            <a:r>
              <a:rPr dirty="0" sz="1100" spc="-16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04">
                <a:solidFill>
                  <a:srgbClr val="444444"/>
                </a:solidFill>
                <a:latin typeface="휴먼아미체"/>
                <a:cs typeface="휴먼아미체"/>
              </a:rPr>
              <a:t>라인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다품종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긴급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로트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동시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35">
                <a:solidFill>
                  <a:srgbClr val="444444"/>
                </a:solidFill>
                <a:latin typeface="휴먼아미체"/>
                <a:cs typeface="휴먼아미체"/>
              </a:rPr>
              <a:t>처리 </a:t>
            </a:r>
            <a:r>
              <a:rPr dirty="0" sz="1100" spc="-85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100" spc="3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생성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35">
                <a:solidFill>
                  <a:srgbClr val="444444"/>
                </a:solidFill>
                <a:latin typeface="휴먼아미체"/>
                <a:cs typeface="휴먼아미체"/>
              </a:rPr>
              <a:t>다변화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검증</a:t>
            </a:r>
            <a:endParaRPr sz="110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타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공정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35">
                <a:solidFill>
                  <a:srgbClr val="444444"/>
                </a:solidFill>
                <a:latin typeface="휴먼아미체"/>
                <a:cs typeface="휴먼아미체"/>
              </a:rPr>
              <a:t>일반화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444444"/>
                </a:solidFill>
                <a:latin typeface="휴먼아미체"/>
                <a:cs typeface="휴먼아미체"/>
              </a:rPr>
              <a:t>가능성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444444"/>
                </a:solidFill>
                <a:latin typeface="휴먼아미체"/>
                <a:cs typeface="휴먼아미체"/>
              </a:rPr>
              <a:t>확인</a:t>
            </a:r>
            <a:endParaRPr sz="1100">
              <a:latin typeface="휴먼아미체"/>
              <a:cs typeface="휴먼아미체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048623" y="990595"/>
            <a:ext cx="3648075" cy="5619750"/>
            <a:chOff x="8048623" y="990595"/>
            <a:chExt cx="3648075" cy="5619750"/>
          </a:xfrm>
        </p:grpSpPr>
        <p:sp>
          <p:nvSpPr>
            <p:cNvPr id="22" name="object 22" descr=""/>
            <p:cNvSpPr/>
            <p:nvPr/>
          </p:nvSpPr>
          <p:spPr>
            <a:xfrm>
              <a:off x="8053385" y="995358"/>
              <a:ext cx="3638550" cy="5610225"/>
            </a:xfrm>
            <a:custGeom>
              <a:avLst/>
              <a:gdLst/>
              <a:ahLst/>
              <a:cxnLst/>
              <a:rect l="l" t="t" r="r" b="b"/>
              <a:pathLst>
                <a:path w="3638550" h="5610225">
                  <a:moveTo>
                    <a:pt x="3571802" y="5610215"/>
                  </a:moveTo>
                  <a:lnTo>
                    <a:pt x="66747" y="5610215"/>
                  </a:lnTo>
                  <a:lnTo>
                    <a:pt x="62100" y="5609759"/>
                  </a:lnTo>
                  <a:lnTo>
                    <a:pt x="24240" y="5592597"/>
                  </a:lnTo>
                  <a:lnTo>
                    <a:pt x="2287" y="5557306"/>
                  </a:lnTo>
                  <a:lnTo>
                    <a:pt x="0" y="5543465"/>
                  </a:lnTo>
                  <a:lnTo>
                    <a:pt x="0" y="5538787"/>
                  </a:lnTo>
                  <a:lnTo>
                    <a:pt x="0" y="66739"/>
                  </a:lnTo>
                  <a:lnTo>
                    <a:pt x="14645" y="27831"/>
                  </a:lnTo>
                  <a:lnTo>
                    <a:pt x="48433" y="3628"/>
                  </a:lnTo>
                  <a:lnTo>
                    <a:pt x="66747" y="0"/>
                  </a:lnTo>
                  <a:lnTo>
                    <a:pt x="3571802" y="0"/>
                  </a:lnTo>
                  <a:lnTo>
                    <a:pt x="3610699" y="14631"/>
                  </a:lnTo>
                  <a:lnTo>
                    <a:pt x="3634906" y="48415"/>
                  </a:lnTo>
                  <a:lnTo>
                    <a:pt x="3638549" y="66739"/>
                  </a:lnTo>
                  <a:lnTo>
                    <a:pt x="3638549" y="5543465"/>
                  </a:lnTo>
                  <a:lnTo>
                    <a:pt x="3623904" y="5582356"/>
                  </a:lnTo>
                  <a:lnTo>
                    <a:pt x="3590116" y="5606568"/>
                  </a:lnTo>
                  <a:lnTo>
                    <a:pt x="3576447" y="5609759"/>
                  </a:lnTo>
                  <a:lnTo>
                    <a:pt x="3571802" y="5610215"/>
                  </a:lnTo>
                  <a:close/>
                </a:path>
              </a:pathLst>
            </a:custGeom>
            <a:solidFill>
              <a:srgbClr val="FDF0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053385" y="995358"/>
              <a:ext cx="3638550" cy="5610225"/>
            </a:xfrm>
            <a:custGeom>
              <a:avLst/>
              <a:gdLst/>
              <a:ahLst/>
              <a:cxnLst/>
              <a:rect l="l" t="t" r="r" b="b"/>
              <a:pathLst>
                <a:path w="3638550" h="5610225">
                  <a:moveTo>
                    <a:pt x="0" y="5538787"/>
                  </a:moveTo>
                  <a:lnTo>
                    <a:pt x="0" y="71437"/>
                  </a:lnTo>
                  <a:lnTo>
                    <a:pt x="0" y="66739"/>
                  </a:lnTo>
                  <a:lnTo>
                    <a:pt x="457" y="62098"/>
                  </a:lnTo>
                  <a:lnTo>
                    <a:pt x="1372" y="57493"/>
                  </a:lnTo>
                  <a:lnTo>
                    <a:pt x="2287" y="52889"/>
                  </a:lnTo>
                  <a:lnTo>
                    <a:pt x="3642" y="48415"/>
                  </a:lnTo>
                  <a:lnTo>
                    <a:pt x="5438" y="44080"/>
                  </a:lnTo>
                  <a:lnTo>
                    <a:pt x="7232" y="39746"/>
                  </a:lnTo>
                  <a:lnTo>
                    <a:pt x="9433" y="35625"/>
                  </a:lnTo>
                  <a:lnTo>
                    <a:pt x="12039" y="31728"/>
                  </a:lnTo>
                  <a:lnTo>
                    <a:pt x="14645" y="27831"/>
                  </a:lnTo>
                  <a:lnTo>
                    <a:pt x="17607" y="24222"/>
                  </a:lnTo>
                  <a:lnTo>
                    <a:pt x="20923" y="20910"/>
                  </a:lnTo>
                  <a:lnTo>
                    <a:pt x="24240" y="17589"/>
                  </a:lnTo>
                  <a:lnTo>
                    <a:pt x="27848" y="14631"/>
                  </a:lnTo>
                  <a:lnTo>
                    <a:pt x="31748" y="12027"/>
                  </a:lnTo>
                  <a:lnTo>
                    <a:pt x="35648" y="9413"/>
                  </a:lnTo>
                  <a:lnTo>
                    <a:pt x="39765" y="7218"/>
                  </a:lnTo>
                  <a:lnTo>
                    <a:pt x="44099" y="5422"/>
                  </a:lnTo>
                  <a:lnTo>
                    <a:pt x="48433" y="3628"/>
                  </a:lnTo>
                  <a:lnTo>
                    <a:pt x="52900" y="2279"/>
                  </a:lnTo>
                  <a:lnTo>
                    <a:pt x="57500" y="1367"/>
                  </a:lnTo>
                  <a:lnTo>
                    <a:pt x="62100" y="456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567112" y="0"/>
                  </a:lnTo>
                  <a:lnTo>
                    <a:pt x="3571802" y="0"/>
                  </a:lnTo>
                  <a:lnTo>
                    <a:pt x="3576447" y="456"/>
                  </a:lnTo>
                  <a:lnTo>
                    <a:pt x="3581047" y="1367"/>
                  </a:lnTo>
                  <a:lnTo>
                    <a:pt x="3585648" y="2279"/>
                  </a:lnTo>
                  <a:lnTo>
                    <a:pt x="3617625" y="20910"/>
                  </a:lnTo>
                  <a:lnTo>
                    <a:pt x="3620943" y="24222"/>
                  </a:lnTo>
                  <a:lnTo>
                    <a:pt x="3623904" y="27831"/>
                  </a:lnTo>
                  <a:lnTo>
                    <a:pt x="3626510" y="31728"/>
                  </a:lnTo>
                  <a:lnTo>
                    <a:pt x="3629115" y="35625"/>
                  </a:lnTo>
                  <a:lnTo>
                    <a:pt x="3637177" y="57485"/>
                  </a:lnTo>
                  <a:lnTo>
                    <a:pt x="3638092" y="62089"/>
                  </a:lnTo>
                  <a:lnTo>
                    <a:pt x="3638549" y="66739"/>
                  </a:lnTo>
                  <a:lnTo>
                    <a:pt x="3638550" y="71437"/>
                  </a:lnTo>
                  <a:lnTo>
                    <a:pt x="3638550" y="5538787"/>
                  </a:lnTo>
                  <a:lnTo>
                    <a:pt x="3638549" y="5543465"/>
                  </a:lnTo>
                  <a:lnTo>
                    <a:pt x="3638092" y="5548107"/>
                  </a:lnTo>
                  <a:lnTo>
                    <a:pt x="3637177" y="5552702"/>
                  </a:lnTo>
                  <a:lnTo>
                    <a:pt x="3636262" y="5557297"/>
                  </a:lnTo>
                  <a:lnTo>
                    <a:pt x="3626510" y="5578450"/>
                  </a:lnTo>
                  <a:lnTo>
                    <a:pt x="3623904" y="5582356"/>
                  </a:lnTo>
                  <a:lnTo>
                    <a:pt x="3606799" y="5598160"/>
                  </a:lnTo>
                  <a:lnTo>
                    <a:pt x="3602900" y="5600773"/>
                  </a:lnTo>
                  <a:lnTo>
                    <a:pt x="3598782" y="5602978"/>
                  </a:lnTo>
                  <a:lnTo>
                    <a:pt x="3594449" y="5604773"/>
                  </a:lnTo>
                  <a:lnTo>
                    <a:pt x="3590116" y="5606568"/>
                  </a:lnTo>
                  <a:lnTo>
                    <a:pt x="3585648" y="5607917"/>
                  </a:lnTo>
                  <a:lnTo>
                    <a:pt x="3581047" y="5608838"/>
                  </a:lnTo>
                  <a:lnTo>
                    <a:pt x="3576447" y="5609759"/>
                  </a:lnTo>
                  <a:lnTo>
                    <a:pt x="3571802" y="5610215"/>
                  </a:lnTo>
                  <a:lnTo>
                    <a:pt x="3567112" y="5610224"/>
                  </a:lnTo>
                  <a:lnTo>
                    <a:pt x="71438" y="5610224"/>
                  </a:lnTo>
                  <a:lnTo>
                    <a:pt x="66747" y="5610215"/>
                  </a:lnTo>
                  <a:lnTo>
                    <a:pt x="62100" y="5609759"/>
                  </a:lnTo>
                  <a:lnTo>
                    <a:pt x="57500" y="5608838"/>
                  </a:lnTo>
                  <a:lnTo>
                    <a:pt x="52900" y="5607917"/>
                  </a:lnTo>
                  <a:lnTo>
                    <a:pt x="31748" y="5598160"/>
                  </a:lnTo>
                  <a:lnTo>
                    <a:pt x="27848" y="5595556"/>
                  </a:lnTo>
                  <a:lnTo>
                    <a:pt x="12039" y="5578458"/>
                  </a:lnTo>
                  <a:lnTo>
                    <a:pt x="9433" y="5574562"/>
                  </a:lnTo>
                  <a:lnTo>
                    <a:pt x="7232" y="5570440"/>
                  </a:lnTo>
                  <a:lnTo>
                    <a:pt x="5438" y="5566106"/>
                  </a:lnTo>
                  <a:lnTo>
                    <a:pt x="3642" y="5561771"/>
                  </a:lnTo>
                  <a:lnTo>
                    <a:pt x="2287" y="5557306"/>
                  </a:lnTo>
                  <a:lnTo>
                    <a:pt x="1372" y="5552711"/>
                  </a:lnTo>
                  <a:lnTo>
                    <a:pt x="457" y="5548107"/>
                  </a:lnTo>
                  <a:lnTo>
                    <a:pt x="0" y="5543465"/>
                  </a:lnTo>
                  <a:lnTo>
                    <a:pt x="0" y="5538787"/>
                  </a:lnTo>
                  <a:close/>
                </a:path>
              </a:pathLst>
            </a:custGeom>
            <a:ln w="9524">
              <a:solidFill>
                <a:srgbClr val="F0C3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248648" y="1171570"/>
              <a:ext cx="352425" cy="190500"/>
            </a:xfrm>
            <a:custGeom>
              <a:avLst/>
              <a:gdLst/>
              <a:ahLst/>
              <a:cxnLst/>
              <a:rect l="l" t="t" r="r" b="b"/>
              <a:pathLst>
                <a:path w="352425" h="190500">
                  <a:moveTo>
                    <a:pt x="327639" y="190490"/>
                  </a:moveTo>
                  <a:lnTo>
                    <a:pt x="24785" y="190490"/>
                  </a:lnTo>
                  <a:lnTo>
                    <a:pt x="21140" y="189765"/>
                  </a:lnTo>
                  <a:lnTo>
                    <a:pt x="0" y="165701"/>
                  </a:lnTo>
                  <a:lnTo>
                    <a:pt x="0" y="161924"/>
                  </a:lnTo>
                  <a:lnTo>
                    <a:pt x="0" y="24770"/>
                  </a:lnTo>
                  <a:lnTo>
                    <a:pt x="24785" y="0"/>
                  </a:lnTo>
                  <a:lnTo>
                    <a:pt x="327639" y="0"/>
                  </a:lnTo>
                  <a:lnTo>
                    <a:pt x="352424" y="24770"/>
                  </a:lnTo>
                  <a:lnTo>
                    <a:pt x="352424" y="165701"/>
                  </a:lnTo>
                  <a:lnTo>
                    <a:pt x="331284" y="189765"/>
                  </a:lnTo>
                  <a:lnTo>
                    <a:pt x="327639" y="190490"/>
                  </a:lnTo>
                  <a:close/>
                </a:path>
              </a:pathLst>
            </a:custGeom>
            <a:solidFill>
              <a:srgbClr val="DF59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8315275" y="1183354"/>
            <a:ext cx="218440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114" b="1">
                <a:solidFill>
                  <a:srgbClr val="FFFFFF"/>
                </a:solidFill>
                <a:latin typeface="맑은 고딕"/>
                <a:cs typeface="맑은 고딕"/>
              </a:rPr>
              <a:t>장기</a:t>
            </a:r>
            <a:endParaRPr sz="900">
              <a:latin typeface="맑은 고딕"/>
              <a:cs typeface="맑은 고딕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679606" y="1148588"/>
            <a:ext cx="13335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실시간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130" b="1">
                <a:solidFill>
                  <a:srgbClr val="1A1A1A"/>
                </a:solidFill>
                <a:latin typeface="Noto Sans KR"/>
                <a:cs typeface="Noto Sans KR"/>
              </a:rPr>
              <a:t>DT</a:t>
            </a:r>
            <a:r>
              <a:rPr dirty="0" sz="1350" spc="35" b="1">
                <a:solidFill>
                  <a:srgbClr val="1A1A1A"/>
                </a:solidFill>
                <a:latin typeface="Noto Sans KR"/>
                <a:cs typeface="Noto Sans KR"/>
              </a:rPr>
              <a:t> </a:t>
            </a:r>
            <a:r>
              <a:rPr dirty="0" sz="1350" spc="-260" b="1">
                <a:solidFill>
                  <a:srgbClr val="1A1A1A"/>
                </a:solidFill>
                <a:latin typeface="맑은 고딕"/>
                <a:cs typeface="맑은 고딕"/>
              </a:rPr>
              <a:t>연계</a:t>
            </a:r>
            <a:r>
              <a:rPr dirty="0" sz="1350" spc="-130" b="1">
                <a:solidFill>
                  <a:srgbClr val="1A1A1A"/>
                </a:solidFill>
                <a:latin typeface="맑은 고딕"/>
                <a:cs typeface="맑은 고딕"/>
              </a:rPr>
              <a:t> </a:t>
            </a:r>
            <a:r>
              <a:rPr dirty="0" sz="1350" spc="-285" b="1">
                <a:solidFill>
                  <a:srgbClr val="1A1A1A"/>
                </a:solidFill>
                <a:latin typeface="맑은 고딕"/>
                <a:cs typeface="맑은 고딕"/>
              </a:rPr>
              <a:t>배포</a:t>
            </a:r>
            <a:endParaRPr sz="1350">
              <a:latin typeface="맑은 고딕"/>
              <a:cs typeface="맑은 고딕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8210537" y="1562099"/>
            <a:ext cx="47625" cy="752475"/>
          </a:xfrm>
          <a:custGeom>
            <a:avLst/>
            <a:gdLst/>
            <a:ahLst/>
            <a:cxnLst/>
            <a:rect l="l" t="t" r="r" b="b"/>
            <a:pathLst>
              <a:path w="47625" h="752475">
                <a:moveTo>
                  <a:pt x="47625" y="725500"/>
                </a:moveTo>
                <a:lnTo>
                  <a:pt x="26974" y="704850"/>
                </a:lnTo>
                <a:lnTo>
                  <a:pt x="20662" y="704850"/>
                </a:lnTo>
                <a:lnTo>
                  <a:pt x="0" y="725500"/>
                </a:lnTo>
                <a:lnTo>
                  <a:pt x="0" y="731812"/>
                </a:lnTo>
                <a:lnTo>
                  <a:pt x="20662" y="752462"/>
                </a:lnTo>
                <a:lnTo>
                  <a:pt x="26974" y="752462"/>
                </a:lnTo>
                <a:lnTo>
                  <a:pt x="47625" y="731812"/>
                </a:lnTo>
                <a:lnTo>
                  <a:pt x="47625" y="728662"/>
                </a:lnTo>
                <a:lnTo>
                  <a:pt x="47625" y="725500"/>
                </a:lnTo>
                <a:close/>
              </a:path>
              <a:path w="47625" h="752475">
                <a:moveTo>
                  <a:pt x="47625" y="487362"/>
                </a:moveTo>
                <a:lnTo>
                  <a:pt x="26974" y="466725"/>
                </a:lnTo>
                <a:lnTo>
                  <a:pt x="20662" y="466725"/>
                </a:lnTo>
                <a:lnTo>
                  <a:pt x="0" y="487362"/>
                </a:lnTo>
                <a:lnTo>
                  <a:pt x="0" y="493687"/>
                </a:lnTo>
                <a:lnTo>
                  <a:pt x="20662" y="514337"/>
                </a:lnTo>
                <a:lnTo>
                  <a:pt x="26974" y="514337"/>
                </a:lnTo>
                <a:lnTo>
                  <a:pt x="47625" y="493687"/>
                </a:lnTo>
                <a:lnTo>
                  <a:pt x="47625" y="490537"/>
                </a:lnTo>
                <a:lnTo>
                  <a:pt x="47625" y="487362"/>
                </a:lnTo>
                <a:close/>
              </a:path>
              <a:path w="47625" h="752475">
                <a:moveTo>
                  <a:pt x="47625" y="258775"/>
                </a:moveTo>
                <a:lnTo>
                  <a:pt x="26974" y="238125"/>
                </a:lnTo>
                <a:lnTo>
                  <a:pt x="20662" y="238125"/>
                </a:lnTo>
                <a:lnTo>
                  <a:pt x="0" y="258775"/>
                </a:lnTo>
                <a:lnTo>
                  <a:pt x="0" y="265087"/>
                </a:lnTo>
                <a:lnTo>
                  <a:pt x="20662" y="285737"/>
                </a:lnTo>
                <a:lnTo>
                  <a:pt x="26974" y="285737"/>
                </a:lnTo>
                <a:lnTo>
                  <a:pt x="47625" y="265087"/>
                </a:lnTo>
                <a:lnTo>
                  <a:pt x="47625" y="261937"/>
                </a:lnTo>
                <a:lnTo>
                  <a:pt x="47625" y="258775"/>
                </a:lnTo>
                <a:close/>
              </a:path>
              <a:path w="47625" h="752475">
                <a:moveTo>
                  <a:pt x="47625" y="20637"/>
                </a:moveTo>
                <a:lnTo>
                  <a:pt x="26974" y="0"/>
                </a:lnTo>
                <a:lnTo>
                  <a:pt x="20662" y="0"/>
                </a:lnTo>
                <a:lnTo>
                  <a:pt x="0" y="20637"/>
                </a:lnTo>
                <a:lnTo>
                  <a:pt x="0" y="26962"/>
                </a:lnTo>
                <a:lnTo>
                  <a:pt x="20662" y="47612"/>
                </a:lnTo>
                <a:lnTo>
                  <a:pt x="26974" y="47612"/>
                </a:lnTo>
                <a:lnTo>
                  <a:pt x="47625" y="26962"/>
                </a:lnTo>
                <a:lnTo>
                  <a:pt x="47625" y="23812"/>
                </a:lnTo>
                <a:lnTo>
                  <a:pt x="47625" y="20637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8362900" y="1415459"/>
            <a:ext cx="1659889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2000"/>
              </a:lnSpc>
              <a:spcBef>
                <a:spcPts val="100"/>
              </a:spcBef>
            </a:pPr>
            <a:r>
              <a:rPr dirty="0" sz="1100" spc="315">
                <a:solidFill>
                  <a:srgbClr val="444444"/>
                </a:solidFill>
                <a:latin typeface="휴먼아미체"/>
                <a:cs typeface="휴먼아미체"/>
              </a:rPr>
              <a:t>오프라인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DT</a:t>
            </a:r>
            <a:r>
              <a:rPr dirty="0" sz="1100" spc="4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>
                <a:solidFill>
                  <a:srgbClr val="444444"/>
                </a:solidFill>
                <a:latin typeface="Cambria"/>
                <a:cs typeface="Cambria"/>
              </a:rPr>
              <a:t>→</a:t>
            </a:r>
            <a:r>
              <a:rPr dirty="0" sz="1100" spc="45">
                <a:solidFill>
                  <a:srgbClr val="444444"/>
                </a:solidFill>
                <a:latin typeface="Cambria"/>
                <a:cs typeface="Cambria"/>
              </a:rPr>
              <a:t> </a:t>
            </a:r>
            <a:r>
              <a:rPr dirty="0" sz="1100" spc="250">
                <a:solidFill>
                  <a:srgbClr val="444444"/>
                </a:solidFill>
                <a:latin typeface="휴먼아미체"/>
                <a:cs typeface="휴먼아미체"/>
              </a:rPr>
              <a:t>실시간</a:t>
            </a:r>
            <a:r>
              <a:rPr dirty="0" sz="1100" spc="-16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100">
                <a:solidFill>
                  <a:srgbClr val="444444"/>
                </a:solidFill>
                <a:latin typeface="Noto Sans KR"/>
                <a:cs typeface="Noto Sans KR"/>
              </a:rPr>
              <a:t>DT</a:t>
            </a:r>
            <a:r>
              <a:rPr dirty="0" sz="1100" spc="40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연동 </a:t>
            </a:r>
            <a:r>
              <a:rPr dirty="0" sz="1100" spc="-85">
                <a:solidFill>
                  <a:srgbClr val="444444"/>
                </a:solidFill>
                <a:latin typeface="Noto Sans KR"/>
                <a:cs typeface="Noto Sans KR"/>
              </a:rPr>
              <a:t>LLM</a:t>
            </a:r>
            <a:r>
              <a:rPr dirty="0" sz="1100" spc="3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추론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444444"/>
                </a:solidFill>
                <a:latin typeface="휴먼아미체"/>
                <a:cs typeface="휴먼아미체"/>
              </a:rPr>
              <a:t>지연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25">
                <a:solidFill>
                  <a:srgbClr val="444444"/>
                </a:solidFill>
                <a:latin typeface="휴먼아미체"/>
                <a:cs typeface="휴먼아미체"/>
              </a:rPr>
              <a:t>최적화</a:t>
            </a:r>
            <a:endParaRPr sz="1100">
              <a:latin typeface="휴먼아미체"/>
              <a:cs typeface="휴먼아미체"/>
            </a:endParaRPr>
          </a:p>
          <a:p>
            <a:pPr marL="12700" marR="201295">
              <a:lnSpc>
                <a:spcPts val="1880"/>
              </a:lnSpc>
              <a:spcBef>
                <a:spcPts val="15"/>
              </a:spcBef>
            </a:pP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산업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인증</a:t>
            </a:r>
            <a:r>
              <a:rPr dirty="0" sz="1100" spc="-18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-55">
                <a:solidFill>
                  <a:srgbClr val="444444"/>
                </a:solidFill>
                <a:latin typeface="Arial"/>
                <a:cs typeface="Arial"/>
              </a:rPr>
              <a:t>(</a:t>
            </a:r>
            <a:r>
              <a:rPr dirty="0" sz="1100" spc="-55">
                <a:solidFill>
                  <a:srgbClr val="444444"/>
                </a:solidFill>
                <a:latin typeface="Noto Sans KR"/>
                <a:cs typeface="Noto Sans KR"/>
              </a:rPr>
              <a:t>IEC</a:t>
            </a:r>
            <a:r>
              <a:rPr dirty="0" sz="1100" spc="25">
                <a:solidFill>
                  <a:srgbClr val="444444"/>
                </a:solidFill>
                <a:latin typeface="Noto Sans KR"/>
                <a:cs typeface="Noto Sans KR"/>
              </a:rPr>
              <a:t> </a:t>
            </a:r>
            <a:r>
              <a:rPr dirty="0" sz="1100" spc="-65">
                <a:solidFill>
                  <a:srgbClr val="444444"/>
                </a:solidFill>
                <a:latin typeface="Noto Sans KR"/>
                <a:cs typeface="Noto Sans KR"/>
              </a:rPr>
              <a:t>61508</a:t>
            </a:r>
            <a:r>
              <a:rPr dirty="0" sz="1100" spc="-65">
                <a:solidFill>
                  <a:srgbClr val="444444"/>
                </a:solidFill>
                <a:latin typeface="Arial"/>
                <a:cs typeface="Arial"/>
              </a:rPr>
              <a:t>)</a:t>
            </a:r>
            <a:r>
              <a:rPr dirty="0" sz="110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245">
                <a:solidFill>
                  <a:srgbClr val="444444"/>
                </a:solidFill>
                <a:latin typeface="휴먼아미체"/>
                <a:cs typeface="휴먼아미체"/>
              </a:rPr>
              <a:t>대응 </a:t>
            </a:r>
            <a:r>
              <a:rPr dirty="0" sz="1100" spc="330">
                <a:solidFill>
                  <a:srgbClr val="444444"/>
                </a:solidFill>
                <a:latin typeface="휴먼아미체"/>
                <a:cs typeface="휴먼아미체"/>
              </a:rPr>
              <a:t>졸업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85">
                <a:solidFill>
                  <a:srgbClr val="444444"/>
                </a:solidFill>
                <a:latin typeface="휴먼아미체"/>
                <a:cs typeface="휴먼아미체"/>
              </a:rPr>
              <a:t>논문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444444"/>
                </a:solidFill>
                <a:latin typeface="휴먼아미체"/>
                <a:cs typeface="휴먼아미체"/>
              </a:rPr>
              <a:t>연계</a:t>
            </a:r>
            <a:r>
              <a:rPr dirty="0" sz="1100" spc="-175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444444"/>
                </a:solidFill>
                <a:latin typeface="휴먼아미체"/>
                <a:cs typeface="휴먼아미체"/>
              </a:rPr>
              <a:t>심화</a:t>
            </a:r>
            <a:r>
              <a:rPr dirty="0" sz="1100" spc="-170">
                <a:solidFill>
                  <a:srgbClr val="444444"/>
                </a:solidFill>
                <a:latin typeface="휴먼아미체"/>
                <a:cs typeface="휴먼아미체"/>
              </a:rPr>
              <a:t> </a:t>
            </a:r>
            <a:r>
              <a:rPr dirty="0" sz="1100" spc="305">
                <a:solidFill>
                  <a:srgbClr val="444444"/>
                </a:solidFill>
                <a:latin typeface="휴먼아미체"/>
                <a:cs typeface="휴먼아미체"/>
              </a:rPr>
              <a:t>연구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0" y="6819895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762623" y="2333620"/>
            <a:ext cx="666750" cy="200025"/>
          </a:xfrm>
          <a:custGeom>
            <a:avLst/>
            <a:gdLst/>
            <a:ahLst/>
            <a:cxnLst/>
            <a:rect l="l" t="t" r="r" b="b"/>
            <a:pathLst>
              <a:path w="666750" h="200025">
                <a:moveTo>
                  <a:pt x="633702" y="200024"/>
                </a:moveTo>
                <a:lnTo>
                  <a:pt x="33047" y="200024"/>
                </a:lnTo>
                <a:lnTo>
                  <a:pt x="28187" y="199057"/>
                </a:lnTo>
                <a:lnTo>
                  <a:pt x="966" y="171822"/>
                </a:lnTo>
                <a:lnTo>
                  <a:pt x="0" y="166966"/>
                </a:lnTo>
                <a:lnTo>
                  <a:pt x="0" y="161924"/>
                </a:lnTo>
                <a:lnTo>
                  <a:pt x="0" y="33040"/>
                </a:lnTo>
                <a:lnTo>
                  <a:pt x="28187" y="967"/>
                </a:lnTo>
                <a:lnTo>
                  <a:pt x="33047" y="0"/>
                </a:lnTo>
                <a:lnTo>
                  <a:pt x="633702" y="0"/>
                </a:lnTo>
                <a:lnTo>
                  <a:pt x="665783" y="28174"/>
                </a:lnTo>
                <a:lnTo>
                  <a:pt x="666749" y="33040"/>
                </a:lnTo>
                <a:lnTo>
                  <a:pt x="666749" y="166966"/>
                </a:lnTo>
                <a:lnTo>
                  <a:pt x="638562" y="199057"/>
                </a:lnTo>
                <a:lnTo>
                  <a:pt x="633702" y="200024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43091" y="2354357"/>
            <a:ext cx="499109" cy="1568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50" spc="-10" b="1">
                <a:solidFill>
                  <a:srgbClr val="FFFFFF"/>
                </a:solidFill>
                <a:latin typeface="Noto Sans KR"/>
                <a:cs typeface="Noto Sans KR"/>
              </a:rPr>
              <a:t>HICSS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850" spc="-25" b="1">
                <a:solidFill>
                  <a:srgbClr val="FFFFFF"/>
                </a:solidFill>
                <a:latin typeface="Noto Sans KR"/>
                <a:cs typeface="Noto Sans KR"/>
              </a:rPr>
              <a:t>60</a:t>
            </a:r>
            <a:endParaRPr sz="850">
              <a:latin typeface="Noto Sans KR"/>
              <a:cs typeface="Noto Sans KR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031531" y="2345156"/>
            <a:ext cx="2128520" cy="1274445"/>
          </a:xfrm>
          <a:prstGeom prst="rect"/>
        </p:spPr>
        <p:txBody>
          <a:bodyPr wrap="square" lIns="0" tIns="3314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10"/>
              </a:spcBef>
            </a:pPr>
            <a:r>
              <a:rPr dirty="0" sz="4050" spc="-459" b="1">
                <a:solidFill>
                  <a:srgbClr val="FFFFFF"/>
                </a:solidFill>
                <a:latin typeface="Noto Sans KR Black"/>
                <a:cs typeface="Noto Sans KR Black"/>
              </a:rPr>
              <a:t>감사합니다</a:t>
            </a:r>
            <a:endParaRPr sz="4050">
              <a:latin typeface="Noto Sans KR Black"/>
              <a:cs typeface="Noto Sans KR Black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350" spc="-90" b="0">
                <a:solidFill>
                  <a:srgbClr val="666666"/>
                </a:solidFill>
                <a:latin typeface="Noto Sans KR"/>
                <a:cs typeface="Noto Sans KR"/>
              </a:rPr>
              <a:t>Questions</a:t>
            </a:r>
            <a:r>
              <a:rPr dirty="0" sz="1350" spc="15" b="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1350" b="0">
                <a:solidFill>
                  <a:srgbClr val="666666"/>
                </a:solidFill>
                <a:latin typeface="Noto Sans KR"/>
                <a:cs typeface="Noto Sans KR"/>
              </a:rPr>
              <a:t>&amp;</a:t>
            </a:r>
            <a:r>
              <a:rPr dirty="0" sz="1350" spc="-5" b="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1350" spc="-10" b="0">
                <a:solidFill>
                  <a:srgbClr val="666666"/>
                </a:solidFill>
                <a:latin typeface="Noto Sans KR"/>
                <a:cs typeface="Noto Sans KR"/>
              </a:rPr>
              <a:t>Discussion</a:t>
            </a:r>
            <a:endParaRPr sz="1350">
              <a:latin typeface="Noto Sans KR"/>
              <a:cs typeface="Noto Sans KR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34953" y="3842638"/>
            <a:ext cx="1015365" cy="777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4780"/>
              </a:lnSpc>
              <a:spcBef>
                <a:spcPts val="114"/>
              </a:spcBef>
            </a:pPr>
            <a:r>
              <a:rPr dirty="0" sz="4050" spc="-390" b="1">
                <a:solidFill>
                  <a:srgbClr val="DF592A"/>
                </a:solidFill>
                <a:latin typeface="Noto Sans KR Black"/>
                <a:cs typeface="Noto Sans KR Black"/>
              </a:rPr>
              <a:t>60%</a:t>
            </a:r>
            <a:endParaRPr sz="4050">
              <a:latin typeface="Noto Sans KR Black"/>
              <a:cs typeface="Noto Sans KR Black"/>
            </a:endParaRPr>
          </a:p>
          <a:p>
            <a:pPr algn="ctr" marR="1270">
              <a:lnSpc>
                <a:spcPts val="1120"/>
              </a:lnSpc>
            </a:pPr>
            <a:r>
              <a:rPr dirty="0" sz="1000" spc="55">
                <a:solidFill>
                  <a:srgbClr val="545454"/>
                </a:solidFill>
                <a:latin typeface="Cambria"/>
                <a:cs typeface="Cambria"/>
              </a:rPr>
              <a:t>→</a:t>
            </a:r>
            <a:r>
              <a:rPr dirty="0" sz="1000" spc="25">
                <a:solidFill>
                  <a:srgbClr val="545454"/>
                </a:solidFill>
                <a:latin typeface="Cambria"/>
                <a:cs typeface="Cambria"/>
              </a:rPr>
              <a:t> </a:t>
            </a:r>
            <a:r>
              <a:rPr dirty="0" sz="1000" spc="-65">
                <a:solidFill>
                  <a:srgbClr val="545454"/>
                </a:solidFill>
                <a:latin typeface="Noto Sans KR"/>
                <a:cs typeface="Noto Sans KR"/>
              </a:rPr>
              <a:t>0%</a:t>
            </a:r>
            <a:r>
              <a:rPr dirty="0" sz="1000" spc="20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000" spc="229">
                <a:solidFill>
                  <a:srgbClr val="545454"/>
                </a:solidFill>
                <a:latin typeface="휴먼아미체"/>
                <a:cs typeface="휴먼아미체"/>
              </a:rPr>
              <a:t>실패율</a:t>
            </a:r>
            <a:endParaRPr sz="1000">
              <a:latin typeface="휴먼아미체"/>
              <a:cs typeface="휴먼아미체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133974" y="3943345"/>
            <a:ext cx="9525" cy="67627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9524" y="676274"/>
                </a:moveTo>
                <a:lnTo>
                  <a:pt x="0" y="676274"/>
                </a:lnTo>
                <a:lnTo>
                  <a:pt x="0" y="0"/>
                </a:lnTo>
                <a:lnTo>
                  <a:pt x="9524" y="0"/>
                </a:lnTo>
                <a:lnTo>
                  <a:pt x="9524" y="67627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734174" y="3943345"/>
            <a:ext cx="9525" cy="676275"/>
          </a:xfrm>
          <a:custGeom>
            <a:avLst/>
            <a:gdLst/>
            <a:ahLst/>
            <a:cxnLst/>
            <a:rect l="l" t="t" r="r" b="b"/>
            <a:pathLst>
              <a:path w="9525" h="676275">
                <a:moveTo>
                  <a:pt x="9524" y="676274"/>
                </a:moveTo>
                <a:lnTo>
                  <a:pt x="0" y="676274"/>
                </a:lnTo>
                <a:lnTo>
                  <a:pt x="0" y="0"/>
                </a:lnTo>
                <a:lnTo>
                  <a:pt x="9524" y="0"/>
                </a:lnTo>
                <a:lnTo>
                  <a:pt x="9524" y="67627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434408" y="3842638"/>
            <a:ext cx="2922905" cy="777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4780"/>
              </a:lnSpc>
              <a:spcBef>
                <a:spcPts val="114"/>
              </a:spcBef>
              <a:tabLst>
                <a:tab pos="1598930" algn="l"/>
              </a:tabLst>
            </a:pPr>
            <a:r>
              <a:rPr dirty="0" sz="4050" spc="-390" b="1">
                <a:solidFill>
                  <a:srgbClr val="2D6A2D"/>
                </a:solidFill>
                <a:latin typeface="Noto Sans KR Black"/>
                <a:cs typeface="Noto Sans KR Black"/>
              </a:rPr>
              <a:t>73%</a:t>
            </a:r>
            <a:r>
              <a:rPr dirty="0" sz="4050" b="1">
                <a:solidFill>
                  <a:srgbClr val="2D6A2D"/>
                </a:solidFill>
                <a:latin typeface="Noto Sans KR Black"/>
                <a:cs typeface="Noto Sans KR Black"/>
              </a:rPr>
              <a:t>	</a:t>
            </a:r>
            <a:r>
              <a:rPr dirty="0" sz="4050" spc="-265" b="1">
                <a:solidFill>
                  <a:srgbClr val="A0A0FF"/>
                </a:solidFill>
                <a:latin typeface="Noto Sans KR Black"/>
                <a:cs typeface="Noto Sans KR Black"/>
              </a:rPr>
              <a:t>p=</a:t>
            </a:r>
            <a:r>
              <a:rPr dirty="0" sz="4050" spc="-265" b="1">
                <a:solidFill>
                  <a:srgbClr val="A0A0FF"/>
                </a:solidFill>
                <a:latin typeface="Verdana"/>
                <a:cs typeface="Verdana"/>
              </a:rPr>
              <a:t>.</a:t>
            </a:r>
            <a:r>
              <a:rPr dirty="0" sz="4050" spc="-265" b="1">
                <a:solidFill>
                  <a:srgbClr val="A0A0FF"/>
                </a:solidFill>
                <a:latin typeface="Noto Sans KR Black"/>
                <a:cs typeface="Noto Sans KR Black"/>
              </a:rPr>
              <a:t>01</a:t>
            </a:r>
            <a:endParaRPr sz="4050">
              <a:latin typeface="Noto Sans KR Black"/>
              <a:cs typeface="Noto Sans KR Black"/>
            </a:endParaRPr>
          </a:p>
          <a:p>
            <a:pPr algn="ctr" marR="45720">
              <a:lnSpc>
                <a:spcPts val="1120"/>
              </a:lnSpc>
              <a:tabLst>
                <a:tab pos="1652905" algn="l"/>
              </a:tabLst>
            </a:pPr>
            <a:r>
              <a:rPr dirty="0" sz="1000" spc="285">
                <a:solidFill>
                  <a:srgbClr val="545454"/>
                </a:solidFill>
                <a:latin typeface="휴먼아미체"/>
                <a:cs typeface="휴먼아미체"/>
              </a:rPr>
              <a:t>분산</a:t>
            </a:r>
            <a:r>
              <a:rPr dirty="0" sz="1000" spc="-155">
                <a:solidFill>
                  <a:srgbClr val="545454"/>
                </a:solidFill>
                <a:latin typeface="휴먼아미체"/>
                <a:cs typeface="휴먼아미체"/>
              </a:rPr>
              <a:t> </a:t>
            </a:r>
            <a:r>
              <a:rPr dirty="0" sz="1000" spc="260">
                <a:solidFill>
                  <a:srgbClr val="545454"/>
                </a:solidFill>
                <a:latin typeface="휴먼아미체"/>
                <a:cs typeface="휴먼아미체"/>
              </a:rPr>
              <a:t>감소</a:t>
            </a:r>
            <a:r>
              <a:rPr dirty="0" sz="1000">
                <a:solidFill>
                  <a:srgbClr val="545454"/>
                </a:solidFill>
                <a:latin typeface="휴먼아미체"/>
                <a:cs typeface="휴먼아미체"/>
              </a:rPr>
              <a:t>	</a:t>
            </a:r>
            <a:r>
              <a:rPr dirty="0" sz="1000" spc="254">
                <a:solidFill>
                  <a:srgbClr val="545454"/>
                </a:solidFill>
                <a:latin typeface="휴먼아미체"/>
                <a:cs typeface="휴먼아미체"/>
              </a:rPr>
              <a:t>통계적</a:t>
            </a:r>
            <a:r>
              <a:rPr dirty="0" sz="1000" spc="-150">
                <a:solidFill>
                  <a:srgbClr val="545454"/>
                </a:solidFill>
                <a:latin typeface="휴먼아미체"/>
                <a:cs typeface="휴먼아미체"/>
              </a:rPr>
              <a:t> </a:t>
            </a:r>
            <a:r>
              <a:rPr dirty="0" sz="1000" spc="270">
                <a:solidFill>
                  <a:srgbClr val="545454"/>
                </a:solidFill>
                <a:latin typeface="휴먼아미체"/>
                <a:cs typeface="휴먼아미체"/>
              </a:rPr>
              <a:t>유의성</a:t>
            </a:r>
            <a:endParaRPr sz="1000">
              <a:latin typeface="휴먼아미체"/>
              <a:cs typeface="휴먼아미체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6819895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DF59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05"/>
              </a:lnSpc>
            </a:pPr>
            <a:fld id="{81D60167-4931-47E6-BA6A-407CBD079E47}" type="slidenum">
              <a:rPr dirty="0" spc="-35"/>
              <a:t>10</a:t>
            </a:fld>
            <a:r>
              <a:rPr dirty="0" spc="-20"/>
              <a:t> </a:t>
            </a:r>
            <a:r>
              <a:rPr dirty="0">
                <a:latin typeface="Calibri"/>
                <a:cs typeface="Calibri"/>
              </a:rPr>
              <a:t>/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LLM-Governed DRL for Dependable Scheduling</dc:title>
  <dcterms:created xsi:type="dcterms:W3CDTF">2026-06-09T15:07:44Z</dcterms:created>
  <dcterms:modified xsi:type="dcterms:W3CDTF">2026-06-09T15:07:44Z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2026-06-09T00:00:00Z</vt:filetime>
  </property>
  <property fmtid="{D5CDD505-2E9C-101B-9397-08002B2CF9AE}" pid="3" name="Creator">
    <vt:lpwstr>Mozilla/5.0 (Windows NT 10.0; Win64; x64) AppleWebKit/537.36 (KHTML, like Gecko) HeadlessChrome/148.0.0.0 Safari/537.36</vt:lpwstr>
  </property>
  <property fmtid="{D5CDD505-2E9C-101B-9397-08002B2CF9AE}" pid="4" name="LastSaved">
    <vt:filetime>2026-06-09T00:00:00Z</vt:filetime>
  </property>
  <property fmtid="{D5CDD505-2E9C-101B-9397-08002B2CF9AE}" pid="5" name="Producer">
    <vt:lpwstr>Skia/PDF m148</vt:lpwstr>
  </property>
</Properties>
</file>